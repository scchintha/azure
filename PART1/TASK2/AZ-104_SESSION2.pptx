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4" r:id="rId14"/>
    <p:sldId id="275" r:id="rId15"/>
    <p:sldId id="276" r:id="rId16"/>
    <p:sldId id="277" r:id="rId17"/>
    <p:sldId id="278" r:id="rId18"/>
    <p:sldId id="279" r:id="rId19"/>
    <p:sldId id="280" r:id="rId20"/>
    <p:sldId id="281" r:id="rId21"/>
    <p:sldId id="282" r:id="rId22"/>
    <p:sldId id="283" r:id="rId23"/>
    <p:sldId id="284" r:id="rId24"/>
    <p:sldId id="285" r:id="rId25"/>
    <p:sldId id="310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 xmlns="">
        <p14:section name="Default Section" id="{5F57018E-EE37-4C63-8548-AB32A072A58E}">
          <p14:sldIdLst>
            <p14:sldId id="256"/>
            <p14:sldId id="257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310"/>
          </p14:sldIdLst>
        </p14:section>
      </p14:sectionLst>
    </p:ex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4" autoAdjust="0"/>
    <p:restoredTop sz="94660"/>
  </p:normalViewPr>
  <p:slideViewPr>
    <p:cSldViewPr snapToGrid="0">
      <p:cViewPr varScale="1">
        <p:scale>
          <a:sx n="67" d="100"/>
          <a:sy n="67" d="100"/>
        </p:scale>
        <p:origin x="-864" y="-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6E07BD8-5B53-FC41-5F27-444B40FECE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C80ED2A8-20ED-419A-E5E1-121F02DDC2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93505CA1-2E30-B520-7519-6D9F1761A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9C0F1-D1F8-4452-9ED4-054395D95B2B}" type="datetimeFigureOut">
              <a:rPr lang="en-IN" smtClean="0"/>
              <a:pPr/>
              <a:t>12-08-2026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C5F00A27-C3FB-A2CE-885B-63A3E1968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C3B4C283-4053-8AE1-300F-D59310BC5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75A51-CF56-4F8D-A249-92CD8C9A643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3286283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3867E12-C3EA-8A08-6BA1-AC8E952D7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9EC0FDD-2BA7-9708-F21A-51FE058552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853D9590-B6BE-F701-77B8-B9E6813CA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9C0F1-D1F8-4452-9ED4-054395D95B2B}" type="datetimeFigureOut">
              <a:rPr lang="en-IN" smtClean="0"/>
              <a:pPr/>
              <a:t>12-08-2026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690E9003-3426-1627-8C66-53041A7FCC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86A6B62-BC3F-E755-BD5F-AFFC4D998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75A51-CF56-4F8D-A249-92CD8C9A643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9201237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79564D5-6A6D-B78D-2C46-101B3951B0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B553DDDC-8DA4-73BE-C7C6-4675E2CD39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6EB56D58-C6EB-920A-126B-632FB90AF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9C0F1-D1F8-4452-9ED4-054395D95B2B}" type="datetimeFigureOut">
              <a:rPr lang="en-IN" smtClean="0"/>
              <a:pPr/>
              <a:t>12-08-2026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189F8136-B0DE-D11B-7F94-4CC2953DBC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8606093-C90D-64A3-C008-26B63EFE5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75A51-CF56-4F8D-A249-92CD8C9A643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8303745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EAA1445-E87E-D61B-F7D2-F0AD0E7759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DD860F1-8BB5-F13E-6DC3-A448BDAC80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5AB52A08-99D9-241A-7B1B-3D9C886C55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6D9D19A5-28F7-5F74-01A4-0294D1B66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9C0F1-D1F8-4452-9ED4-054395D95B2B}" type="datetimeFigureOut">
              <a:rPr lang="en-IN" smtClean="0"/>
              <a:pPr/>
              <a:t>12-08-2026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BDBE93FB-9AE5-17BE-6DA9-060E72EB4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469CCEE4-4418-9D3D-A704-038F50901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75A51-CF56-4F8D-A249-92CD8C9A643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7936583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90ACDDA-ECD7-3823-A3A8-B615288433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F9F81B48-21D4-6E91-4C72-4C349D0CD6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2FA374CF-73F2-4BC9-E5DA-98931D584E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C2DC316A-30D5-919A-95F5-E434C3EF8C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CA20B9A0-D503-96A8-6C45-A589ABF196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9AE28BB4-BCE8-1233-DD68-9D07F93DD1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9C0F1-D1F8-4452-9ED4-054395D95B2B}" type="datetimeFigureOut">
              <a:rPr lang="en-IN" smtClean="0"/>
              <a:pPr/>
              <a:t>12-08-2026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1492321A-1FCE-8F8D-8064-092BD0413D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7D3C9E0B-7F20-6341-5362-1DEF4DC61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75A51-CF56-4F8D-A249-92CD8C9A643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0290908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49E2BAF-8963-FDCB-4858-B9DF335E7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F581B636-DE4F-BABF-35A4-A2DF3AC89D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9C0F1-D1F8-4452-9ED4-054395D95B2B}" type="datetimeFigureOut">
              <a:rPr lang="en-IN" smtClean="0"/>
              <a:pPr/>
              <a:t>12-08-2026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53A87749-4E45-2AF3-B142-B9B705C5C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D8B86ADC-339A-9428-6A87-B1CEBE3A8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75A51-CF56-4F8D-A249-92CD8C9A643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76946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F1D66F27-B197-F099-8D99-6FB7375DC8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9C0F1-D1F8-4452-9ED4-054395D95B2B}" type="datetimeFigureOut">
              <a:rPr lang="en-IN" smtClean="0"/>
              <a:pPr/>
              <a:t>12-08-2026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81108BB6-541D-441B-2650-1D59478DA5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515C9A84-F893-5C10-8811-EB8E49997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75A51-CF56-4F8D-A249-92CD8C9A643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9487948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2ADEFDF-C099-174B-941A-DB3154B5E4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AB564B8-73B8-7DF9-9302-95DF3CE1C6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A580D510-4885-9609-BF7A-96F5A2F4C7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00F5D98C-7C4A-14C0-DF5E-DD4571DC92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9C0F1-D1F8-4452-9ED4-054395D95B2B}" type="datetimeFigureOut">
              <a:rPr lang="en-IN" smtClean="0"/>
              <a:pPr/>
              <a:t>12-08-2026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B4A2E426-C9B1-B298-8C9C-30A576730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33B407F2-69A6-89AC-2924-85B56962E5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75A51-CF56-4F8D-A249-92CD8C9A643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4758913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5B15081-2E71-1995-CE79-A7019A71D6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A78FB051-4B45-D169-1C16-C9BD623368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45A56BA0-CAD9-55CC-5E10-7F6FC8E06D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7801A488-C160-5ADC-D574-4496FF8C3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9C0F1-D1F8-4452-9ED4-054395D95B2B}" type="datetimeFigureOut">
              <a:rPr lang="en-IN" smtClean="0"/>
              <a:pPr/>
              <a:t>12-08-2026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174925CF-1714-13EA-6CF5-721AA7CE11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F4F6C79C-6811-E7E1-C42D-A7FEB9338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75A51-CF56-4F8D-A249-92CD8C9A643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8028805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1F4D06D-12DC-A41B-FDB5-3FDE88356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A15C25D1-7507-6963-1B91-17802C255B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183AB047-52C5-02BB-B26A-8737F2AAE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9C0F1-D1F8-4452-9ED4-054395D95B2B}" type="datetimeFigureOut">
              <a:rPr lang="en-IN" smtClean="0"/>
              <a:pPr/>
              <a:t>12-08-2026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6968BDE7-4784-5087-AB05-C25AA4B0A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97775E57-59C1-DC7E-26D6-139F50978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75A51-CF56-4F8D-A249-92CD8C9A643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6156281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4674B849-E579-63ED-A79C-B22A6E1761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686BCBA0-A150-D62A-53C6-6ADC735F9B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8FBD0A77-A65F-5953-08EF-D9D421A3F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9C0F1-D1F8-4452-9ED4-054395D95B2B}" type="datetimeFigureOut">
              <a:rPr lang="en-IN" smtClean="0"/>
              <a:pPr/>
              <a:t>12-08-2026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5495BCA9-21A1-5BB7-8AB2-AD2D7DDD24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3B101FCD-34F3-C69E-FDBE-FF39C9EEE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75A51-CF56-4F8D-A249-92CD8C9A643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2981330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C6897358-6716-FD64-6F93-FACDD0518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CAC7811E-9E5A-226A-C54D-EB2A090AFC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F6A0CEAE-8C4B-357B-097D-0761932628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E9C0F1-D1F8-4452-9ED4-054395D95B2B}" type="datetimeFigureOut">
              <a:rPr lang="en-IN" smtClean="0"/>
              <a:pPr/>
              <a:t>12-08-2026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37240D4D-8323-9B0F-8C68-8B47445544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644C527D-217A-B91A-C7C9-63B4384A47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675A51-CF56-4F8D-A249-92CD8C9A643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416978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learn.microsoft.com/en-us/credentials/certifications/azure-administrator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portal.azure.com/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mailto:labuser1@onmicrosft.com" TargetMode="Externa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D716905-2D36-125C-67BD-E0C1AE8B72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835990"/>
          </a:xfrm>
        </p:spPr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Microsoft Azure Administrator Associate (</a:t>
            </a: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AZ-104</a:t>
            </a: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F8BDAFDB-0A5F-1843-F9B5-F3967976EE4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b="1" dirty="0"/>
              <a:t>SESSION-2</a:t>
            </a:r>
          </a:p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C493B83B-E366-88FF-DD03-1037997C4FAB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0" y="55880"/>
            <a:ext cx="2054711" cy="563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2021133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05A86BB-2F56-D3AC-E345-66143C4029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5158" y="839096"/>
            <a:ext cx="10428642" cy="851592"/>
          </a:xfrm>
        </p:spPr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Azure Active Directory (Microsoft Entra ID)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8564057-1FE3-DE72-E7A5-074F9C042A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8344"/>
            <a:ext cx="10515600" cy="4638619"/>
          </a:xfrm>
        </p:spPr>
        <p:txBody>
          <a:bodyPr>
            <a:normAutofit/>
          </a:bodyPr>
          <a:lstStyle/>
          <a:p>
            <a:r>
              <a:rPr lang="en-IN" dirty="0"/>
              <a:t>Azure Active Directory (Azure AD), now known as </a:t>
            </a:r>
            <a:r>
              <a:rPr lang="en-IN" b="1" dirty="0"/>
              <a:t>Microsoft Entra ID</a:t>
            </a:r>
            <a:r>
              <a:rPr lang="en-IN" dirty="0"/>
              <a:t>, is Microsoft's cloud-based identity and access management (IAM) service.</a:t>
            </a:r>
          </a:p>
          <a:p>
            <a:r>
              <a:rPr lang="en-IN" dirty="0"/>
              <a:t>It enables organizations to securely manage user identities, authentication, and access to cloud applications and resources.</a:t>
            </a:r>
          </a:p>
          <a:p>
            <a:r>
              <a:rPr lang="en-IN" dirty="0"/>
              <a:t>Azure AD supports Single Sign-On (SSO), Multi-Factor Authentication (MFA), Conditional Access, and identity governance.</a:t>
            </a:r>
          </a:p>
          <a:p>
            <a:pPr marL="0" indent="0">
              <a:buNone/>
            </a:pPr>
            <a:endParaRPr lang="en-IN" dirty="0"/>
          </a:p>
          <a:p>
            <a:pPr algn="just"/>
            <a:endParaRPr lang="en-IN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F16B481D-AF51-BDE2-0A32-70776A9B85CB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55880"/>
            <a:ext cx="2054711" cy="563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35160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DB6689CF-99D5-2CE6-D243-B395CF33F0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39C380F-B1A8-8A36-15F1-ACD7718D5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5158" y="839096"/>
            <a:ext cx="10428642" cy="851592"/>
          </a:xfrm>
        </p:spPr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Azure AD?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F39AB10-2380-64A0-EE27-67E79945E6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1849" y="1559859"/>
            <a:ext cx="10515600" cy="463861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  <a:p>
            <a:pPr lvl="0"/>
            <a:r>
              <a:rPr lang="en-IN" dirty="0"/>
              <a:t>Manage employee identities securely. </a:t>
            </a:r>
          </a:p>
          <a:p>
            <a:pPr lvl="0"/>
            <a:r>
              <a:rPr lang="en-IN" dirty="0"/>
              <a:t>Provide Single Sign-On (SSO) for multiple applications. </a:t>
            </a:r>
          </a:p>
          <a:p>
            <a:pPr lvl="0"/>
            <a:r>
              <a:rPr lang="en-IN" dirty="0"/>
              <a:t>Protect user accounts using Multi-Factor Authentication. </a:t>
            </a:r>
          </a:p>
          <a:p>
            <a:pPr lvl="0"/>
            <a:r>
              <a:rPr lang="en-IN" dirty="0"/>
              <a:t>Enable secure collaboration with external users. </a:t>
            </a:r>
          </a:p>
          <a:p>
            <a:pPr lvl="0"/>
            <a:r>
              <a:rPr lang="en-IN" dirty="0"/>
              <a:t>Manage access to Azure resources and Microsoft 365 services. </a:t>
            </a:r>
          </a:p>
          <a:p>
            <a:pPr lvl="0"/>
            <a:r>
              <a:rPr lang="en-IN" dirty="0"/>
              <a:t>Implement Zero Trust security principles.</a:t>
            </a:r>
          </a:p>
          <a:p>
            <a:pPr algn="just"/>
            <a:endParaRPr lang="en-IN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7F2DA584-D9D7-240B-300F-5D5120A89156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55880"/>
            <a:ext cx="2054711" cy="563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326087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BB47071-DF5D-A1E7-CDDB-DEC4AF18FA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9AC2BEA-1DBD-85BC-D756-E2AB6FE062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5158" y="839096"/>
            <a:ext cx="10428642" cy="851592"/>
          </a:xfrm>
        </p:spPr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Azure AD?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E0F2AB7-34B6-A26C-DECD-5A31E937E4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1849" y="1559859"/>
            <a:ext cx="10515600" cy="46386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Key Components of Azure AD</a:t>
            </a:r>
          </a:p>
          <a:p>
            <a:pPr marL="0" indent="0">
              <a:buNone/>
            </a:pPr>
            <a:r>
              <a:rPr lang="en-IN" b="1" dirty="0"/>
              <a:t>1. Tenant</a:t>
            </a:r>
          </a:p>
          <a:p>
            <a:pPr marL="0" lvl="0" indent="0">
              <a:buNone/>
            </a:pPr>
            <a:r>
              <a:rPr lang="en-IN" dirty="0"/>
              <a:t>A tenant is a dedicated and trusted instance of Azure AD for an organization. </a:t>
            </a:r>
          </a:p>
          <a:p>
            <a:pPr lvl="0"/>
            <a:r>
              <a:rPr lang="en-IN" dirty="0"/>
              <a:t>It stores users, groups, applications, and security policies. </a:t>
            </a:r>
          </a:p>
          <a:p>
            <a:pPr lvl="0"/>
            <a:r>
              <a:rPr lang="en-IN" dirty="0"/>
              <a:t>Every organization using Azure has its own unique tenant. </a:t>
            </a:r>
          </a:p>
          <a:p>
            <a:pPr marL="0" indent="0">
              <a:buNone/>
            </a:pPr>
            <a:r>
              <a:rPr lang="en-IN" b="1" dirty="0"/>
              <a:t>Example</a:t>
            </a:r>
            <a:endParaRPr lang="en-IN" dirty="0"/>
          </a:p>
          <a:p>
            <a:pPr lvl="0"/>
            <a:r>
              <a:rPr lang="en-IN" dirty="0"/>
              <a:t>KL University Tenant </a:t>
            </a:r>
          </a:p>
          <a:p>
            <a:pPr lvl="0"/>
            <a:r>
              <a:rPr lang="en-IN" dirty="0"/>
              <a:t>Contoso Ltd Tenant</a:t>
            </a:r>
          </a:p>
          <a:p>
            <a:pPr algn="just"/>
            <a:endParaRPr lang="en-IN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69F04573-ACF4-A2F0-025A-5D3D4FBC700B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55880"/>
            <a:ext cx="2054711" cy="563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4436540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84AC1D62-2211-2A3C-F175-640C8B49E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00D6015-D7DB-F7AF-91C0-A664339042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5158" y="839096"/>
            <a:ext cx="10428642" cy="851592"/>
          </a:xfrm>
        </p:spPr>
        <p:txBody>
          <a:bodyPr>
            <a:normAutofit/>
          </a:bodyPr>
          <a:lstStyle/>
          <a:p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963BB44-7E27-B873-0C73-AA9AF4CCEB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1849" y="1559859"/>
            <a:ext cx="10515600" cy="46386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Key Components of Azure AD</a:t>
            </a:r>
          </a:p>
          <a:p>
            <a:pPr marL="0" indent="0">
              <a:buNone/>
            </a:pPr>
            <a:r>
              <a:rPr lang="en-IN" b="1" dirty="0"/>
              <a:t>1. Tenant</a:t>
            </a:r>
          </a:p>
          <a:p>
            <a:pPr marL="0" lvl="0" indent="0">
              <a:buNone/>
            </a:pPr>
            <a:r>
              <a:rPr lang="en-IN" dirty="0"/>
              <a:t>A tenant is a dedicated and trusted instance of Azure AD for an organization. </a:t>
            </a:r>
          </a:p>
          <a:p>
            <a:pPr lvl="0"/>
            <a:r>
              <a:rPr lang="en-IN" dirty="0"/>
              <a:t>It stores users, groups, applications, and security policies. </a:t>
            </a:r>
          </a:p>
          <a:p>
            <a:pPr lvl="0"/>
            <a:r>
              <a:rPr lang="en-IN" dirty="0"/>
              <a:t>Every organization using Azure has its own unique tenant. </a:t>
            </a:r>
          </a:p>
          <a:p>
            <a:pPr marL="0" indent="0">
              <a:buNone/>
            </a:pPr>
            <a:r>
              <a:rPr lang="en-IN" b="1" dirty="0"/>
              <a:t>Example</a:t>
            </a:r>
            <a:endParaRPr lang="en-IN" dirty="0"/>
          </a:p>
          <a:p>
            <a:pPr lvl="0"/>
            <a:r>
              <a:rPr lang="en-IN" dirty="0"/>
              <a:t>KL University Tenant </a:t>
            </a:r>
          </a:p>
          <a:p>
            <a:pPr lvl="0"/>
            <a:r>
              <a:rPr lang="en-IN" dirty="0"/>
              <a:t>Contoso Ltd Tenant</a:t>
            </a:r>
          </a:p>
          <a:p>
            <a:pPr algn="just"/>
            <a:endParaRPr lang="en-IN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BAA2B151-504D-94CB-EFC1-FE3B9CEAF4BD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55880"/>
            <a:ext cx="2054711" cy="563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1652164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6FE751D9-7871-441D-303A-9EEA881F49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6E4B4E3-DD8B-D32C-DB5A-CBC4BCE04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5158" y="839096"/>
            <a:ext cx="10428642" cy="851592"/>
          </a:xfrm>
        </p:spPr>
        <p:txBody>
          <a:bodyPr>
            <a:normAutofit fontScale="90000"/>
          </a:bodyPr>
          <a:lstStyle/>
          <a:p>
            <a:r>
              <a:rPr lang="en-IN" sz="4000" b="1" dirty="0"/>
              <a:t>Users</a:t>
            </a:r>
            <a:br>
              <a:rPr lang="en-IN" sz="4000" b="1" dirty="0"/>
            </a:b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10EAE49-82D5-0530-1874-91D56FD01A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5158" y="1264892"/>
            <a:ext cx="10515600" cy="4638619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dirty="0"/>
              <a:t>Users represent individual identities in Azure AD.</a:t>
            </a:r>
          </a:p>
          <a:p>
            <a:pPr marL="0" indent="0">
              <a:buNone/>
            </a:pPr>
            <a:r>
              <a:rPr lang="en-IN" dirty="0"/>
              <a:t>Types:</a:t>
            </a:r>
          </a:p>
          <a:p>
            <a:pPr lvl="0"/>
            <a:r>
              <a:rPr lang="en-IN" dirty="0"/>
              <a:t>Cloud Users </a:t>
            </a:r>
          </a:p>
          <a:p>
            <a:pPr lvl="0"/>
            <a:r>
              <a:rPr lang="en-IN" dirty="0"/>
              <a:t>Synced Users (from on-premises Active Directory) </a:t>
            </a:r>
          </a:p>
          <a:p>
            <a:pPr lvl="0"/>
            <a:r>
              <a:rPr lang="en-IN" dirty="0"/>
              <a:t>Guest Users </a:t>
            </a:r>
          </a:p>
          <a:p>
            <a:pPr marL="0" indent="0">
              <a:buNone/>
            </a:pPr>
            <a:r>
              <a:rPr lang="en-IN" dirty="0"/>
              <a:t>Each user has:</a:t>
            </a:r>
          </a:p>
          <a:p>
            <a:pPr lvl="0"/>
            <a:r>
              <a:rPr lang="en-IN" dirty="0"/>
              <a:t>Username </a:t>
            </a:r>
          </a:p>
          <a:p>
            <a:pPr lvl="0"/>
            <a:r>
              <a:rPr lang="en-IN" dirty="0"/>
              <a:t>Password </a:t>
            </a:r>
          </a:p>
          <a:p>
            <a:pPr lvl="0"/>
            <a:r>
              <a:rPr lang="en-IN" dirty="0"/>
              <a:t>Email </a:t>
            </a:r>
          </a:p>
          <a:p>
            <a:pPr lvl="0"/>
            <a:r>
              <a:rPr lang="en-IN" dirty="0"/>
              <a:t>Assigned Roles </a:t>
            </a:r>
          </a:p>
          <a:p>
            <a:pPr lvl="0"/>
            <a:r>
              <a:rPr lang="en-IN" dirty="0"/>
              <a:t>Permissions</a:t>
            </a:r>
          </a:p>
          <a:p>
            <a:pPr algn="just"/>
            <a:endParaRPr lang="en-IN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0F4567DA-91D1-AE94-6C6E-C1A784493967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55880"/>
            <a:ext cx="2054711" cy="563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1796948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2950397-01E6-EB14-2423-4E1F340A97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B6D4CE2-F54A-5954-5697-DEFBA755E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5158" y="839096"/>
            <a:ext cx="10428642" cy="851592"/>
          </a:xfrm>
        </p:spPr>
        <p:txBody>
          <a:bodyPr>
            <a:normAutofit fontScale="90000"/>
          </a:bodyPr>
          <a:lstStyle/>
          <a:p>
            <a:r>
              <a:rPr lang="en-IN" sz="4000" b="1" dirty="0"/>
              <a:t>Groups</a:t>
            </a:r>
            <a:br>
              <a:rPr lang="en-IN" sz="4000" b="1" dirty="0"/>
            </a:b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08D77E1-A374-D4D0-9786-12F4A122F2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5158" y="1264892"/>
            <a:ext cx="10515600" cy="46386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Groups simplify user management.</a:t>
            </a:r>
          </a:p>
          <a:p>
            <a:r>
              <a:rPr lang="en-IN" dirty="0"/>
              <a:t>Instead of assigning permissions individually,</a:t>
            </a:r>
          </a:p>
          <a:p>
            <a:pPr lvl="0"/>
            <a:r>
              <a:rPr lang="en-IN" dirty="0"/>
              <a:t>Create a group </a:t>
            </a:r>
          </a:p>
          <a:p>
            <a:pPr lvl="0"/>
            <a:r>
              <a:rPr lang="en-IN" dirty="0"/>
              <a:t>Add users </a:t>
            </a:r>
          </a:p>
          <a:p>
            <a:pPr lvl="0"/>
            <a:r>
              <a:rPr lang="en-IN" dirty="0"/>
              <a:t>Assign permissions to the group </a:t>
            </a:r>
          </a:p>
          <a:p>
            <a:pPr marL="0" indent="0">
              <a:buNone/>
            </a:pPr>
            <a:r>
              <a:rPr lang="en-IN" dirty="0"/>
              <a:t>Benefits:</a:t>
            </a:r>
          </a:p>
          <a:p>
            <a:pPr lvl="0"/>
            <a:r>
              <a:rPr lang="en-IN" dirty="0"/>
              <a:t>Easier administration </a:t>
            </a:r>
          </a:p>
          <a:p>
            <a:pPr lvl="0"/>
            <a:r>
              <a:rPr lang="en-IN" dirty="0"/>
              <a:t>Reduced errors </a:t>
            </a:r>
          </a:p>
          <a:p>
            <a:pPr lvl="0"/>
            <a:r>
              <a:rPr lang="en-IN" dirty="0"/>
              <a:t>Better security</a:t>
            </a:r>
          </a:p>
          <a:p>
            <a:pPr algn="just"/>
            <a:endParaRPr lang="en-IN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A209C81E-A83E-BAF8-112B-5465D71C1095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55880"/>
            <a:ext cx="2054711" cy="563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7767098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26B81743-1362-952E-6BFD-5E3562CD9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F8C6F03-65BB-D5D3-C47E-02BA13C55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5158" y="839096"/>
            <a:ext cx="10428642" cy="851592"/>
          </a:xfrm>
        </p:spPr>
        <p:txBody>
          <a:bodyPr>
            <a:normAutofit fontScale="90000"/>
          </a:bodyPr>
          <a:lstStyle/>
          <a:p>
            <a:r>
              <a:rPr lang="en-IN" sz="4000" b="1" dirty="0"/>
              <a:t>Guest Users</a:t>
            </a:r>
            <a:br>
              <a:rPr lang="en-IN" sz="4000" b="1" dirty="0"/>
            </a:b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D28D04B-2439-6E86-4CCA-3F5C968527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5158" y="1264892"/>
            <a:ext cx="10515600" cy="46386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Guest users are external users invited to access organizational resources.</a:t>
            </a:r>
          </a:p>
          <a:p>
            <a:r>
              <a:rPr lang="en-IN" dirty="0" err="1"/>
              <a:t>Examples:Consultants</a:t>
            </a:r>
            <a:r>
              <a:rPr lang="en-IN" dirty="0"/>
              <a:t> ,Vendors ,Research collaborators ,Clients </a:t>
            </a:r>
          </a:p>
          <a:p>
            <a:pPr marL="0" indent="0">
              <a:buNone/>
            </a:pPr>
            <a:r>
              <a:rPr lang="en-IN" dirty="0"/>
              <a:t>Guest users can securely access:</a:t>
            </a:r>
          </a:p>
          <a:p>
            <a:pPr lvl="0"/>
            <a:r>
              <a:rPr lang="en-IN" dirty="0"/>
              <a:t>Microsoft Teams </a:t>
            </a:r>
          </a:p>
          <a:p>
            <a:pPr lvl="0"/>
            <a:r>
              <a:rPr lang="en-IN" dirty="0"/>
              <a:t>SharePoint </a:t>
            </a:r>
          </a:p>
          <a:p>
            <a:pPr lvl="0"/>
            <a:r>
              <a:rPr lang="en-IN" dirty="0"/>
              <a:t>Azure applications </a:t>
            </a:r>
          </a:p>
          <a:p>
            <a:pPr marL="0" indent="0">
              <a:buNone/>
            </a:pPr>
            <a:r>
              <a:rPr lang="en-IN" dirty="0"/>
              <a:t>without becoming permanent employees.</a:t>
            </a:r>
          </a:p>
          <a:p>
            <a:pPr algn="just"/>
            <a:endParaRPr lang="en-IN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A6568056-3448-93E0-A615-8088B4C58953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55880"/>
            <a:ext cx="2054711" cy="563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3484621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069BA92-CDAE-50A4-6018-E9BD895701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A244F17-B485-9D47-5DE3-A5239B72E5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8637" y="619760"/>
            <a:ext cx="10428642" cy="851592"/>
          </a:xfrm>
        </p:spPr>
        <p:txBody>
          <a:bodyPr>
            <a:normAutofit fontScale="90000"/>
          </a:bodyPr>
          <a:lstStyle/>
          <a:p>
            <a:r>
              <a:rPr lang="en-IN" sz="4000" b="1" dirty="0"/>
              <a:t>Membership Types in Azure AD Groups</a:t>
            </a: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E759595-0B3B-3D21-EE47-4E2C0F7818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5158" y="1264892"/>
            <a:ext cx="10515600" cy="4638619"/>
          </a:xfrm>
        </p:spPr>
        <p:txBody>
          <a:bodyPr>
            <a:normAutofit/>
          </a:bodyPr>
          <a:lstStyle/>
          <a:p>
            <a:r>
              <a:rPr lang="en-IN" b="1" dirty="0"/>
              <a:t>Assigned Membership</a:t>
            </a:r>
          </a:p>
          <a:p>
            <a:pPr lvl="0"/>
            <a:r>
              <a:rPr lang="en-IN" dirty="0"/>
              <a:t>Administrator manually adds or removes users. </a:t>
            </a:r>
          </a:p>
          <a:p>
            <a:pPr lvl="0"/>
            <a:r>
              <a:rPr lang="en-IN" dirty="0"/>
              <a:t>Best for small teams. </a:t>
            </a:r>
          </a:p>
          <a:p>
            <a:pPr lvl="0"/>
            <a:r>
              <a:rPr lang="en-IN" dirty="0"/>
              <a:t>Full administrative control. </a:t>
            </a:r>
          </a:p>
          <a:p>
            <a:r>
              <a:rPr lang="en-IN" dirty="0" err="1"/>
              <a:t>Example:Project</a:t>
            </a:r>
            <a:r>
              <a:rPr lang="en-IN" dirty="0"/>
              <a:t> </a:t>
            </a:r>
            <a:r>
              <a:rPr lang="en-IN" dirty="0" err="1"/>
              <a:t>Team,HR</a:t>
            </a:r>
            <a:r>
              <a:rPr lang="en-IN" dirty="0"/>
              <a:t> Team ,Faculty Members </a:t>
            </a:r>
          </a:p>
          <a:p>
            <a:pPr algn="just"/>
            <a:endParaRPr lang="en-IN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27A8EA1E-ACC2-A567-D34E-04ECF560D177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55880"/>
            <a:ext cx="2054711" cy="563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2336588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4D7647C-4A21-9448-A0C9-22FEA614A5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1D3CBAE-002C-D3CB-4D0F-066EC5F848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8637" y="619760"/>
            <a:ext cx="10428642" cy="851592"/>
          </a:xfrm>
        </p:spPr>
        <p:txBody>
          <a:bodyPr>
            <a:normAutofit fontScale="90000"/>
          </a:bodyPr>
          <a:lstStyle/>
          <a:p>
            <a:r>
              <a:rPr lang="en-IN" sz="4000" b="1" dirty="0"/>
              <a:t>Membership Types in Azure AD Groups</a:t>
            </a: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3E53F7F-F03B-46AB-075B-C48E8A2AC6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5158" y="1264892"/>
            <a:ext cx="10515600" cy="4638619"/>
          </a:xfrm>
        </p:spPr>
        <p:txBody>
          <a:bodyPr>
            <a:normAutofit/>
          </a:bodyPr>
          <a:lstStyle/>
          <a:p>
            <a:r>
              <a:rPr lang="en-IN" b="1" dirty="0"/>
              <a:t>Assigned Membership</a:t>
            </a:r>
          </a:p>
          <a:p>
            <a:pPr lvl="0"/>
            <a:r>
              <a:rPr lang="en-IN" dirty="0"/>
              <a:t>Administrator manually adds or removes users. </a:t>
            </a:r>
          </a:p>
          <a:p>
            <a:pPr lvl="0"/>
            <a:r>
              <a:rPr lang="en-IN" dirty="0"/>
              <a:t>Best for small teams. </a:t>
            </a:r>
          </a:p>
          <a:p>
            <a:pPr lvl="0"/>
            <a:r>
              <a:rPr lang="en-IN" dirty="0"/>
              <a:t>Full administrative control. </a:t>
            </a:r>
          </a:p>
          <a:p>
            <a:r>
              <a:rPr lang="en-IN" dirty="0" err="1"/>
              <a:t>Example:Project</a:t>
            </a:r>
            <a:r>
              <a:rPr lang="en-IN" dirty="0"/>
              <a:t> </a:t>
            </a:r>
            <a:r>
              <a:rPr lang="en-IN" dirty="0" err="1"/>
              <a:t>Team,HR</a:t>
            </a:r>
            <a:r>
              <a:rPr lang="en-IN" dirty="0"/>
              <a:t> Team ,Faculty Members </a:t>
            </a:r>
          </a:p>
          <a:p>
            <a:pPr algn="just"/>
            <a:endParaRPr lang="en-IN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588AD15E-4F3D-334B-34E7-024EA60D6B74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55880"/>
            <a:ext cx="2054711" cy="563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7002124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7A7B791-154C-085D-50F8-8303EBC33B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0876E15-DB83-18BE-CB62-EEC719B17E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8637" y="619760"/>
            <a:ext cx="10428642" cy="851592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</a:t>
            </a:r>
            <a:r>
              <a:rPr lang="en-US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MembershipMembership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1B7D788-08B0-2933-A64D-9CD2C76E53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5158" y="1264892"/>
            <a:ext cx="10515600" cy="4638619"/>
          </a:xfrm>
        </p:spPr>
        <p:txBody>
          <a:bodyPr>
            <a:normAutofit/>
          </a:bodyPr>
          <a:lstStyle/>
          <a:p>
            <a:r>
              <a:rPr lang="en-IN" dirty="0"/>
              <a:t>Membership is updated automatically based on user attributes.</a:t>
            </a:r>
          </a:p>
          <a:p>
            <a:r>
              <a:rPr lang="en-IN" dirty="0"/>
              <a:t>Example Rule: Department = CSE</a:t>
            </a:r>
          </a:p>
          <a:p>
            <a:r>
              <a:rPr lang="en-IN" dirty="0"/>
              <a:t>Whenever a new employee joins the CSE department, Azure automatically adds them to the group.</a:t>
            </a:r>
          </a:p>
          <a:p>
            <a:pPr marL="0" indent="0">
              <a:buNone/>
            </a:pPr>
            <a:r>
              <a:rPr lang="en-IN" dirty="0"/>
              <a:t>Advantages:</a:t>
            </a:r>
          </a:p>
          <a:p>
            <a:pPr lvl="0"/>
            <a:r>
              <a:rPr lang="en-IN" dirty="0"/>
              <a:t>Automatic updates </a:t>
            </a:r>
          </a:p>
          <a:p>
            <a:pPr lvl="0"/>
            <a:r>
              <a:rPr lang="en-IN" dirty="0"/>
              <a:t>Saves administrative effort </a:t>
            </a:r>
          </a:p>
          <a:p>
            <a:pPr lvl="0"/>
            <a:r>
              <a:rPr lang="en-IN" dirty="0"/>
              <a:t>Ideal for large organizations</a:t>
            </a:r>
          </a:p>
          <a:p>
            <a:endParaRPr lang="en-IN" dirty="0"/>
          </a:p>
          <a:p>
            <a:pPr algn="just"/>
            <a:endParaRPr lang="en-IN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A4ED5039-EAD7-2244-D7A4-85DC815FF530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55880"/>
            <a:ext cx="2054711" cy="563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230947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91B0972-64A2-36EA-5F61-2D8EEE3BB2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12FBC74-053B-D973-6E9C-F612BB403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8637" y="619760"/>
            <a:ext cx="10428642" cy="851592"/>
          </a:xfrm>
        </p:spPr>
        <p:txBody>
          <a:bodyPr>
            <a:normAutofit/>
          </a:bodyPr>
          <a:lstStyle/>
          <a:p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149BE78-CB0D-E0CB-25D3-6F26DF02BF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5158" y="1264892"/>
            <a:ext cx="10515600" cy="46386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STEP1: </a:t>
            </a:r>
          </a:p>
          <a:p>
            <a:pPr marL="0" indent="0">
              <a:buNone/>
            </a:pPr>
            <a:r>
              <a:rPr lang="en-US" dirty="0"/>
              <a:t>Sign in to Azure PortalOpen </a:t>
            </a:r>
            <a:r>
              <a:rPr lang="en-US" dirty="0">
                <a:hlinkClick r:id="rId2"/>
              </a:rPr>
              <a:t>https://portal.azure.com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Sign in using your Azure account</a:t>
            </a:r>
          </a:p>
          <a:p>
            <a:pPr marL="0" indent="0">
              <a:buNone/>
            </a:pPr>
            <a:r>
              <a:rPr lang="en-US" dirty="0"/>
              <a:t>STEP2:</a:t>
            </a:r>
          </a:p>
          <a:p>
            <a:pPr marL="0" indent="0">
              <a:buNone/>
            </a:pPr>
            <a:r>
              <a:rPr lang="en-IN" dirty="0"/>
              <a:t>On Search Bar type AZURE ACTIVE DIRECTORY</a:t>
            </a:r>
          </a:p>
          <a:p>
            <a:pPr marL="0" indent="0">
              <a:buNone/>
            </a:pPr>
            <a:r>
              <a:rPr lang="en-IN" dirty="0"/>
              <a:t>Click on USER Settings</a:t>
            </a:r>
          </a:p>
          <a:p>
            <a:pPr marL="0" indent="0">
              <a:buNone/>
            </a:pPr>
            <a:r>
              <a:rPr lang="en-IN" dirty="0"/>
              <a:t>Click on USER</a:t>
            </a:r>
          </a:p>
          <a:p>
            <a:pPr marL="0" indent="0">
              <a:buNone/>
            </a:pPr>
            <a:r>
              <a:rPr lang="en-IN" dirty="0"/>
              <a:t>Click on User accounts</a:t>
            </a:r>
          </a:p>
          <a:p>
            <a:pPr marL="0" indent="0">
              <a:buNone/>
            </a:pPr>
            <a:r>
              <a:rPr lang="en-IN" dirty="0"/>
              <a:t>Click on Properties</a:t>
            </a:r>
          </a:p>
          <a:p>
            <a:pPr marL="0" indent="0" algn="just">
              <a:buNone/>
            </a:pPr>
            <a:endParaRPr lang="en-IN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87404AC1-8F8B-F478-655C-904877A2FB98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0" y="55880"/>
            <a:ext cx="2054711" cy="563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722919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7C549C2-745D-B2F6-2919-5B7937197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F5E7B5A-A3E0-1225-1169-612C42D60A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/>
              <a:t>Click on Edit and go to settings and check user location and close</a:t>
            </a:r>
          </a:p>
          <a:p>
            <a:r>
              <a:rPr lang="en-IN" dirty="0"/>
              <a:t>Click on </a:t>
            </a:r>
            <a:r>
              <a:rPr lang="en-IN" dirty="0" err="1"/>
              <a:t>Newuser</a:t>
            </a:r>
            <a:endParaRPr lang="en-IN" dirty="0"/>
          </a:p>
          <a:p>
            <a:r>
              <a:rPr lang="en-IN" dirty="0"/>
              <a:t>Create </a:t>
            </a:r>
            <a:r>
              <a:rPr lang="en-IN" dirty="0" err="1"/>
              <a:t>newuer</a:t>
            </a:r>
            <a:endParaRPr lang="en-IN" dirty="0"/>
          </a:p>
          <a:p>
            <a:r>
              <a:rPr lang="en-IN" dirty="0"/>
              <a:t>Under identity give the username as user1</a:t>
            </a:r>
          </a:p>
          <a:p>
            <a:r>
              <a:rPr lang="en-IN" dirty="0"/>
              <a:t>Name as User1</a:t>
            </a:r>
          </a:p>
          <a:p>
            <a:r>
              <a:rPr lang="en-IN" dirty="0"/>
              <a:t>Create a password</a:t>
            </a:r>
          </a:p>
          <a:p>
            <a:r>
              <a:rPr lang="en-IN" dirty="0"/>
              <a:t>Select user location: United States</a:t>
            </a:r>
          </a:p>
          <a:p>
            <a:r>
              <a:rPr lang="en-IN" dirty="0"/>
              <a:t>Give </a:t>
            </a:r>
            <a:r>
              <a:rPr lang="en-IN" dirty="0" err="1"/>
              <a:t>jobtitle</a:t>
            </a:r>
            <a:r>
              <a:rPr lang="en-IN" dirty="0"/>
              <a:t> as cloud administrator </a:t>
            </a:r>
          </a:p>
          <a:p>
            <a:r>
              <a:rPr lang="en-IN" dirty="0"/>
              <a:t>Gie Department as CSE</a:t>
            </a:r>
          </a:p>
          <a:p>
            <a:r>
              <a:rPr lang="en-IN" dirty="0"/>
              <a:t>Click on create</a:t>
            </a:r>
          </a:p>
          <a:p>
            <a:endParaRPr lang="en-IN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7E9438FB-F6CD-7AF1-6464-294CD87A434A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55880"/>
            <a:ext cx="2054711" cy="563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5667540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8BB6F5D-DC65-7852-5837-8829D82F7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7FA3C85-D4D4-AEF0-1D3F-E706B7FCB0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Click on Refresh and click on new user account</a:t>
            </a:r>
          </a:p>
          <a:p>
            <a:r>
              <a:rPr lang="en-IN" dirty="0"/>
              <a:t>On left </a:t>
            </a:r>
            <a:r>
              <a:rPr lang="en-IN" dirty="0" err="1"/>
              <a:t>pannel</a:t>
            </a:r>
            <a:r>
              <a:rPr lang="en-IN" dirty="0"/>
              <a:t> click on user assigned roles</a:t>
            </a:r>
          </a:p>
          <a:p>
            <a:r>
              <a:rPr lang="en-IN" dirty="0"/>
              <a:t>Click on Add assignment</a:t>
            </a:r>
          </a:p>
          <a:p>
            <a:r>
              <a:rPr lang="en-IN" dirty="0"/>
              <a:t>In search filter check user administrator and click add</a:t>
            </a:r>
          </a:p>
          <a:p>
            <a:r>
              <a:rPr lang="en-IN" dirty="0"/>
              <a:t>Refresh the page to see the role assignment</a:t>
            </a:r>
          </a:p>
          <a:p>
            <a:r>
              <a:rPr lang="en-IN" dirty="0"/>
              <a:t>Click on Microsoft edge icon </a:t>
            </a:r>
          </a:p>
          <a:p>
            <a:r>
              <a:rPr lang="en-IN" dirty="0"/>
              <a:t>Click on InPrivate window</a:t>
            </a:r>
          </a:p>
          <a:p>
            <a:r>
              <a:rPr lang="en-IN" dirty="0" err="1"/>
              <a:t>Singin</a:t>
            </a:r>
            <a:r>
              <a:rPr lang="en-IN" dirty="0"/>
              <a:t> to azure portal and create user2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ACE7EB65-B707-E0EE-952D-711959601AD7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55880"/>
            <a:ext cx="2054711" cy="56388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C69C9F48-C8B4-77FA-14B3-6613A0832E6C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213184" y="4533441"/>
            <a:ext cx="388654" cy="243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1907701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E36B612-A863-319F-6C58-02465500F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2. Create Azure AD group with assigned and dynamic </a:t>
            </a:r>
            <a:r>
              <a:rPr lang="en-IN" dirty="0" err="1"/>
              <a:t>memebrship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E8E790C-ECC3-534D-E1D4-6DFDFAFB6F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Goto User1 assigned roles and click on </a:t>
            </a:r>
            <a:r>
              <a:rPr lang="en-IN" dirty="0" err="1"/>
              <a:t>Adatum</a:t>
            </a:r>
            <a:r>
              <a:rPr lang="en-IN" dirty="0"/>
              <a:t> corporation</a:t>
            </a:r>
          </a:p>
          <a:p>
            <a:r>
              <a:rPr lang="en-IN" dirty="0"/>
              <a:t>Click on Licence(</a:t>
            </a:r>
            <a:r>
              <a:rPr lang="en-IN" dirty="0" err="1"/>
              <a:t>Scrolldown</a:t>
            </a:r>
            <a:r>
              <a:rPr lang="en-IN" dirty="0"/>
              <a:t> to see)</a:t>
            </a:r>
          </a:p>
          <a:p>
            <a:r>
              <a:rPr lang="en-IN" dirty="0"/>
              <a:t>Click on All products</a:t>
            </a:r>
          </a:p>
          <a:p>
            <a:r>
              <a:rPr lang="en-IN" dirty="0"/>
              <a:t>Click on Try/Buy</a:t>
            </a:r>
          </a:p>
          <a:p>
            <a:r>
              <a:rPr lang="en-IN" dirty="0"/>
              <a:t>Click Free trail and click on Active</a:t>
            </a:r>
          </a:p>
          <a:p>
            <a:r>
              <a:rPr lang="en-IN" dirty="0"/>
              <a:t>Click on Refresh button then choose the checkbox Azure Active Directory Premium p2 click assign</a:t>
            </a:r>
          </a:p>
          <a:p>
            <a:r>
              <a:rPr lang="en-IN" dirty="0"/>
              <a:t>Click on Add users and groups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8B268582-4435-2D90-4D94-3F50E9A022A0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55880"/>
            <a:ext cx="2054711" cy="563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0731632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3A925896-C42E-33E8-F02F-11DC19460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BEC5B62-0CE9-6A1F-92D7-FA77B7DD2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2. Create Azure AD group with assigned and dynamic </a:t>
            </a:r>
            <a:r>
              <a:rPr lang="en-IN" dirty="0" err="1"/>
              <a:t>memebrship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F35914E-400B-0F6A-9EDF-50D4F60258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Click the First user account USER1</a:t>
            </a:r>
          </a:p>
          <a:p>
            <a:r>
              <a:rPr lang="en-IN" dirty="0"/>
              <a:t> Scroll and Click the second user account USER2</a:t>
            </a:r>
          </a:p>
          <a:p>
            <a:r>
              <a:rPr lang="en-IN" dirty="0"/>
              <a:t>Click select</a:t>
            </a:r>
          </a:p>
          <a:p>
            <a:r>
              <a:rPr lang="en-IN" dirty="0"/>
              <a:t>Click on Review and assign</a:t>
            </a:r>
          </a:p>
          <a:p>
            <a:r>
              <a:rPr lang="en-IN" dirty="0"/>
              <a:t>Now click on </a:t>
            </a:r>
            <a:r>
              <a:rPr lang="en-IN" dirty="0" err="1"/>
              <a:t>searchbox</a:t>
            </a:r>
            <a:r>
              <a:rPr lang="en-IN" dirty="0"/>
              <a:t> and search for Azure active Director</a:t>
            </a:r>
          </a:p>
          <a:p>
            <a:r>
              <a:rPr lang="en-IN" dirty="0"/>
              <a:t>Goto groups which is in left panel</a:t>
            </a:r>
          </a:p>
          <a:p>
            <a:r>
              <a:rPr lang="en-IN" dirty="0"/>
              <a:t>Click on newgroup</a:t>
            </a:r>
          </a:p>
          <a:p>
            <a:r>
              <a:rPr lang="en-IN" dirty="0"/>
              <a:t>Give the group name as “CSE CLOUD ADMINSTRATORS”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7E9A9071-A40A-24F4-C568-E70F2A1539E6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55880"/>
            <a:ext cx="2054711" cy="563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2472670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D085802-F91D-D84B-1E81-917CB6BBA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BD42EB4-742E-8584-7116-93F4C59332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Click on membership type dropdown box and choose dynamic user</a:t>
            </a:r>
          </a:p>
          <a:p>
            <a:r>
              <a:rPr lang="en-IN" dirty="0"/>
              <a:t>Click on Add dynamic Query</a:t>
            </a:r>
          </a:p>
          <a:p>
            <a:r>
              <a:rPr lang="en-IN" dirty="0"/>
              <a:t>Click on property dropdown box click </a:t>
            </a:r>
            <a:r>
              <a:rPr lang="en-IN" dirty="0" err="1"/>
              <a:t>jobtitle</a:t>
            </a:r>
            <a:endParaRPr lang="en-IN" dirty="0"/>
          </a:p>
          <a:p>
            <a:r>
              <a:rPr lang="en-IN" dirty="0"/>
              <a:t>Click on operator dropdown box and select “equals”</a:t>
            </a:r>
          </a:p>
          <a:p>
            <a:r>
              <a:rPr lang="en-IN" dirty="0"/>
              <a:t>Click on value box and give “ Cloud administrator”</a:t>
            </a:r>
          </a:p>
          <a:p>
            <a:r>
              <a:rPr lang="en-IN" dirty="0"/>
              <a:t>Click save and create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099E4F23-07FF-7C1D-1795-7D18076F852F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55880"/>
            <a:ext cx="2054711" cy="563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5722630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C32DC84-2AE7-E48A-8288-0E8E51720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B2BA6A1-1C44-91F1-C8F9-59827EB8A9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Create one more group with the name CSE System </a:t>
            </a:r>
            <a:r>
              <a:rPr lang="en-IN" dirty="0" err="1"/>
              <a:t>Adminstrator</a:t>
            </a:r>
            <a:endParaRPr lang="en-IN" dirty="0"/>
          </a:p>
          <a:p>
            <a:r>
              <a:rPr lang="en-IN" dirty="0"/>
              <a:t>After creating two groups 1. CSE CLOUD ADMINISTRATOR 2.CSE SYSTEM ADMINISTRATOR</a:t>
            </a:r>
          </a:p>
          <a:p>
            <a:r>
              <a:rPr lang="en-IN" dirty="0"/>
              <a:t>Click on newgroup</a:t>
            </a:r>
          </a:p>
          <a:p>
            <a:r>
              <a:rPr lang="en-IN" dirty="0"/>
              <a:t>Give name as CSE LAB ADMINSTRATOR</a:t>
            </a:r>
          </a:p>
          <a:p>
            <a:r>
              <a:rPr lang="en-IN" dirty="0"/>
              <a:t>Click on under MEMBERS Add CSE ADMINISTRATORS and CSE SYSTEM ADMINISTRATOR and click on Create</a:t>
            </a:r>
          </a:p>
          <a:p>
            <a:r>
              <a:rPr lang="en-IN" dirty="0"/>
              <a:t>Now refresh</a:t>
            </a:r>
            <a:br>
              <a:rPr lang="en-IN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BCFFE40C-26D3-AE1C-D424-AC43A7CD52E2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55880"/>
            <a:ext cx="2054711" cy="563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9538071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3219190-5946-F68C-5E22-C6C6C3686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5C9C4C5-56AA-C523-89F1-502DF62A54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Click on CSE CLOUD ADMINISTRATOR then click on MEMBERS in left </a:t>
            </a:r>
            <a:r>
              <a:rPr lang="en-IN" dirty="0" err="1"/>
              <a:t>pannel</a:t>
            </a:r>
            <a:endParaRPr lang="en-IN" dirty="0"/>
          </a:p>
          <a:p>
            <a:r>
              <a:rPr lang="en-IN" dirty="0"/>
              <a:t>Do the same for CSE SYSTEM ADMINSTRATOR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51F8DFFF-2E0D-15F5-D963-6A1BA8B7CAC1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55880"/>
            <a:ext cx="2054711" cy="563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4516589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126BF16-D98B-C3C6-6AE2-AE0122933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3. Create an Azure AD tenant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9F31F0A-EC4C-5266-FB94-C6DC36FFF9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Click on </a:t>
            </a:r>
            <a:r>
              <a:rPr lang="en-IN" dirty="0" err="1"/>
              <a:t>Adatum</a:t>
            </a:r>
            <a:r>
              <a:rPr lang="en-IN" dirty="0"/>
              <a:t> Corporation</a:t>
            </a:r>
          </a:p>
          <a:p>
            <a:r>
              <a:rPr lang="en-IN" dirty="0"/>
              <a:t>Click on Manage </a:t>
            </a:r>
            <a:r>
              <a:rPr lang="en-IN" dirty="0" err="1"/>
              <a:t>Tenatns</a:t>
            </a:r>
            <a:endParaRPr lang="en-IN" dirty="0"/>
          </a:p>
          <a:p>
            <a:r>
              <a:rPr lang="en-IN" dirty="0"/>
              <a:t>Click on create</a:t>
            </a:r>
          </a:p>
          <a:p>
            <a:r>
              <a:rPr lang="en-IN" dirty="0"/>
              <a:t>Click on Next configuration</a:t>
            </a:r>
          </a:p>
          <a:p>
            <a:r>
              <a:rPr lang="en-IN" dirty="0"/>
              <a:t>Click on the </a:t>
            </a:r>
            <a:r>
              <a:rPr lang="en-IN" dirty="0" err="1"/>
              <a:t>organiation</a:t>
            </a:r>
            <a:r>
              <a:rPr lang="en-IN" dirty="0"/>
              <a:t> name box give name as Azure lab</a:t>
            </a:r>
          </a:p>
          <a:p>
            <a:r>
              <a:rPr lang="en-IN" dirty="0"/>
              <a:t>Click on domain give the domain as kluniversity.onmicrosft.com</a:t>
            </a:r>
          </a:p>
          <a:p>
            <a:r>
              <a:rPr lang="en-IN" dirty="0"/>
              <a:t>Click on create</a:t>
            </a:r>
          </a:p>
          <a:p>
            <a:r>
              <a:rPr lang="en-IN" dirty="0"/>
              <a:t>It will check r u a robot give the </a:t>
            </a:r>
            <a:r>
              <a:rPr lang="en-IN" dirty="0" err="1"/>
              <a:t>capcha</a:t>
            </a:r>
            <a:r>
              <a:rPr lang="en-IN" dirty="0"/>
              <a:t> and click on submit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B8CA5097-932A-0336-3B74-06FE71A987B9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55880"/>
            <a:ext cx="2054711" cy="563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9103142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B8DE022-CB43-1BE1-13A7-A2D166102E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CDB0D87-4E78-9BFE-A410-08F00F650D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Now click the link show on right corner with the name </a:t>
            </a:r>
            <a:r>
              <a:rPr lang="en-IN" dirty="0" err="1"/>
              <a:t>azurelab</a:t>
            </a:r>
            <a:endParaRPr lang="en-IN" dirty="0"/>
          </a:p>
          <a:p>
            <a:r>
              <a:rPr lang="en-IN" dirty="0" err="1"/>
              <a:t>Clcik</a:t>
            </a:r>
            <a:r>
              <a:rPr lang="en-IN" dirty="0"/>
              <a:t> the azure screen to continue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7E7C9E62-2CDC-EB73-091E-950E1EEF25AB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55880"/>
            <a:ext cx="2054711" cy="563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0165239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53AA127-750B-54B9-9351-B087B4097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4.Manage Azure AD guest users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FC41989-7AD3-5280-BA18-2E66131EA8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Goto </a:t>
            </a:r>
            <a:r>
              <a:rPr lang="en-IN" dirty="0" err="1"/>
              <a:t>Azurelab</a:t>
            </a:r>
            <a:r>
              <a:rPr lang="en-IN" dirty="0"/>
              <a:t> Click on users</a:t>
            </a:r>
          </a:p>
          <a:p>
            <a:r>
              <a:rPr lang="en-IN" dirty="0"/>
              <a:t>Create </a:t>
            </a:r>
            <a:r>
              <a:rPr lang="en-IN" dirty="0" err="1"/>
              <a:t>newuser</a:t>
            </a:r>
            <a:r>
              <a:rPr lang="en-IN" dirty="0"/>
              <a:t> with the name labuser1</a:t>
            </a:r>
          </a:p>
          <a:p>
            <a:r>
              <a:rPr lang="en-IN" dirty="0"/>
              <a:t>Set password and user  and </a:t>
            </a:r>
            <a:r>
              <a:rPr lang="en-IN" dirty="0" err="1"/>
              <a:t>jobtitle</a:t>
            </a:r>
            <a:endParaRPr lang="en-IN" dirty="0"/>
          </a:p>
          <a:p>
            <a:r>
              <a:rPr lang="en-IN" dirty="0"/>
              <a:t>Click Refresh and  select LABUSER1</a:t>
            </a:r>
          </a:p>
          <a:p>
            <a:r>
              <a:rPr lang="en-IN" dirty="0"/>
              <a:t>Copy the user </a:t>
            </a:r>
            <a:r>
              <a:rPr lang="en-IN" dirty="0" err="1"/>
              <a:t>principalname</a:t>
            </a:r>
            <a:endParaRPr lang="en-IN" dirty="0"/>
          </a:p>
          <a:p>
            <a:r>
              <a:rPr lang="en-IN" dirty="0"/>
              <a:t>Click the directory subscription button  </a:t>
            </a:r>
          </a:p>
          <a:p>
            <a:r>
              <a:rPr lang="en-IN" dirty="0"/>
              <a:t>Second icon in the image</a:t>
            </a:r>
          </a:p>
          <a:p>
            <a:r>
              <a:rPr lang="en-IN" dirty="0"/>
              <a:t>Click on switch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BF92F96E-04DD-7F59-E710-9699F8D58A87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850325" y="4511028"/>
            <a:ext cx="1272650" cy="27434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30AFA511-1291-9960-19C3-BCFEC3175AFA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0" y="55880"/>
            <a:ext cx="2054711" cy="563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5590146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2CC86E8-8488-C7F5-3073-CB7E3FBFB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3FE3655-3418-FAA5-8FC1-1F1ED0EADA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Click on </a:t>
            </a:r>
            <a:r>
              <a:rPr lang="en-IN" dirty="0" err="1"/>
              <a:t>newuser</a:t>
            </a:r>
            <a:endParaRPr lang="en-IN" dirty="0"/>
          </a:p>
          <a:p>
            <a:r>
              <a:rPr lang="en-IN" dirty="0"/>
              <a:t>Goto invite external user</a:t>
            </a:r>
          </a:p>
          <a:p>
            <a:r>
              <a:rPr lang="en-IN" dirty="0"/>
              <a:t>Give the name as identity labuser1</a:t>
            </a:r>
          </a:p>
          <a:p>
            <a:r>
              <a:rPr lang="en-IN" dirty="0"/>
              <a:t>Give emailed as </a:t>
            </a:r>
            <a:r>
              <a:rPr lang="en-IN" dirty="0">
                <a:hlinkClick r:id="rId2"/>
              </a:rPr>
              <a:t>labuser1@onmicrosft.com</a:t>
            </a:r>
            <a:endParaRPr lang="en-IN" dirty="0"/>
          </a:p>
          <a:p>
            <a:r>
              <a:rPr lang="en-IN" dirty="0"/>
              <a:t>Select the user location as United states</a:t>
            </a:r>
          </a:p>
          <a:p>
            <a:r>
              <a:rPr lang="en-IN" dirty="0"/>
              <a:t>Job title as </a:t>
            </a:r>
            <a:r>
              <a:rPr lang="en-IN" dirty="0" err="1"/>
              <a:t>Labadminstrator</a:t>
            </a:r>
            <a:endParaRPr lang="en-IN" dirty="0"/>
          </a:p>
          <a:p>
            <a:r>
              <a:rPr lang="en-IN" dirty="0"/>
              <a:t>Click on invite</a:t>
            </a:r>
          </a:p>
          <a:p>
            <a:r>
              <a:rPr lang="en-IN" dirty="0"/>
              <a:t>Click on Refresh</a:t>
            </a:r>
          </a:p>
          <a:p>
            <a:endParaRPr lang="en-IN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4BB9C69F-719C-7CA5-E7C6-9716A829B69B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0" y="55880"/>
            <a:ext cx="2054711" cy="563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5963867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1072083-3AD6-A03E-2567-7E64980B97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4A89417-C524-7AA8-276B-E5DC922C55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Goto labuser1</a:t>
            </a:r>
          </a:p>
          <a:p>
            <a:r>
              <a:rPr lang="en-IN" dirty="0"/>
              <a:t>Click on Groups </a:t>
            </a:r>
            <a:r>
              <a:rPr lang="en-IN" dirty="0" err="1"/>
              <a:t>leftside</a:t>
            </a:r>
            <a:r>
              <a:rPr lang="en-IN" dirty="0"/>
              <a:t> </a:t>
            </a:r>
            <a:r>
              <a:rPr lang="en-IN" dirty="0" err="1"/>
              <a:t>pannel</a:t>
            </a:r>
            <a:endParaRPr lang="en-IN" dirty="0"/>
          </a:p>
          <a:p>
            <a:r>
              <a:rPr lang="en-IN" dirty="0"/>
              <a:t>Click on Add membership</a:t>
            </a:r>
          </a:p>
          <a:p>
            <a:r>
              <a:rPr lang="en-IN" dirty="0" err="1"/>
              <a:t>Slect</a:t>
            </a:r>
            <a:r>
              <a:rPr lang="en-IN" dirty="0"/>
              <a:t> group as CSELAB </a:t>
            </a:r>
            <a:r>
              <a:rPr lang="en-IN" dirty="0" err="1"/>
              <a:t>ADMINSTRAToRS</a:t>
            </a:r>
            <a:endParaRPr lang="en-IN" dirty="0"/>
          </a:p>
          <a:p>
            <a:r>
              <a:rPr lang="en-IN" dirty="0"/>
              <a:t>Click Select</a:t>
            </a:r>
          </a:p>
          <a:p>
            <a:r>
              <a:rPr lang="en-IN" dirty="0"/>
              <a:t>Click Refresh and continue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313E65AC-AE4F-9197-8991-44D086746490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55880"/>
            <a:ext cx="2054711" cy="563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5571505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9D314E5-E61E-3AB5-175A-AB9A74106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927ED1A-C0E8-FDB2-8112-826FDC3BF9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 algn="ctr">
              <a:buNone/>
            </a:pPr>
            <a:r>
              <a:rPr lang="en-IN" dirty="0"/>
              <a:t>              TASK COMPLETED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8251B6E8-9764-54FE-F894-58B0AD226C8C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55880"/>
            <a:ext cx="2054711" cy="563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0331181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876</TotalTime>
  <Words>1001</Words>
  <Application>Microsoft Office PowerPoint</Application>
  <PresentationFormat>Custom</PresentationFormat>
  <Paragraphs>179</Paragraphs>
  <Slides>25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Office Theme</vt:lpstr>
      <vt:lpstr>Microsoft Azure Administrator Associate (AZ-104)</vt:lpstr>
      <vt:lpstr>Azure Active Directory (Microsoft Entra ID)</vt:lpstr>
      <vt:lpstr>Why Azure AD?</vt:lpstr>
      <vt:lpstr>Why Azure AD?</vt:lpstr>
      <vt:lpstr>Slide 5</vt:lpstr>
      <vt:lpstr>Users </vt:lpstr>
      <vt:lpstr>Groups </vt:lpstr>
      <vt:lpstr>Guest Users </vt:lpstr>
      <vt:lpstr>Membership Types in Azure AD Groups </vt:lpstr>
      <vt:lpstr>Membership Types in Azure AD Groups </vt:lpstr>
      <vt:lpstr>Dynamic MembershipMembership</vt:lpstr>
      <vt:lpstr>Slide 12</vt:lpstr>
      <vt:lpstr>Slide 13</vt:lpstr>
      <vt:lpstr>Slide 14</vt:lpstr>
      <vt:lpstr>2. Create Azure AD group with assigned and dynamic memebrship</vt:lpstr>
      <vt:lpstr>2. Create Azure AD group with assigned and dynamic memebrship</vt:lpstr>
      <vt:lpstr>Slide 17</vt:lpstr>
      <vt:lpstr>Slide 18</vt:lpstr>
      <vt:lpstr>Slide 19</vt:lpstr>
      <vt:lpstr>3. Create an Azure AD tenant </vt:lpstr>
      <vt:lpstr>Slide 21</vt:lpstr>
      <vt:lpstr>4.Manage Azure AD guest users</vt:lpstr>
      <vt:lpstr>Slide 23</vt:lpstr>
      <vt:lpstr>Slide 24</vt:lpstr>
      <vt:lpstr>Slide 25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Azure Administrator Associate (AZ-104)</dc:title>
  <dc:creator>Dr. Raju Anitha</dc:creator>
  <cp:lastModifiedBy>hp</cp:lastModifiedBy>
  <cp:revision>27</cp:revision>
  <dcterms:created xsi:type="dcterms:W3CDTF">2026-07-28T15:00:03Z</dcterms:created>
  <dcterms:modified xsi:type="dcterms:W3CDTF">2026-08-12T02:21:42Z</dcterms:modified>
</cp:coreProperties>
</file>