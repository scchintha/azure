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71" d="100"/>
          <a:sy n="71" d="100"/>
        </p:scale>
        <p:origin x="57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07BD8-5B53-FC41-5F27-444B40FECE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0ED2A8-20ED-419A-E5E1-121F02DDC2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505CA1-2E30-B520-7519-6D9F1761A85E}"/>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5" name="Footer Placeholder 4">
            <a:extLst>
              <a:ext uri="{FF2B5EF4-FFF2-40B4-BE49-F238E27FC236}">
                <a16:creationId xmlns:a16="http://schemas.microsoft.com/office/drawing/2014/main" id="{C5F00A27-C3FB-A2CE-885B-63A3E19680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B4C283-4053-8AE1-300F-D59310BC5CAD}"/>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3328628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67E12-C3EA-8A08-6BA1-AC8E952D73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EC0FDD-2BA7-9708-F21A-51FE058552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3D9590-B6BE-F701-77B8-B9E6813CA82D}"/>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5" name="Footer Placeholder 4">
            <a:extLst>
              <a:ext uri="{FF2B5EF4-FFF2-40B4-BE49-F238E27FC236}">
                <a16:creationId xmlns:a16="http://schemas.microsoft.com/office/drawing/2014/main" id="{690E9003-3426-1627-8C66-53041A7FCC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6A6B62-BC3F-E755-BD5F-AFFC4D998E1C}"/>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920123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564D5-6A6D-B78D-2C46-101B3951B0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53DDDC-8DA4-73BE-C7C6-4675E2CD39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B56D58-C6EB-920A-126B-632FB90AF5F2}"/>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5" name="Footer Placeholder 4">
            <a:extLst>
              <a:ext uri="{FF2B5EF4-FFF2-40B4-BE49-F238E27FC236}">
                <a16:creationId xmlns:a16="http://schemas.microsoft.com/office/drawing/2014/main" id="{189F8136-B0DE-D11B-7F94-4CC2953DBC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606093-C90D-64A3-C008-26B63EFE5056}"/>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830374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A1445-E87E-D61B-F7D2-F0AD0E7759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D860F1-8BB5-F13E-6DC3-A448BDAC80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B52A08-99D9-241A-7B1B-3D9C886C55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9D19A5-28F7-5F74-01A4-0294D1B66D0E}"/>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6" name="Footer Placeholder 5">
            <a:extLst>
              <a:ext uri="{FF2B5EF4-FFF2-40B4-BE49-F238E27FC236}">
                <a16:creationId xmlns:a16="http://schemas.microsoft.com/office/drawing/2014/main" id="{BDBE93FB-9AE5-17BE-6DA9-060E72EB40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9CCEE4-4418-9D3D-A704-038F509017CD}"/>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793658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ACDDA-ECD7-3823-A3A8-B615288433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F81B48-21D4-6E91-4C72-4C349D0CD6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A374CF-73F2-4BC9-E5DA-98931D584E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2DC316A-30D5-919A-95F5-E434C3EF8C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20B9A0-D503-96A8-6C45-A589ABF196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AE28BB4-BCE8-1233-DD68-9D07F93DD1C7}"/>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8" name="Footer Placeholder 7">
            <a:extLst>
              <a:ext uri="{FF2B5EF4-FFF2-40B4-BE49-F238E27FC236}">
                <a16:creationId xmlns:a16="http://schemas.microsoft.com/office/drawing/2014/main" id="{1492321A-1FCE-8F8D-8064-092BD0413D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D3C9E0B-7F20-6341-5362-1DEF4DC61415}"/>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029090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E2BAF-8963-FDCB-4858-B9DF335E764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81B636-DE4F-BABF-35A4-A2DF3AC89D63}"/>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4" name="Footer Placeholder 3">
            <a:extLst>
              <a:ext uri="{FF2B5EF4-FFF2-40B4-BE49-F238E27FC236}">
                <a16:creationId xmlns:a16="http://schemas.microsoft.com/office/drawing/2014/main" id="{53A87749-4E45-2AF3-B142-B9B705C5C09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8B86ADC-339A-9428-6A87-B1CEBE3A8445}"/>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769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D66F27-B197-F099-8D99-6FB7375DC80C}"/>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3" name="Footer Placeholder 2">
            <a:extLst>
              <a:ext uri="{FF2B5EF4-FFF2-40B4-BE49-F238E27FC236}">
                <a16:creationId xmlns:a16="http://schemas.microsoft.com/office/drawing/2014/main" id="{81108BB6-541D-441B-2650-1D59478DA5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5C9A84-F893-5C10-8811-EB8E49997347}"/>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948794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DEFDF-C099-174B-941A-DB3154B5E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B564B8-73B8-7DF9-9302-95DF3CE1C6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80D510-4885-9609-BF7A-96F5A2F4C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F5D98C-7C4A-14C0-DF5E-DD4571DC92B1}"/>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6" name="Footer Placeholder 5">
            <a:extLst>
              <a:ext uri="{FF2B5EF4-FFF2-40B4-BE49-F238E27FC236}">
                <a16:creationId xmlns:a16="http://schemas.microsoft.com/office/drawing/2014/main" id="{B4A2E426-C9B1-B298-8C9C-30A576730D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B407F2-69A6-89AC-2924-85B56962E593}"/>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475891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15081-2E71-1995-CE79-A7019A71D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8FB051-4B45-D169-1C16-C9BD623368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A56BA0-CAD9-55CC-5E10-7F6FC8E06D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01A488-C160-5ADC-D574-4496FF8C355C}"/>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6" name="Footer Placeholder 5">
            <a:extLst>
              <a:ext uri="{FF2B5EF4-FFF2-40B4-BE49-F238E27FC236}">
                <a16:creationId xmlns:a16="http://schemas.microsoft.com/office/drawing/2014/main" id="{174925CF-1714-13EA-6CF5-721AA7CE11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F6C79C-6811-E7E1-C42D-A7FEB93385DC}"/>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802880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D06D-12DC-A41B-FDB5-3FDE88356B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5C25D1-7507-6963-1B91-17802C255B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3AB047-52C5-02BB-B26A-8737F2AAED30}"/>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5" name="Footer Placeholder 4">
            <a:extLst>
              <a:ext uri="{FF2B5EF4-FFF2-40B4-BE49-F238E27FC236}">
                <a16:creationId xmlns:a16="http://schemas.microsoft.com/office/drawing/2014/main" id="{6968BDE7-4784-5087-AB05-C25AA4B0A9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775E57-59C1-DC7E-26D6-139F509785FE}"/>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615628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74B849-E579-63ED-A79C-B22A6E176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6BCBA0-A150-D62A-53C6-6ADC735F9B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BD0A77-A65F-5953-08EF-D9D421A3F331}"/>
              </a:ext>
            </a:extLst>
          </p:cNvPr>
          <p:cNvSpPr>
            <a:spLocks noGrp="1"/>
          </p:cNvSpPr>
          <p:nvPr>
            <p:ph type="dt" sz="half" idx="10"/>
          </p:nvPr>
        </p:nvSpPr>
        <p:spPr/>
        <p:txBody>
          <a:bodyPr/>
          <a:lstStyle/>
          <a:p>
            <a:fld id="{41E9C0F1-D1F8-4452-9ED4-054395D95B2B}" type="datetimeFigureOut">
              <a:rPr lang="en-IN" smtClean="0"/>
              <a:t>01-09-2026</a:t>
            </a:fld>
            <a:endParaRPr lang="en-IN"/>
          </a:p>
        </p:txBody>
      </p:sp>
      <p:sp>
        <p:nvSpPr>
          <p:cNvPr id="5" name="Footer Placeholder 4">
            <a:extLst>
              <a:ext uri="{FF2B5EF4-FFF2-40B4-BE49-F238E27FC236}">
                <a16:creationId xmlns:a16="http://schemas.microsoft.com/office/drawing/2014/main" id="{5495BCA9-21A1-5BB7-8AB2-AD2D7DDD24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101FCD-34F3-C69E-FDBE-FF39C9EEE844}"/>
              </a:ext>
            </a:extLst>
          </p:cNvPr>
          <p:cNvSpPr>
            <a:spLocks noGrp="1"/>
          </p:cNvSpPr>
          <p:nvPr>
            <p:ph type="sldNum" sz="quarter" idx="12"/>
          </p:nvPr>
        </p:nvSpPr>
        <p:spPr/>
        <p:txBody>
          <a:bodyPr/>
          <a:lstStyle/>
          <a:p>
            <a:fld id="{07675A51-CF56-4F8D-A249-92CD8C9A6430}" type="slidenum">
              <a:rPr lang="en-IN" smtClean="0"/>
              <a:t>‹#›</a:t>
            </a:fld>
            <a:endParaRPr lang="en-IN"/>
          </a:p>
        </p:txBody>
      </p:sp>
    </p:spTree>
    <p:extLst>
      <p:ext uri="{BB962C8B-B14F-4D97-AF65-F5344CB8AC3E}">
        <p14:creationId xmlns:p14="http://schemas.microsoft.com/office/powerpoint/2010/main" val="1298133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897358-6716-FD64-6F93-FACDD05186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C7811E-9E5A-226A-C54D-EB2A090AFC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A0CEAE-8C4B-357B-097D-076193262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E9C0F1-D1F8-4452-9ED4-054395D95B2B}" type="datetimeFigureOut">
              <a:rPr lang="en-IN" smtClean="0"/>
              <a:t>01-09-2026</a:t>
            </a:fld>
            <a:endParaRPr lang="en-IN"/>
          </a:p>
        </p:txBody>
      </p:sp>
      <p:sp>
        <p:nvSpPr>
          <p:cNvPr id="5" name="Footer Placeholder 4">
            <a:extLst>
              <a:ext uri="{FF2B5EF4-FFF2-40B4-BE49-F238E27FC236}">
                <a16:creationId xmlns:a16="http://schemas.microsoft.com/office/drawing/2014/main" id="{37240D4D-8323-9B0F-8C68-8B47445544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44C527D-217A-B91A-C7C9-63B4384A4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675A51-CF56-4F8D-A249-92CD8C9A6430}" type="slidenum">
              <a:rPr lang="en-IN" smtClean="0"/>
              <a:t>‹#›</a:t>
            </a:fld>
            <a:endParaRPr lang="en-IN"/>
          </a:p>
        </p:txBody>
      </p:sp>
    </p:spTree>
    <p:extLst>
      <p:ext uri="{BB962C8B-B14F-4D97-AF65-F5344CB8AC3E}">
        <p14:creationId xmlns:p14="http://schemas.microsoft.com/office/powerpoint/2010/main" val="141697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learn.microsoft.com/en-us/credentials/certifications/azure-administrato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16905-2D36-125C-67BD-E0C1AE8B7227}"/>
              </a:ext>
            </a:extLst>
          </p:cNvPr>
          <p:cNvSpPr>
            <a:spLocks noGrp="1"/>
          </p:cNvSpPr>
          <p:nvPr>
            <p:ph type="ctrTitle"/>
          </p:nvPr>
        </p:nvSpPr>
        <p:spPr>
          <a:xfrm>
            <a:off x="1524000" y="1122363"/>
            <a:ext cx="9144000" cy="1835990"/>
          </a:xfrm>
        </p:spPr>
        <p:txBody>
          <a:bodyPr>
            <a:normAutofit/>
          </a:bodyPr>
          <a:lstStyle/>
          <a:p>
            <a:r>
              <a:rPr lang="en-IN" sz="4000" b="1" dirty="0">
                <a:latin typeface="Times New Roman" panose="02020603050405020304" pitchFamily="18" charset="0"/>
                <a:cs typeface="Times New Roman" panose="02020603050405020304" pitchFamily="18" charset="0"/>
              </a:rPr>
              <a:t>Microsoft Azure Administrator Associate (</a:t>
            </a:r>
            <a:r>
              <a:rPr lang="en-IN" sz="4000" b="1" dirty="0">
                <a:latin typeface="Times New Roman" panose="02020603050405020304" pitchFamily="18" charset="0"/>
                <a:cs typeface="Times New Roman" panose="02020603050405020304" pitchFamily="18" charset="0"/>
                <a:hlinkClick r:id="rId2"/>
              </a:rPr>
              <a:t>AZ-104</a:t>
            </a:r>
            <a:r>
              <a:rPr lang="en-IN" sz="4000" b="1"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F8BDAFDB-0A5F-1843-F9B5-F3967976EE4C}"/>
              </a:ext>
            </a:extLst>
          </p:cNvPr>
          <p:cNvSpPr>
            <a:spLocks noGrp="1"/>
          </p:cNvSpPr>
          <p:nvPr>
            <p:ph type="subTitle" idx="1"/>
          </p:nvPr>
        </p:nvSpPr>
        <p:spPr/>
        <p:txBody>
          <a:bodyPr/>
          <a:lstStyle/>
          <a:p>
            <a:r>
              <a:rPr lang="en-IN" dirty="0"/>
              <a:t>SESSION-5</a:t>
            </a:r>
          </a:p>
        </p:txBody>
      </p:sp>
      <p:pic>
        <p:nvPicPr>
          <p:cNvPr id="5" name="Picture 4">
            <a:extLst>
              <a:ext uri="{FF2B5EF4-FFF2-40B4-BE49-F238E27FC236}">
                <a16:creationId xmlns:a16="http://schemas.microsoft.com/office/drawing/2014/main" id="{C493B83B-E366-88FF-DD03-1037997C4FAB}"/>
              </a:ext>
            </a:extLst>
          </p:cNvPr>
          <p:cNvPicPr>
            <a:picLocks noChangeAspect="1"/>
          </p:cNvPicPr>
          <p:nvPr/>
        </p:nvPicPr>
        <p:blipFill>
          <a:blip r:embed="rId3"/>
          <a:stretch>
            <a:fillRect/>
          </a:stretch>
        </p:blipFill>
        <p:spPr>
          <a:xfrm>
            <a:off x="0" y="55880"/>
            <a:ext cx="2054711" cy="563880"/>
          </a:xfrm>
          <a:prstGeom prst="rect">
            <a:avLst/>
          </a:prstGeom>
        </p:spPr>
      </p:pic>
    </p:spTree>
    <p:extLst>
      <p:ext uri="{BB962C8B-B14F-4D97-AF65-F5344CB8AC3E}">
        <p14:creationId xmlns:p14="http://schemas.microsoft.com/office/powerpoint/2010/main" val="2202113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A86BB-2F56-D3AC-E345-66143C402919}"/>
              </a:ext>
            </a:extLst>
          </p:cNvPr>
          <p:cNvSpPr>
            <a:spLocks noGrp="1"/>
          </p:cNvSpPr>
          <p:nvPr>
            <p:ph type="title"/>
          </p:nvPr>
        </p:nvSpPr>
        <p:spPr>
          <a:xfrm>
            <a:off x="925158" y="839096"/>
            <a:ext cx="10428642" cy="851592"/>
          </a:xfrm>
        </p:spPr>
        <p:txBody>
          <a:bodyPr>
            <a:normAutofit/>
          </a:bodyPr>
          <a:lstStyle/>
          <a:p>
            <a:r>
              <a:rPr lang="en-IN" sz="4000" b="1" dirty="0">
                <a:latin typeface="Times New Roman" panose="02020603050405020304" pitchFamily="18" charset="0"/>
                <a:cs typeface="Times New Roman" panose="02020603050405020304" pitchFamily="18" charset="0"/>
              </a:rPr>
              <a:t>Task -5</a:t>
            </a:r>
          </a:p>
        </p:txBody>
      </p:sp>
      <p:sp>
        <p:nvSpPr>
          <p:cNvPr id="3" name="Content Placeholder 2">
            <a:extLst>
              <a:ext uri="{FF2B5EF4-FFF2-40B4-BE49-F238E27FC236}">
                <a16:creationId xmlns:a16="http://schemas.microsoft.com/office/drawing/2014/main" id="{38564057-1FE3-DE72-E7A5-074F9C042AC2}"/>
              </a:ext>
            </a:extLst>
          </p:cNvPr>
          <p:cNvSpPr>
            <a:spLocks noGrp="1"/>
          </p:cNvSpPr>
          <p:nvPr>
            <p:ph idx="1"/>
          </p:nvPr>
        </p:nvSpPr>
        <p:spPr>
          <a:xfrm>
            <a:off x="838200" y="1538344"/>
            <a:ext cx="10515600" cy="4638619"/>
          </a:xfrm>
        </p:spPr>
        <p:txBody>
          <a:bodyPr>
            <a:normAutofit/>
          </a:bodyPr>
          <a:lstStyle/>
          <a:p>
            <a:pPr marL="0" indent="0">
              <a:buNone/>
            </a:pPr>
            <a:r>
              <a:rPr lang="en-IN" dirty="0"/>
              <a:t>1.Deploy an Azure Virtual Machine</a:t>
            </a:r>
          </a:p>
          <a:p>
            <a:pPr marL="0" indent="0">
              <a:buNone/>
            </a:pPr>
            <a:r>
              <a:rPr lang="en-IN" dirty="0"/>
              <a:t> 2.Create and configure an Azure storage account</a:t>
            </a:r>
          </a:p>
          <a:p>
            <a:pPr marL="0" indent="0">
              <a:buNone/>
            </a:pPr>
            <a:r>
              <a:rPr lang="en-IN" dirty="0"/>
              <a:t> 3.Manage blob Storage </a:t>
            </a:r>
          </a:p>
          <a:p>
            <a:pPr marL="0" indent="0">
              <a:buNone/>
            </a:pPr>
            <a:r>
              <a:rPr lang="en-IN" dirty="0"/>
              <a:t>4.Manage </a:t>
            </a:r>
            <a:r>
              <a:rPr lang="en-IN" dirty="0" err="1"/>
              <a:t>authenitication</a:t>
            </a:r>
            <a:r>
              <a:rPr lang="en-IN" dirty="0"/>
              <a:t> and </a:t>
            </a:r>
            <a:r>
              <a:rPr lang="en-IN" dirty="0" err="1"/>
              <a:t>authrization</a:t>
            </a:r>
            <a:r>
              <a:rPr lang="en-IN" dirty="0"/>
              <a:t> for azure </a:t>
            </a:r>
            <a:r>
              <a:rPr lang="en-IN" dirty="0" err="1"/>
              <a:t>strorage</a:t>
            </a:r>
            <a:endParaRPr lang="en-IN" dirty="0"/>
          </a:p>
          <a:p>
            <a:pPr marL="0" indent="0">
              <a:buNone/>
            </a:pPr>
            <a:r>
              <a:rPr lang="en-IN" dirty="0"/>
              <a:t> 5.Create and </a:t>
            </a:r>
            <a:r>
              <a:rPr lang="en-IN" dirty="0" err="1"/>
              <a:t>congigure</a:t>
            </a:r>
            <a:r>
              <a:rPr lang="en-IN" dirty="0"/>
              <a:t> an azure files share</a:t>
            </a:r>
          </a:p>
          <a:p>
            <a:pPr algn="just"/>
            <a:endParaRPr lang="en-IN"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F16B481D-AF51-BDE2-0A32-70776A9B85CB}"/>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235160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2A409-4912-9A41-90E5-7EAA7CD09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73E73-53D8-7B56-9D16-E511C8280B39}"/>
              </a:ext>
            </a:extLst>
          </p:cNvPr>
          <p:cNvSpPr>
            <a:spLocks noGrp="1"/>
          </p:cNvSpPr>
          <p:nvPr>
            <p:ph type="title"/>
          </p:nvPr>
        </p:nvSpPr>
        <p:spPr>
          <a:xfrm>
            <a:off x="925158" y="839096"/>
            <a:ext cx="10428642" cy="851592"/>
          </a:xfrm>
        </p:spPr>
        <p:txBody>
          <a:bodyPr>
            <a:normAutofit fontScale="90000"/>
          </a:bodyPr>
          <a:lstStyle/>
          <a:p>
            <a:r>
              <a:rPr lang="en-US" sz="4000" b="1" dirty="0">
                <a:latin typeface="Times New Roman" panose="02020603050405020304" pitchFamily="18" charset="0"/>
                <a:cs typeface="Times New Roman" panose="02020603050405020304" pitchFamily="18" charset="0"/>
              </a:rPr>
              <a:t>Deploy an Azure Virtual Machine</a:t>
            </a:r>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F9F6AF-C678-5248-1CA9-30290786B6DC}"/>
              </a:ext>
            </a:extLst>
          </p:cNvPr>
          <p:cNvSpPr>
            <a:spLocks noGrp="1"/>
          </p:cNvSpPr>
          <p:nvPr>
            <p:ph idx="1"/>
          </p:nvPr>
        </p:nvSpPr>
        <p:spPr>
          <a:xfrm>
            <a:off x="838200" y="1538344"/>
            <a:ext cx="10515600" cy="4638619"/>
          </a:xfrm>
        </p:spPr>
        <p:txBody>
          <a:bodyPr>
            <a:normAutofit/>
          </a:bodyPr>
          <a:lstStyle/>
          <a:p>
            <a:pPr marL="0" indent="0" algn="just">
              <a:buNone/>
            </a:pPr>
            <a:r>
              <a:rPr lang="en-US" dirty="0">
                <a:latin typeface="Times New Roman" panose="02020603050405020304" pitchFamily="18" charset="0"/>
                <a:ea typeface="+mj-ea"/>
                <a:cs typeface="Times New Roman" panose="02020603050405020304" pitchFamily="18" charset="0"/>
              </a:rPr>
              <a:t>An Azure Virtual Machine (VM) is an on-demand, scalable computing resource that allows you to run Windows or Linux operating systems in the Azure cloud. A VM consists of compute resources along with associated components such as a virtual network, network interface, public IP address, and managed disk.</a:t>
            </a:r>
            <a:endParaRPr lang="en-IN"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C8B0CC15-747A-5481-FAAD-DBB7AA31369B}"/>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1816717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A7918-0677-4EBD-CC75-24DA6BD18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4336E-BB1F-BE8E-42F6-E7F93A1EF9DA}"/>
              </a:ext>
            </a:extLst>
          </p:cNvPr>
          <p:cNvSpPr>
            <a:spLocks noGrp="1"/>
          </p:cNvSpPr>
          <p:nvPr>
            <p:ph type="title"/>
          </p:nvPr>
        </p:nvSpPr>
        <p:spPr>
          <a:xfrm>
            <a:off x="925158" y="839096"/>
            <a:ext cx="10428642" cy="851592"/>
          </a:xfrm>
        </p:spPr>
        <p:txBody>
          <a:bodyPr>
            <a:normAutofit fontScale="90000"/>
          </a:bodyPr>
          <a:lstStyle/>
          <a:p>
            <a:r>
              <a:rPr lang="en-US" sz="4000" b="1" dirty="0">
                <a:latin typeface="Times New Roman" panose="02020603050405020304" pitchFamily="18" charset="0"/>
                <a:cs typeface="Times New Roman" panose="02020603050405020304" pitchFamily="18" charset="0"/>
              </a:rPr>
              <a:t>Deploy an Azure Virtual Machine</a:t>
            </a:r>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55CC12-6317-A766-477B-C21E19C8F65A}"/>
              </a:ext>
            </a:extLst>
          </p:cNvPr>
          <p:cNvSpPr>
            <a:spLocks noGrp="1"/>
          </p:cNvSpPr>
          <p:nvPr>
            <p:ph idx="1"/>
          </p:nvPr>
        </p:nvSpPr>
        <p:spPr>
          <a:xfrm>
            <a:off x="656216" y="1323192"/>
            <a:ext cx="10697584" cy="4853772"/>
          </a:xfrm>
        </p:spPr>
        <p:txBody>
          <a:bodyPr>
            <a:normAutofit fontScale="40000" lnSpcReduction="20000"/>
          </a:bodyPr>
          <a:lstStyle/>
          <a:p>
            <a:r>
              <a:rPr lang="en-IN" sz="3000" b="1" dirty="0"/>
              <a:t>Steps:</a:t>
            </a:r>
            <a:endParaRPr lang="en-IN" sz="3000" dirty="0"/>
          </a:p>
          <a:p>
            <a:pPr lvl="0"/>
            <a:r>
              <a:rPr lang="en-IN" sz="3000" dirty="0"/>
              <a:t>Sign in to the </a:t>
            </a:r>
            <a:r>
              <a:rPr lang="en-IN" sz="3000" b="1" dirty="0"/>
              <a:t>Azure Portal</a:t>
            </a:r>
            <a:r>
              <a:rPr lang="en-IN" sz="3000" dirty="0"/>
              <a:t>. </a:t>
            </a:r>
          </a:p>
          <a:p>
            <a:pPr lvl="0"/>
            <a:r>
              <a:rPr lang="en-IN" sz="3000" dirty="0"/>
              <a:t>Search for </a:t>
            </a:r>
            <a:r>
              <a:rPr lang="en-IN" sz="3000" b="1" dirty="0"/>
              <a:t>Virtual Machines</a:t>
            </a:r>
            <a:r>
              <a:rPr lang="en-IN" sz="3000" dirty="0"/>
              <a:t> and select </a:t>
            </a:r>
            <a:r>
              <a:rPr lang="en-IN" sz="3000" b="1" dirty="0"/>
              <a:t>Create → Azure virtual machine</a:t>
            </a:r>
            <a:r>
              <a:rPr lang="en-IN" sz="3000" dirty="0"/>
              <a:t>. </a:t>
            </a:r>
          </a:p>
          <a:p>
            <a:pPr lvl="0"/>
            <a:r>
              <a:rPr lang="en-IN" sz="3000" dirty="0"/>
              <a:t>Select the appropriate </a:t>
            </a:r>
            <a:r>
              <a:rPr lang="en-IN" sz="3000" b="1" dirty="0"/>
              <a:t>Subscription</a:t>
            </a:r>
            <a:r>
              <a:rPr lang="en-IN" sz="3000" dirty="0"/>
              <a:t> and </a:t>
            </a:r>
            <a:r>
              <a:rPr lang="en-IN" sz="3000" b="1" dirty="0"/>
              <a:t>Resource Group</a:t>
            </a:r>
            <a:r>
              <a:rPr lang="en-IN" sz="3000" dirty="0"/>
              <a:t>. </a:t>
            </a:r>
          </a:p>
          <a:p>
            <a:pPr lvl="0"/>
            <a:r>
              <a:rPr lang="en-IN" sz="3000" dirty="0"/>
              <a:t>Enter a unique </a:t>
            </a:r>
            <a:r>
              <a:rPr lang="en-IN" sz="3000" b="1" dirty="0"/>
              <a:t>Virtual Machine name</a:t>
            </a:r>
            <a:r>
              <a:rPr lang="en-IN" sz="3000" dirty="0"/>
              <a:t>. </a:t>
            </a:r>
          </a:p>
          <a:p>
            <a:pPr lvl="0"/>
            <a:r>
              <a:rPr lang="en-IN" sz="3000" dirty="0"/>
              <a:t>Select the required </a:t>
            </a:r>
            <a:r>
              <a:rPr lang="en-IN" sz="3000" b="1" dirty="0"/>
              <a:t>Region</a:t>
            </a:r>
            <a:r>
              <a:rPr lang="en-IN" sz="3000" dirty="0"/>
              <a:t>. </a:t>
            </a:r>
          </a:p>
          <a:p>
            <a:pPr lvl="0"/>
            <a:r>
              <a:rPr lang="en-IN" sz="3000" dirty="0"/>
              <a:t>Select the required </a:t>
            </a:r>
            <a:r>
              <a:rPr lang="en-IN" sz="3000" b="1" dirty="0"/>
              <a:t>Image</a:t>
            </a:r>
            <a:r>
              <a:rPr lang="en-IN" sz="3000" dirty="0"/>
              <a:t>, such as Windows Server or Ubuntu. </a:t>
            </a:r>
          </a:p>
          <a:p>
            <a:pPr lvl="0"/>
            <a:r>
              <a:rPr lang="en-IN" sz="3000" dirty="0"/>
              <a:t>Choose an appropriate </a:t>
            </a:r>
            <a:r>
              <a:rPr lang="en-IN" sz="3000" b="1" dirty="0"/>
              <a:t>VM size</a:t>
            </a:r>
            <a:r>
              <a:rPr lang="en-IN" sz="3000" dirty="0"/>
              <a:t>. </a:t>
            </a:r>
          </a:p>
          <a:p>
            <a:pPr lvl="0"/>
            <a:r>
              <a:rPr lang="en-IN" sz="3000" dirty="0"/>
              <a:t>Configure the administrator username and authentication method. </a:t>
            </a:r>
          </a:p>
          <a:p>
            <a:pPr lvl="0"/>
            <a:r>
              <a:rPr lang="en-IN" sz="3000" dirty="0"/>
              <a:t>Configure the required </a:t>
            </a:r>
            <a:r>
              <a:rPr lang="en-IN" sz="3000" b="1" dirty="0"/>
              <a:t>Inbound ports</a:t>
            </a:r>
            <a:r>
              <a:rPr lang="en-IN" sz="3000" dirty="0"/>
              <a:t>, such as RDP (3389) or SSH (22). </a:t>
            </a:r>
          </a:p>
          <a:p>
            <a:pPr lvl="0"/>
            <a:r>
              <a:rPr lang="en-IN" sz="3000" dirty="0"/>
              <a:t>Review the configuration. </a:t>
            </a:r>
          </a:p>
          <a:p>
            <a:pPr lvl="0"/>
            <a:r>
              <a:rPr lang="en-IN" sz="3000" dirty="0"/>
              <a:t>Select </a:t>
            </a:r>
            <a:r>
              <a:rPr lang="en-IN" sz="3000" b="1" dirty="0"/>
              <a:t>Create</a:t>
            </a:r>
            <a:r>
              <a:rPr lang="en-IN" sz="3000" dirty="0"/>
              <a:t>. </a:t>
            </a:r>
          </a:p>
          <a:p>
            <a:pPr lvl="0"/>
            <a:r>
              <a:rPr lang="en-IN" sz="3000" dirty="0"/>
              <a:t>After deployment, open the VM and verify its: </a:t>
            </a:r>
          </a:p>
          <a:p>
            <a:pPr lvl="0"/>
            <a:r>
              <a:rPr lang="en-IN" sz="3000" dirty="0"/>
              <a:t>Status </a:t>
            </a:r>
          </a:p>
          <a:p>
            <a:pPr lvl="0"/>
            <a:r>
              <a:rPr lang="en-IN" sz="3000" dirty="0"/>
              <a:t>Public IP address </a:t>
            </a:r>
          </a:p>
          <a:p>
            <a:pPr lvl="0"/>
            <a:r>
              <a:rPr lang="en-IN" sz="3000" dirty="0"/>
              <a:t>Networking </a:t>
            </a:r>
          </a:p>
          <a:p>
            <a:pPr lvl="0"/>
            <a:r>
              <a:rPr lang="en-IN" sz="3000" dirty="0"/>
              <a:t>Disks </a:t>
            </a:r>
          </a:p>
          <a:p>
            <a:pPr lvl="0"/>
            <a:r>
              <a:rPr lang="en-IN" sz="3000" dirty="0"/>
              <a:t>Connect to the VM using </a:t>
            </a:r>
            <a:r>
              <a:rPr lang="en-IN" sz="3000" b="1" dirty="0"/>
              <a:t>RDP</a:t>
            </a:r>
            <a:r>
              <a:rPr lang="en-IN" sz="3000" dirty="0"/>
              <a:t> for Windows or </a:t>
            </a:r>
            <a:r>
              <a:rPr lang="en-IN" sz="3000" b="1" dirty="0"/>
              <a:t>SSH</a:t>
            </a:r>
            <a:r>
              <a:rPr lang="en-IN" sz="3000" dirty="0"/>
              <a:t> for Linux.</a:t>
            </a:r>
          </a:p>
          <a:p>
            <a:pPr marL="0" indent="0" algn="just">
              <a:buNone/>
            </a:pPr>
            <a:endParaRPr lang="en-IN"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3AF812BA-C5F9-17C5-836C-60A59D050BAE}"/>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3916668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A09B8-2020-433F-5B7D-6D8AC2616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4A672-A65A-EE0E-1138-20EACC0362AA}"/>
              </a:ext>
            </a:extLst>
          </p:cNvPr>
          <p:cNvSpPr>
            <a:spLocks noGrp="1"/>
          </p:cNvSpPr>
          <p:nvPr>
            <p:ph type="title"/>
          </p:nvPr>
        </p:nvSpPr>
        <p:spPr>
          <a:xfrm>
            <a:off x="925158" y="839096"/>
            <a:ext cx="10428642" cy="851592"/>
          </a:xfrm>
        </p:spPr>
        <p:txBody>
          <a:bodyPr>
            <a:normAutofit fontScale="90000"/>
          </a:bodyPr>
          <a:lstStyle/>
          <a:p>
            <a:r>
              <a:rPr lang="en-US" sz="4000" b="1" dirty="0">
                <a:latin typeface="Times New Roman" panose="02020603050405020304" pitchFamily="18" charset="0"/>
                <a:cs typeface="Times New Roman" panose="02020603050405020304" pitchFamily="18" charset="0"/>
              </a:rPr>
              <a:t>Create and Configure an Azure Storage Account</a:t>
            </a:r>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E83E8-B95D-9002-8E59-9A550BA3937C}"/>
              </a:ext>
            </a:extLst>
          </p:cNvPr>
          <p:cNvSpPr>
            <a:spLocks noGrp="1"/>
          </p:cNvSpPr>
          <p:nvPr>
            <p:ph idx="1"/>
          </p:nvPr>
        </p:nvSpPr>
        <p:spPr>
          <a:xfrm>
            <a:off x="656216" y="1323192"/>
            <a:ext cx="10697584" cy="4853772"/>
          </a:xfrm>
        </p:spPr>
        <p:txBody>
          <a:bodyPr>
            <a:normAutofit/>
          </a:bodyPr>
          <a:lstStyle/>
          <a:p>
            <a:pPr marL="0" indent="0" algn="just">
              <a:buNone/>
            </a:pPr>
            <a:r>
              <a:rPr lang="en-IN" dirty="0"/>
              <a:t>An </a:t>
            </a:r>
            <a:r>
              <a:rPr lang="en-IN" b="1" dirty="0"/>
              <a:t>Azure Storage Account</a:t>
            </a:r>
            <a:r>
              <a:rPr lang="en-IN" dirty="0"/>
              <a:t> provides a secure and scalable storage namespace in Azure. It can support services such as </a:t>
            </a:r>
            <a:r>
              <a:rPr lang="en-IN" b="1" dirty="0"/>
              <a:t>Blob Storage, Azure Files, Queue Storage, and Table Storage</a:t>
            </a:r>
            <a:r>
              <a:rPr lang="en-IN" dirty="0"/>
              <a:t>. Storage accounts can be configured with different performance, redundancy, access, and security options.</a:t>
            </a:r>
            <a:endParaRPr lang="en-IN"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7BD66E03-C6F2-09E6-569F-34A4A15E12E6}"/>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1497986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77669-76AD-BF2E-A73D-D835540F7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82F0C-8EE4-BA80-E57E-10ADF1795C81}"/>
              </a:ext>
            </a:extLst>
          </p:cNvPr>
          <p:cNvSpPr>
            <a:spLocks noGrp="1"/>
          </p:cNvSpPr>
          <p:nvPr>
            <p:ph type="title"/>
          </p:nvPr>
        </p:nvSpPr>
        <p:spPr>
          <a:xfrm>
            <a:off x="925158" y="839096"/>
            <a:ext cx="10428642" cy="851592"/>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E9E9945-7C6B-CBDB-DAEB-D48E7A0E51CB}"/>
              </a:ext>
            </a:extLst>
          </p:cNvPr>
          <p:cNvSpPr>
            <a:spLocks noGrp="1"/>
          </p:cNvSpPr>
          <p:nvPr>
            <p:ph idx="1"/>
          </p:nvPr>
        </p:nvSpPr>
        <p:spPr>
          <a:xfrm>
            <a:off x="461682" y="681036"/>
            <a:ext cx="10805160" cy="5337868"/>
          </a:xfrm>
        </p:spPr>
        <p:txBody>
          <a:bodyPr>
            <a:noAutofit/>
          </a:bodyPr>
          <a:lstStyle/>
          <a:p>
            <a:r>
              <a:rPr lang="en-IN" sz="1200" b="1" dirty="0"/>
              <a:t>Steps:</a:t>
            </a:r>
            <a:endParaRPr lang="en-IN" sz="1200" dirty="0"/>
          </a:p>
          <a:p>
            <a:pPr lvl="0"/>
            <a:r>
              <a:rPr lang="en-IN" sz="1200" dirty="0"/>
              <a:t>Sign in to the </a:t>
            </a:r>
            <a:r>
              <a:rPr lang="en-IN" sz="1200" b="1" dirty="0"/>
              <a:t>Azure Portal</a:t>
            </a:r>
            <a:r>
              <a:rPr lang="en-IN" sz="1200" dirty="0"/>
              <a:t>. </a:t>
            </a:r>
          </a:p>
          <a:p>
            <a:pPr lvl="0"/>
            <a:r>
              <a:rPr lang="en-IN" sz="1200" dirty="0"/>
              <a:t>Search for </a:t>
            </a:r>
            <a:r>
              <a:rPr lang="en-IN" sz="1200" b="1" dirty="0"/>
              <a:t>Storage accounts</a:t>
            </a:r>
            <a:r>
              <a:rPr lang="en-IN" sz="1200" dirty="0"/>
              <a:t>. </a:t>
            </a:r>
          </a:p>
          <a:p>
            <a:pPr lvl="0"/>
            <a:r>
              <a:rPr lang="en-IN" sz="1200" dirty="0"/>
              <a:t>Select </a:t>
            </a:r>
            <a:r>
              <a:rPr lang="en-IN" sz="1200" b="1" dirty="0"/>
              <a:t>Create</a:t>
            </a:r>
            <a:r>
              <a:rPr lang="en-IN" sz="1200" dirty="0"/>
              <a:t>. </a:t>
            </a:r>
          </a:p>
          <a:p>
            <a:pPr lvl="0"/>
            <a:r>
              <a:rPr lang="en-IN" sz="1200" dirty="0"/>
              <a:t>Select the appropriate </a:t>
            </a:r>
            <a:r>
              <a:rPr lang="en-IN" sz="1200" b="1" dirty="0"/>
              <a:t>Subscription</a:t>
            </a:r>
            <a:r>
              <a:rPr lang="en-IN" sz="1200" dirty="0"/>
              <a:t> and </a:t>
            </a:r>
            <a:r>
              <a:rPr lang="en-IN" sz="1200" b="1" dirty="0"/>
              <a:t>Resource Group</a:t>
            </a:r>
            <a:r>
              <a:rPr lang="en-IN" sz="1200" dirty="0"/>
              <a:t>. </a:t>
            </a:r>
          </a:p>
          <a:p>
            <a:pPr lvl="0"/>
            <a:r>
              <a:rPr lang="en-IN" sz="1200" dirty="0"/>
              <a:t>Enter a globally unique </a:t>
            </a:r>
            <a:r>
              <a:rPr lang="en-IN" sz="1200" b="1" dirty="0"/>
              <a:t>Storage account name</a:t>
            </a:r>
            <a:r>
              <a:rPr lang="en-IN" sz="1200" dirty="0"/>
              <a:t>. </a:t>
            </a:r>
          </a:p>
          <a:p>
            <a:pPr lvl="0"/>
            <a:r>
              <a:rPr lang="en-IN" sz="1200" dirty="0"/>
              <a:t>Select the required </a:t>
            </a:r>
            <a:r>
              <a:rPr lang="en-IN" sz="1200" b="1" dirty="0"/>
              <a:t>Region</a:t>
            </a:r>
            <a:r>
              <a:rPr lang="en-IN" sz="1200" dirty="0"/>
              <a:t>. </a:t>
            </a:r>
          </a:p>
          <a:p>
            <a:pPr lvl="0"/>
            <a:r>
              <a:rPr lang="en-IN" sz="1200" dirty="0"/>
              <a:t>Choose: </a:t>
            </a:r>
          </a:p>
          <a:p>
            <a:pPr lvl="1"/>
            <a:r>
              <a:rPr lang="en-IN" sz="1200" dirty="0"/>
              <a:t>Performance: Standard </a:t>
            </a:r>
          </a:p>
          <a:p>
            <a:pPr lvl="1"/>
            <a:r>
              <a:rPr lang="en-IN" sz="1200" dirty="0"/>
              <a:t>Redundancy: LRS </a:t>
            </a:r>
          </a:p>
          <a:p>
            <a:pPr lvl="0"/>
            <a:r>
              <a:rPr lang="en-IN" sz="1200" dirty="0"/>
              <a:t>Review the </a:t>
            </a:r>
            <a:r>
              <a:rPr lang="en-IN" sz="1200" b="1" dirty="0"/>
              <a:t>Advanced</a:t>
            </a:r>
            <a:r>
              <a:rPr lang="en-IN" sz="1200" dirty="0"/>
              <a:t>, </a:t>
            </a:r>
            <a:r>
              <a:rPr lang="en-IN" sz="1200" b="1" dirty="0"/>
              <a:t>Networking</a:t>
            </a:r>
            <a:r>
              <a:rPr lang="en-IN" sz="1200" dirty="0"/>
              <a:t>, and </a:t>
            </a:r>
            <a:r>
              <a:rPr lang="en-IN" sz="1200" b="1" dirty="0"/>
              <a:t>Data protection</a:t>
            </a:r>
            <a:r>
              <a:rPr lang="en-IN" sz="1200" dirty="0"/>
              <a:t> settings. </a:t>
            </a:r>
          </a:p>
          <a:p>
            <a:pPr lvl="0"/>
            <a:r>
              <a:rPr lang="en-IN" sz="1200" dirty="0"/>
              <a:t>Configure secure transfer if required. </a:t>
            </a:r>
          </a:p>
          <a:p>
            <a:pPr lvl="0"/>
            <a:r>
              <a:rPr lang="en-IN" sz="1200" dirty="0"/>
              <a:t>Select </a:t>
            </a:r>
            <a:r>
              <a:rPr lang="en-IN" sz="1200" b="1" dirty="0"/>
              <a:t>Review + create</a:t>
            </a:r>
            <a:r>
              <a:rPr lang="en-IN" sz="1200" dirty="0"/>
              <a:t>. </a:t>
            </a:r>
          </a:p>
          <a:p>
            <a:pPr lvl="0"/>
            <a:r>
              <a:rPr lang="en-IN" sz="1200" dirty="0"/>
              <a:t>Select </a:t>
            </a:r>
            <a:r>
              <a:rPr lang="en-IN" sz="1200" b="1" dirty="0"/>
              <a:t>Create</a:t>
            </a:r>
            <a:r>
              <a:rPr lang="en-IN" sz="1200" dirty="0"/>
              <a:t>. </a:t>
            </a:r>
          </a:p>
          <a:p>
            <a:pPr lvl="0"/>
            <a:r>
              <a:rPr lang="en-IN" sz="1200" dirty="0"/>
              <a:t>Open the deployed storage account. </a:t>
            </a:r>
          </a:p>
          <a:p>
            <a:pPr lvl="0"/>
            <a:r>
              <a:rPr lang="en-IN" sz="1200" dirty="0"/>
              <a:t>Explore: </a:t>
            </a:r>
          </a:p>
          <a:p>
            <a:pPr lvl="0"/>
            <a:r>
              <a:rPr lang="en-IN" sz="1200" dirty="0"/>
              <a:t>Containers </a:t>
            </a:r>
          </a:p>
          <a:p>
            <a:pPr lvl="0"/>
            <a:r>
              <a:rPr lang="en-IN" sz="1200" dirty="0"/>
              <a:t>File shares </a:t>
            </a:r>
          </a:p>
          <a:p>
            <a:pPr lvl="0"/>
            <a:r>
              <a:rPr lang="en-IN" sz="1200" dirty="0"/>
              <a:t>Access keys </a:t>
            </a:r>
          </a:p>
          <a:p>
            <a:pPr lvl="0"/>
            <a:r>
              <a:rPr lang="en-IN" sz="1200" dirty="0"/>
              <a:t>Networking </a:t>
            </a:r>
          </a:p>
          <a:p>
            <a:pPr lvl="0"/>
            <a:r>
              <a:rPr lang="en-IN" sz="1200" dirty="0"/>
              <a:t>Data protection </a:t>
            </a:r>
          </a:p>
          <a:p>
            <a:pPr lvl="0"/>
            <a:r>
              <a:rPr lang="en-IN" sz="1200" dirty="0"/>
              <a:t>Configuration</a:t>
            </a:r>
          </a:p>
          <a:p>
            <a:pPr marL="0" indent="0" algn="just">
              <a:buNone/>
            </a:pPr>
            <a:endParaRPr lang="en-IN" sz="1200"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6E88093E-3665-9566-8DD8-B78233DC0176}"/>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3998451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84AF7-E103-5D54-CAE4-E77C71B0F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A3B79B-7F5F-9017-C9C7-63311B3444C3}"/>
              </a:ext>
            </a:extLst>
          </p:cNvPr>
          <p:cNvSpPr>
            <a:spLocks noGrp="1"/>
          </p:cNvSpPr>
          <p:nvPr>
            <p:ph type="title"/>
          </p:nvPr>
        </p:nvSpPr>
        <p:spPr>
          <a:xfrm>
            <a:off x="925158" y="839096"/>
            <a:ext cx="10428642" cy="851592"/>
          </a:xfrm>
        </p:spPr>
        <p:txBody>
          <a:bodyPr>
            <a:normAutofit fontScale="90000"/>
          </a:bodyPr>
          <a:lstStyle/>
          <a:p>
            <a:r>
              <a:rPr lang="en-US" sz="4000" b="1" dirty="0">
                <a:latin typeface="Times New Roman" panose="02020603050405020304" pitchFamily="18" charset="0"/>
                <a:cs typeface="Times New Roman" panose="02020603050405020304" pitchFamily="18" charset="0"/>
              </a:rPr>
              <a:t>Manage Blob Storage</a:t>
            </a:r>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C6E0B2-D67E-8C00-7E2E-68C2C97CAF30}"/>
              </a:ext>
            </a:extLst>
          </p:cNvPr>
          <p:cNvSpPr>
            <a:spLocks noGrp="1"/>
          </p:cNvSpPr>
          <p:nvPr>
            <p:ph idx="1"/>
          </p:nvPr>
        </p:nvSpPr>
        <p:spPr>
          <a:xfrm>
            <a:off x="656216" y="1323192"/>
            <a:ext cx="10697584" cy="4853772"/>
          </a:xfrm>
        </p:spPr>
        <p:txBody>
          <a:bodyPr>
            <a:normAutofit/>
          </a:bodyPr>
          <a:lstStyle/>
          <a:p>
            <a:pPr marL="0" indent="0" algn="just">
              <a:buNone/>
            </a:pPr>
            <a:r>
              <a:rPr lang="en-IN" b="1" dirty="0"/>
              <a:t>Azure Blob Storage</a:t>
            </a:r>
            <a:r>
              <a:rPr lang="en-IN" dirty="0"/>
              <a:t> is an object-storage service designed for storing large amounts of unstructured data such as documents, images, videos, backups, and log files. Data is organized into </a:t>
            </a:r>
            <a:r>
              <a:rPr lang="en-IN" b="1" dirty="0"/>
              <a:t>storage accounts → containers → blobs</a:t>
            </a:r>
            <a:r>
              <a:rPr lang="en-IN" dirty="0"/>
              <a:t>.</a:t>
            </a:r>
            <a:endParaRPr lang="en-IN"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208314F1-B19E-5F14-38F5-4617AB424281}"/>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1831202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00825-91E6-1ED7-9FCA-2D1764F01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762C2-537D-4CFE-F7E3-1EEAD5D8D609}"/>
              </a:ext>
            </a:extLst>
          </p:cNvPr>
          <p:cNvSpPr>
            <a:spLocks noGrp="1"/>
          </p:cNvSpPr>
          <p:nvPr>
            <p:ph type="title"/>
          </p:nvPr>
        </p:nvSpPr>
        <p:spPr>
          <a:xfrm>
            <a:off x="925158" y="839096"/>
            <a:ext cx="10428642" cy="851592"/>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2391A7-73FF-5503-84E4-F6E77940DB9C}"/>
              </a:ext>
            </a:extLst>
          </p:cNvPr>
          <p:cNvSpPr>
            <a:spLocks noGrp="1"/>
          </p:cNvSpPr>
          <p:nvPr>
            <p:ph idx="1"/>
          </p:nvPr>
        </p:nvSpPr>
        <p:spPr>
          <a:xfrm>
            <a:off x="461682" y="681036"/>
            <a:ext cx="10805160" cy="5337868"/>
          </a:xfrm>
        </p:spPr>
        <p:txBody>
          <a:bodyPr>
            <a:noAutofit/>
          </a:bodyPr>
          <a:lstStyle/>
          <a:p>
            <a:r>
              <a:rPr lang="en-IN" sz="1200" b="1" dirty="0"/>
              <a:t>Steps:</a:t>
            </a:r>
            <a:endParaRPr lang="en-IN" sz="1200" dirty="0"/>
          </a:p>
          <a:p>
            <a:pPr lvl="0"/>
            <a:r>
              <a:rPr lang="en-IN" sz="1200" dirty="0"/>
              <a:t>Open the previously created </a:t>
            </a:r>
            <a:r>
              <a:rPr lang="en-IN" sz="1200" b="1" dirty="0"/>
              <a:t>Storage Account</a:t>
            </a:r>
            <a:r>
              <a:rPr lang="en-IN" sz="1200" dirty="0"/>
              <a:t>. </a:t>
            </a:r>
          </a:p>
          <a:p>
            <a:pPr lvl="0"/>
            <a:r>
              <a:rPr lang="en-IN" sz="1200" dirty="0"/>
              <a:t>Select </a:t>
            </a:r>
            <a:r>
              <a:rPr lang="en-IN" sz="1200" b="1" dirty="0"/>
              <a:t>Data storage → Containers</a:t>
            </a:r>
            <a:r>
              <a:rPr lang="en-IN" sz="1200" dirty="0"/>
              <a:t>. </a:t>
            </a:r>
          </a:p>
          <a:p>
            <a:pPr lvl="0"/>
            <a:r>
              <a:rPr lang="en-IN" sz="1200" dirty="0"/>
              <a:t>Select </a:t>
            </a:r>
            <a:r>
              <a:rPr lang="en-IN" sz="1200" b="1" dirty="0"/>
              <a:t>+ Container</a:t>
            </a:r>
            <a:r>
              <a:rPr lang="en-IN" sz="1200" dirty="0"/>
              <a:t>. </a:t>
            </a:r>
          </a:p>
          <a:p>
            <a:pPr lvl="0"/>
            <a:r>
              <a:rPr lang="en-IN" sz="1200" dirty="0"/>
              <a:t>Enter a container name, such as </a:t>
            </a:r>
            <a:r>
              <a:rPr lang="en-IN" sz="1200" dirty="0" err="1"/>
              <a:t>labcontainer</a:t>
            </a:r>
            <a:r>
              <a:rPr lang="en-IN" sz="1200" dirty="0"/>
              <a:t>. </a:t>
            </a:r>
          </a:p>
          <a:p>
            <a:pPr lvl="0"/>
            <a:r>
              <a:rPr lang="en-IN" sz="1200" dirty="0"/>
              <a:t>Choose the required </a:t>
            </a:r>
            <a:r>
              <a:rPr lang="en-IN" sz="1200" b="1" dirty="0"/>
              <a:t>Anonymous access level</a:t>
            </a:r>
            <a:r>
              <a:rPr lang="en-IN" sz="1200" dirty="0"/>
              <a:t>. </a:t>
            </a:r>
          </a:p>
          <a:p>
            <a:pPr lvl="0"/>
            <a:r>
              <a:rPr lang="en-IN" sz="1200" dirty="0"/>
              <a:t>Select </a:t>
            </a:r>
            <a:r>
              <a:rPr lang="en-IN" sz="1200" b="1" dirty="0"/>
              <a:t>Create</a:t>
            </a:r>
            <a:r>
              <a:rPr lang="en-IN" sz="1200" dirty="0"/>
              <a:t>. </a:t>
            </a:r>
          </a:p>
          <a:p>
            <a:pPr lvl="0"/>
            <a:r>
              <a:rPr lang="en-IN" sz="1200" dirty="0"/>
              <a:t>Open the newly created container. </a:t>
            </a:r>
          </a:p>
          <a:p>
            <a:pPr lvl="0"/>
            <a:r>
              <a:rPr lang="en-IN" sz="1200" dirty="0"/>
              <a:t>Select </a:t>
            </a:r>
            <a:r>
              <a:rPr lang="en-IN" sz="1200" b="1" dirty="0"/>
              <a:t>Upload</a:t>
            </a:r>
            <a:r>
              <a:rPr lang="en-IN" sz="1200" dirty="0"/>
              <a:t>. </a:t>
            </a:r>
          </a:p>
          <a:p>
            <a:pPr lvl="0"/>
            <a:r>
              <a:rPr lang="en-IN" sz="1200" dirty="0"/>
              <a:t>Select a sample file from the local computer. </a:t>
            </a:r>
          </a:p>
          <a:p>
            <a:pPr lvl="0"/>
            <a:r>
              <a:rPr lang="en-IN" sz="1200" dirty="0"/>
              <a:t>Upload the file. </a:t>
            </a:r>
          </a:p>
          <a:p>
            <a:pPr lvl="0"/>
            <a:r>
              <a:rPr lang="en-IN" sz="1200" dirty="0"/>
              <a:t>Verify the uploaded blob. </a:t>
            </a:r>
          </a:p>
          <a:p>
            <a:pPr lvl="0"/>
            <a:r>
              <a:rPr lang="en-IN" sz="1200" dirty="0"/>
              <a:t>Select the blob and examine its: </a:t>
            </a:r>
          </a:p>
          <a:p>
            <a:pPr lvl="1"/>
            <a:r>
              <a:rPr lang="en-IN" sz="1200" dirty="0"/>
              <a:t>Properties </a:t>
            </a:r>
          </a:p>
          <a:p>
            <a:pPr lvl="1"/>
            <a:r>
              <a:rPr lang="en-IN" sz="1200" dirty="0"/>
              <a:t>URL </a:t>
            </a:r>
          </a:p>
          <a:p>
            <a:pPr lvl="1"/>
            <a:r>
              <a:rPr lang="en-IN" sz="1200" dirty="0"/>
              <a:t>Size </a:t>
            </a:r>
          </a:p>
          <a:p>
            <a:pPr lvl="1"/>
            <a:r>
              <a:rPr lang="en-IN" sz="1200" dirty="0"/>
              <a:t>Last modified date </a:t>
            </a:r>
          </a:p>
          <a:p>
            <a:pPr lvl="0"/>
            <a:r>
              <a:rPr lang="en-IN" sz="1200" dirty="0"/>
              <a:t>Download the blob. </a:t>
            </a:r>
          </a:p>
          <a:p>
            <a:pPr lvl="0"/>
            <a:r>
              <a:rPr lang="en-IN" sz="1200" dirty="0"/>
              <a:t>Rename or delete the blob. </a:t>
            </a:r>
          </a:p>
          <a:p>
            <a:pPr lvl="0"/>
            <a:r>
              <a:rPr lang="en-IN" sz="1200" dirty="0"/>
              <a:t>Create another blob and organize files using virtual directories if required. </a:t>
            </a:r>
          </a:p>
          <a:p>
            <a:pPr lvl="0"/>
            <a:r>
              <a:rPr lang="en-IN" sz="1200" dirty="0"/>
              <a:t>Explore blob </a:t>
            </a:r>
            <a:r>
              <a:rPr lang="en-IN" sz="1200" b="1" dirty="0"/>
              <a:t>access tiers</a:t>
            </a:r>
            <a:r>
              <a:rPr lang="en-IN" sz="1200" dirty="0"/>
              <a:t>, such as Hot, Cool, and Archive.</a:t>
            </a:r>
          </a:p>
          <a:p>
            <a:pPr marL="0" indent="0" algn="just">
              <a:buNone/>
            </a:pPr>
            <a:endParaRPr lang="en-IN" sz="1200"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3F87D466-17A7-749B-CAAB-1D9B610130EF}"/>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2681889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E9390-0E01-4D9C-7C19-9D156AAD1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AD12C-701A-04EB-0EE8-635AB4363697}"/>
              </a:ext>
            </a:extLst>
          </p:cNvPr>
          <p:cNvSpPr>
            <a:spLocks noGrp="1"/>
          </p:cNvSpPr>
          <p:nvPr>
            <p:ph type="title"/>
          </p:nvPr>
        </p:nvSpPr>
        <p:spPr>
          <a:xfrm>
            <a:off x="656216" y="828339"/>
            <a:ext cx="10697584" cy="862349"/>
          </a:xfrm>
        </p:spPr>
        <p:txBody>
          <a:bodyPr>
            <a:normAutofit fontScale="90000"/>
          </a:bodyPr>
          <a:lstStyle/>
          <a:p>
            <a:r>
              <a:rPr lang="en-IN" sz="4000" b="1" dirty="0">
                <a:latin typeface="Times New Roman" panose="02020603050405020304" pitchFamily="18" charset="0"/>
                <a:cs typeface="Times New Roman" panose="02020603050405020304" pitchFamily="18" charset="0"/>
              </a:rPr>
              <a:t>Manage Authentication and Authorization for Azure Storage</a:t>
            </a:r>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AC7A78-4C1B-0F90-1224-2CCDA7BF80FA}"/>
              </a:ext>
            </a:extLst>
          </p:cNvPr>
          <p:cNvSpPr>
            <a:spLocks noGrp="1"/>
          </p:cNvSpPr>
          <p:nvPr>
            <p:ph idx="1"/>
          </p:nvPr>
        </p:nvSpPr>
        <p:spPr>
          <a:xfrm>
            <a:off x="656216" y="1602891"/>
            <a:ext cx="10697584" cy="4853772"/>
          </a:xfrm>
        </p:spPr>
        <p:txBody>
          <a:bodyPr>
            <a:normAutofit/>
          </a:bodyPr>
          <a:lstStyle/>
          <a:p>
            <a:pPr marL="0" indent="0" algn="just">
              <a:buNone/>
            </a:pPr>
            <a:r>
              <a:rPr lang="en-IN" dirty="0"/>
              <a:t>Authentication verifies the identity of a user or application, while authorization determines what that authenticated identity is allowed to do. Azure Storage supports several access mechanisms, including Microsoft Entra ID, Azure RBAC, Shared Access Signatures (SAS), and storage account keys.</a:t>
            </a:r>
            <a:endParaRPr lang="en-IN"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C2F377D8-440B-7813-5637-00641D6D046D}"/>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1997822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26923-53B1-9F77-D5E0-49A0EAD4B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B2BC3-C7D8-73F4-2B6A-85FD5CB9D856}"/>
              </a:ext>
            </a:extLst>
          </p:cNvPr>
          <p:cNvSpPr>
            <a:spLocks noGrp="1"/>
          </p:cNvSpPr>
          <p:nvPr>
            <p:ph type="title"/>
          </p:nvPr>
        </p:nvSpPr>
        <p:spPr>
          <a:xfrm>
            <a:off x="925158" y="839096"/>
            <a:ext cx="10428642" cy="851592"/>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41A161-AA10-648B-46E0-E454B9224415}"/>
              </a:ext>
            </a:extLst>
          </p:cNvPr>
          <p:cNvSpPr>
            <a:spLocks noGrp="1"/>
          </p:cNvSpPr>
          <p:nvPr>
            <p:ph idx="1"/>
          </p:nvPr>
        </p:nvSpPr>
        <p:spPr>
          <a:xfrm>
            <a:off x="461682" y="681035"/>
            <a:ext cx="10805160" cy="5687491"/>
          </a:xfrm>
        </p:spPr>
        <p:txBody>
          <a:bodyPr>
            <a:noAutofit/>
          </a:bodyPr>
          <a:lstStyle/>
          <a:p>
            <a:pPr lvl="0"/>
            <a:r>
              <a:rPr lang="en-IN" sz="1200" dirty="0">
                <a:latin typeface="Times New Roman" panose="02020603050405020304" pitchFamily="18" charset="0"/>
                <a:cs typeface="Times New Roman" panose="02020603050405020304" pitchFamily="18" charset="0"/>
              </a:rPr>
              <a:t>Open the Azure Storage Account. </a:t>
            </a:r>
          </a:p>
          <a:p>
            <a:pPr lvl="0"/>
            <a:r>
              <a:rPr lang="en-IN" sz="1200" dirty="0">
                <a:latin typeface="Times New Roman" panose="02020603050405020304" pitchFamily="18" charset="0"/>
                <a:cs typeface="Times New Roman" panose="02020603050405020304" pitchFamily="18" charset="0"/>
              </a:rPr>
              <a:t>Select </a:t>
            </a:r>
            <a:r>
              <a:rPr lang="en-IN" sz="1200" b="1" dirty="0">
                <a:latin typeface="Times New Roman" panose="02020603050405020304" pitchFamily="18" charset="0"/>
                <a:cs typeface="Times New Roman" panose="02020603050405020304" pitchFamily="18" charset="0"/>
              </a:rPr>
              <a:t>Access Control (IAM)</a:t>
            </a:r>
            <a:r>
              <a:rPr lang="en-IN" sz="1200" dirty="0">
                <a:latin typeface="Times New Roman" panose="02020603050405020304" pitchFamily="18" charset="0"/>
                <a:cs typeface="Times New Roman" panose="02020603050405020304" pitchFamily="18" charset="0"/>
              </a:rPr>
              <a:t>. </a:t>
            </a:r>
          </a:p>
          <a:p>
            <a:pPr lvl="0"/>
            <a:r>
              <a:rPr lang="en-IN" sz="1200" dirty="0">
                <a:latin typeface="Times New Roman" panose="02020603050405020304" pitchFamily="18" charset="0"/>
                <a:cs typeface="Times New Roman" panose="02020603050405020304" pitchFamily="18" charset="0"/>
              </a:rPr>
              <a:t>Select </a:t>
            </a:r>
            <a:r>
              <a:rPr lang="en-IN" sz="1200" b="1" dirty="0">
                <a:latin typeface="Times New Roman" panose="02020603050405020304" pitchFamily="18" charset="0"/>
                <a:cs typeface="Times New Roman" panose="02020603050405020304" pitchFamily="18" charset="0"/>
              </a:rPr>
              <a:t>Add → Add role assignment</a:t>
            </a:r>
            <a:r>
              <a:rPr lang="en-IN" sz="1200" dirty="0">
                <a:latin typeface="Times New Roman" panose="02020603050405020304" pitchFamily="18" charset="0"/>
                <a:cs typeface="Times New Roman" panose="02020603050405020304" pitchFamily="18" charset="0"/>
              </a:rPr>
              <a:t>. </a:t>
            </a:r>
          </a:p>
          <a:p>
            <a:pPr lvl="0"/>
            <a:r>
              <a:rPr lang="en-IN" sz="1200" dirty="0">
                <a:latin typeface="Times New Roman" panose="02020603050405020304" pitchFamily="18" charset="0"/>
                <a:cs typeface="Times New Roman" panose="02020603050405020304" pitchFamily="18" charset="0"/>
              </a:rPr>
              <a:t>Select an appropriate storage role, such as: </a:t>
            </a:r>
          </a:p>
          <a:p>
            <a:pPr lvl="1"/>
            <a:r>
              <a:rPr lang="en-IN" sz="1200" dirty="0">
                <a:latin typeface="Times New Roman" panose="02020603050405020304" pitchFamily="18" charset="0"/>
                <a:cs typeface="Times New Roman" panose="02020603050405020304" pitchFamily="18" charset="0"/>
              </a:rPr>
              <a:t>Storage Blob Data Reader </a:t>
            </a:r>
          </a:p>
          <a:p>
            <a:pPr lvl="1"/>
            <a:r>
              <a:rPr lang="en-IN" sz="1200" dirty="0">
                <a:latin typeface="Times New Roman" panose="02020603050405020304" pitchFamily="18" charset="0"/>
                <a:cs typeface="Times New Roman" panose="02020603050405020304" pitchFamily="18" charset="0"/>
              </a:rPr>
              <a:t>Storage Blob Data Contributor </a:t>
            </a:r>
          </a:p>
          <a:p>
            <a:pPr lvl="1"/>
            <a:r>
              <a:rPr lang="en-IN" sz="1200" dirty="0">
                <a:latin typeface="Times New Roman" panose="02020603050405020304" pitchFamily="18" charset="0"/>
                <a:cs typeface="Times New Roman" panose="02020603050405020304" pitchFamily="18" charset="0"/>
              </a:rPr>
              <a:t>Storage Blob Data Owner </a:t>
            </a:r>
          </a:p>
          <a:p>
            <a:pPr lvl="0"/>
            <a:r>
              <a:rPr lang="en-IN" sz="1200" dirty="0">
                <a:latin typeface="Times New Roman" panose="02020603050405020304" pitchFamily="18" charset="0"/>
                <a:cs typeface="Times New Roman" panose="02020603050405020304" pitchFamily="18" charset="0"/>
              </a:rPr>
              <a:t>Select the appropriate user, group, or managed identity. </a:t>
            </a:r>
          </a:p>
          <a:p>
            <a:pPr lvl="0"/>
            <a:r>
              <a:rPr lang="en-IN" sz="1200" dirty="0">
                <a:latin typeface="Times New Roman" panose="02020603050405020304" pitchFamily="18" charset="0"/>
                <a:cs typeface="Times New Roman" panose="02020603050405020304" pitchFamily="18" charset="0"/>
              </a:rPr>
              <a:t>Review and assign the role. </a:t>
            </a:r>
          </a:p>
          <a:p>
            <a:pPr lvl="0"/>
            <a:r>
              <a:rPr lang="en-IN" sz="1200" dirty="0">
                <a:latin typeface="Times New Roman" panose="02020603050405020304" pitchFamily="18" charset="0"/>
                <a:cs typeface="Times New Roman" panose="02020603050405020304" pitchFamily="18" charset="0"/>
              </a:rPr>
              <a:t>Verify the role assignment under </a:t>
            </a:r>
            <a:r>
              <a:rPr lang="en-IN" sz="1200" b="1" dirty="0">
                <a:latin typeface="Times New Roman" panose="02020603050405020304" pitchFamily="18" charset="0"/>
                <a:cs typeface="Times New Roman" panose="02020603050405020304" pitchFamily="18" charset="0"/>
              </a:rPr>
              <a:t>Role assignments</a:t>
            </a:r>
            <a:r>
              <a:rPr lang="en-IN" sz="1200" dirty="0">
                <a:latin typeface="Times New Roman" panose="02020603050405020304" pitchFamily="18" charset="0"/>
                <a:cs typeface="Times New Roman" panose="02020603050405020304" pitchFamily="18" charset="0"/>
              </a:rPr>
              <a:t>. </a:t>
            </a:r>
          </a:p>
          <a:p>
            <a:pPr lvl="0"/>
            <a:r>
              <a:rPr lang="en-IN" sz="1200" dirty="0">
                <a:latin typeface="Times New Roman" panose="02020603050405020304" pitchFamily="18" charset="0"/>
                <a:cs typeface="Times New Roman" panose="02020603050405020304" pitchFamily="18" charset="0"/>
              </a:rPr>
              <a:t>Open the storage account and select </a:t>
            </a:r>
            <a:r>
              <a:rPr lang="en-IN" sz="1200" b="1" dirty="0">
                <a:latin typeface="Times New Roman" panose="02020603050405020304" pitchFamily="18" charset="0"/>
                <a:cs typeface="Times New Roman" panose="02020603050405020304" pitchFamily="18" charset="0"/>
              </a:rPr>
              <a:t>Shared access signature</a:t>
            </a:r>
            <a:r>
              <a:rPr lang="en-IN" sz="1200" dirty="0">
                <a:latin typeface="Times New Roman" panose="02020603050405020304" pitchFamily="18" charset="0"/>
                <a:cs typeface="Times New Roman" panose="02020603050405020304" pitchFamily="18" charset="0"/>
              </a:rPr>
              <a:t>. </a:t>
            </a:r>
          </a:p>
          <a:p>
            <a:pPr lvl="0"/>
            <a:r>
              <a:rPr lang="en-IN" sz="1200" dirty="0">
                <a:latin typeface="Times New Roman" panose="02020603050405020304" pitchFamily="18" charset="0"/>
                <a:cs typeface="Times New Roman" panose="02020603050405020304" pitchFamily="18" charset="0"/>
              </a:rPr>
              <a:t>Configure: </a:t>
            </a:r>
          </a:p>
          <a:p>
            <a:pPr lvl="1"/>
            <a:r>
              <a:rPr lang="en-IN" sz="1200" dirty="0">
                <a:latin typeface="Times New Roman" panose="02020603050405020304" pitchFamily="18" charset="0"/>
                <a:cs typeface="Times New Roman" panose="02020603050405020304" pitchFamily="18" charset="0"/>
              </a:rPr>
              <a:t>Allowed services </a:t>
            </a:r>
          </a:p>
          <a:p>
            <a:pPr lvl="1"/>
            <a:r>
              <a:rPr lang="en-IN" sz="1200" dirty="0">
                <a:latin typeface="Times New Roman" panose="02020603050405020304" pitchFamily="18" charset="0"/>
                <a:cs typeface="Times New Roman" panose="02020603050405020304" pitchFamily="18" charset="0"/>
              </a:rPr>
              <a:t>Allowed resource types </a:t>
            </a:r>
          </a:p>
          <a:p>
            <a:pPr lvl="1"/>
            <a:r>
              <a:rPr lang="en-IN" sz="1200" dirty="0">
                <a:latin typeface="Times New Roman" panose="02020603050405020304" pitchFamily="18" charset="0"/>
                <a:cs typeface="Times New Roman" panose="02020603050405020304" pitchFamily="18" charset="0"/>
              </a:rPr>
              <a:t>Permissions </a:t>
            </a:r>
          </a:p>
          <a:p>
            <a:pPr lvl="1"/>
            <a:r>
              <a:rPr lang="en-IN" sz="1200" dirty="0">
                <a:latin typeface="Times New Roman" panose="02020603050405020304" pitchFamily="18" charset="0"/>
                <a:cs typeface="Times New Roman" panose="02020603050405020304" pitchFamily="18" charset="0"/>
              </a:rPr>
              <a:t>Start and expiry time </a:t>
            </a:r>
          </a:p>
          <a:p>
            <a:pPr lvl="0"/>
            <a:r>
              <a:rPr lang="en-IN" sz="1200" dirty="0">
                <a:latin typeface="Times New Roman" panose="02020603050405020304" pitchFamily="18" charset="0"/>
                <a:cs typeface="Times New Roman" panose="02020603050405020304" pitchFamily="18" charset="0"/>
              </a:rPr>
              <a:t>Generate the SAS. </a:t>
            </a:r>
          </a:p>
          <a:p>
            <a:pPr lvl="0"/>
            <a:r>
              <a:rPr lang="en-IN" sz="1200" dirty="0">
                <a:latin typeface="Times New Roman" panose="02020603050405020304" pitchFamily="18" charset="0"/>
                <a:cs typeface="Times New Roman" panose="02020603050405020304" pitchFamily="18" charset="0"/>
              </a:rPr>
              <a:t>Test access using the generated SAS where appropriate. </a:t>
            </a:r>
          </a:p>
          <a:p>
            <a:pPr lvl="0"/>
            <a:r>
              <a:rPr lang="en-IN" sz="1200" dirty="0">
                <a:latin typeface="Times New Roman" panose="02020603050405020304" pitchFamily="18" charset="0"/>
                <a:cs typeface="Times New Roman" panose="02020603050405020304" pitchFamily="18" charset="0"/>
              </a:rPr>
              <a:t>Examine </a:t>
            </a:r>
            <a:r>
              <a:rPr lang="en-IN" sz="1200" b="1" dirty="0">
                <a:latin typeface="Times New Roman" panose="02020603050405020304" pitchFamily="18" charset="0"/>
                <a:cs typeface="Times New Roman" panose="02020603050405020304" pitchFamily="18" charset="0"/>
              </a:rPr>
              <a:t>Access keys</a:t>
            </a:r>
            <a:r>
              <a:rPr lang="en-IN" sz="1200" dirty="0">
                <a:latin typeface="Times New Roman" panose="02020603050405020304" pitchFamily="18" charset="0"/>
                <a:cs typeface="Times New Roman" panose="02020603050405020304" pitchFamily="18" charset="0"/>
              </a:rPr>
              <a:t> and understand their role in storage authentication. </a:t>
            </a:r>
          </a:p>
          <a:p>
            <a:pPr lvl="0"/>
            <a:r>
              <a:rPr lang="en-IN" sz="1200" dirty="0">
                <a:latin typeface="Times New Roman" panose="02020603050405020304" pitchFamily="18" charset="0"/>
                <a:cs typeface="Times New Roman" panose="02020603050405020304" pitchFamily="18" charset="0"/>
              </a:rPr>
              <a:t>Review </a:t>
            </a:r>
            <a:r>
              <a:rPr lang="en-IN" sz="1200" b="1" dirty="0">
                <a:latin typeface="Times New Roman" panose="02020603050405020304" pitchFamily="18" charset="0"/>
                <a:cs typeface="Times New Roman" panose="02020603050405020304" pitchFamily="18" charset="0"/>
              </a:rPr>
              <a:t>Networking</a:t>
            </a:r>
            <a:r>
              <a:rPr lang="en-IN" sz="1200" dirty="0">
                <a:latin typeface="Times New Roman" panose="02020603050405020304" pitchFamily="18" charset="0"/>
                <a:cs typeface="Times New Roman" panose="02020603050405020304" pitchFamily="18" charset="0"/>
              </a:rPr>
              <a:t> settings and restrict access to selected networks if required.</a:t>
            </a:r>
          </a:p>
          <a:p>
            <a:r>
              <a:rPr lang="en-IN" sz="1200" dirty="0"/>
              <a:t>.</a:t>
            </a:r>
          </a:p>
          <a:p>
            <a:pPr marL="0" indent="0" algn="just">
              <a:buNone/>
            </a:pPr>
            <a:endParaRPr lang="en-IN" sz="1200"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942543F3-894E-A882-6844-1A359F09F0BF}"/>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114130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78C36-4C10-99B3-3E43-2D77BD780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A54C7-8218-8553-93A7-A2A56477CFCC}"/>
              </a:ext>
            </a:extLst>
          </p:cNvPr>
          <p:cNvSpPr>
            <a:spLocks noGrp="1"/>
          </p:cNvSpPr>
          <p:nvPr>
            <p:ph type="title"/>
          </p:nvPr>
        </p:nvSpPr>
        <p:spPr>
          <a:xfrm>
            <a:off x="656216" y="828339"/>
            <a:ext cx="10697584" cy="862349"/>
          </a:xfrm>
        </p:spPr>
        <p:txBody>
          <a:bodyPr>
            <a:normAutofit fontScale="90000"/>
          </a:bodyPr>
          <a:lstStyle/>
          <a:p>
            <a:r>
              <a:rPr lang="en-US" sz="4000" b="1" dirty="0">
                <a:latin typeface="Times New Roman" panose="02020603050405020304" pitchFamily="18" charset="0"/>
                <a:cs typeface="Times New Roman" panose="02020603050405020304" pitchFamily="18" charset="0"/>
              </a:rPr>
              <a:t>Create and Configure an Azure Files Share</a:t>
            </a:r>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EF5D87-290F-8E3E-9A89-3937EFB4AD81}"/>
              </a:ext>
            </a:extLst>
          </p:cNvPr>
          <p:cNvSpPr>
            <a:spLocks noGrp="1"/>
          </p:cNvSpPr>
          <p:nvPr>
            <p:ph idx="1"/>
          </p:nvPr>
        </p:nvSpPr>
        <p:spPr>
          <a:xfrm>
            <a:off x="656216" y="1602891"/>
            <a:ext cx="10697584" cy="4853772"/>
          </a:xfrm>
        </p:spPr>
        <p:txBody>
          <a:bodyPr>
            <a:normAutofit/>
          </a:bodyPr>
          <a:lstStyle/>
          <a:p>
            <a:pPr marL="0" indent="0" algn="just">
              <a:buNone/>
            </a:pPr>
            <a:r>
              <a:rPr lang="en-IN" b="1" dirty="0"/>
              <a:t>Azure Files</a:t>
            </a:r>
            <a:r>
              <a:rPr lang="en-IN" dirty="0"/>
              <a:t> provides fully managed cloud file shares that can be accessed using standard file-sharing protocols such as </a:t>
            </a:r>
            <a:r>
              <a:rPr lang="en-IN" b="1" dirty="0"/>
              <a:t>SMB</a:t>
            </a:r>
            <a:r>
              <a:rPr lang="en-IN" dirty="0"/>
              <a:t>. It is useful for applications that require a shared file system accessible by multiple machines. Azure Files can be mounted from Windows, Linux, and other supported environments.</a:t>
            </a:r>
            <a:endParaRPr lang="en-IN"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FB90DFBA-5FA5-CE1B-CE4F-394C0595F9C5}"/>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359796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98F6-A131-D243-4D55-F8FBBD637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D8426-A143-6578-7E7D-EC35BA223BA5}"/>
              </a:ext>
            </a:extLst>
          </p:cNvPr>
          <p:cNvSpPr>
            <a:spLocks noGrp="1"/>
          </p:cNvSpPr>
          <p:nvPr>
            <p:ph type="title"/>
          </p:nvPr>
        </p:nvSpPr>
        <p:spPr>
          <a:xfrm>
            <a:off x="925158" y="839096"/>
            <a:ext cx="10428642" cy="851592"/>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816508-9DBE-356F-9FB5-8B90CBA59845}"/>
              </a:ext>
            </a:extLst>
          </p:cNvPr>
          <p:cNvSpPr>
            <a:spLocks noGrp="1"/>
          </p:cNvSpPr>
          <p:nvPr>
            <p:ph idx="1"/>
          </p:nvPr>
        </p:nvSpPr>
        <p:spPr>
          <a:xfrm>
            <a:off x="461682" y="681035"/>
            <a:ext cx="10805160" cy="5687491"/>
          </a:xfrm>
        </p:spPr>
        <p:txBody>
          <a:bodyPr>
            <a:noAutofit/>
          </a:bodyPr>
          <a:lstStyle/>
          <a:p>
            <a:pPr lvl="0"/>
            <a:r>
              <a:rPr lang="en-IN" sz="1200" dirty="0"/>
              <a:t>Open the Azure </a:t>
            </a:r>
            <a:r>
              <a:rPr lang="en-IN" sz="1200" b="1" dirty="0"/>
              <a:t>Storage Account</a:t>
            </a:r>
            <a:r>
              <a:rPr lang="en-IN" sz="1200" dirty="0"/>
              <a:t>. </a:t>
            </a:r>
          </a:p>
          <a:p>
            <a:pPr lvl="0"/>
            <a:r>
              <a:rPr lang="en-IN" sz="1200" dirty="0"/>
              <a:t>Select </a:t>
            </a:r>
            <a:r>
              <a:rPr lang="en-IN" sz="1200" b="1" dirty="0"/>
              <a:t>Data storage → File shares</a:t>
            </a:r>
            <a:r>
              <a:rPr lang="en-IN" sz="1200" dirty="0"/>
              <a:t>. </a:t>
            </a:r>
          </a:p>
          <a:p>
            <a:pPr lvl="0"/>
            <a:r>
              <a:rPr lang="en-IN" sz="1200" dirty="0"/>
              <a:t>Select </a:t>
            </a:r>
            <a:r>
              <a:rPr lang="en-IN" sz="1200" b="1" dirty="0"/>
              <a:t>+ File share</a:t>
            </a:r>
            <a:r>
              <a:rPr lang="en-IN" sz="1200" dirty="0"/>
              <a:t>. </a:t>
            </a:r>
          </a:p>
          <a:p>
            <a:pPr lvl="0"/>
            <a:r>
              <a:rPr lang="en-IN" sz="1200" dirty="0"/>
              <a:t>Enter a file-share name, such as </a:t>
            </a:r>
            <a:r>
              <a:rPr lang="en-IN" sz="1200" dirty="0" err="1"/>
              <a:t>labshare</a:t>
            </a:r>
            <a:endParaRPr lang="en-IN" sz="1200" dirty="0"/>
          </a:p>
          <a:p>
            <a:pPr lvl="0"/>
            <a:r>
              <a:rPr lang="en-IN" sz="1200" dirty="0"/>
              <a:t>Specify the required </a:t>
            </a:r>
            <a:r>
              <a:rPr lang="en-IN" sz="1200" b="1" dirty="0"/>
              <a:t>Access tier</a:t>
            </a:r>
            <a:r>
              <a:rPr lang="en-IN" sz="1200" dirty="0"/>
              <a:t>, if available. </a:t>
            </a:r>
          </a:p>
          <a:p>
            <a:pPr lvl="0"/>
            <a:r>
              <a:rPr lang="en-IN" sz="1200" dirty="0"/>
              <a:t>Configure the required quota. </a:t>
            </a:r>
          </a:p>
          <a:p>
            <a:pPr lvl="0"/>
            <a:r>
              <a:rPr lang="en-IN" sz="1200" dirty="0"/>
              <a:t>Select </a:t>
            </a:r>
            <a:r>
              <a:rPr lang="en-IN" sz="1200" b="1" dirty="0"/>
              <a:t>Create</a:t>
            </a:r>
            <a:r>
              <a:rPr lang="en-IN" sz="1200" dirty="0"/>
              <a:t>. </a:t>
            </a:r>
          </a:p>
          <a:p>
            <a:pPr lvl="0"/>
            <a:r>
              <a:rPr lang="en-IN" sz="1200" dirty="0"/>
              <a:t>Open the newly created file share. </a:t>
            </a:r>
          </a:p>
          <a:p>
            <a:pPr lvl="0"/>
            <a:r>
              <a:rPr lang="en-IN" sz="1200" dirty="0"/>
              <a:t>Select </a:t>
            </a:r>
            <a:r>
              <a:rPr lang="en-IN" sz="1200" b="1" dirty="0"/>
              <a:t>Upload</a:t>
            </a:r>
            <a:r>
              <a:rPr lang="en-IN" sz="1200" dirty="0"/>
              <a:t>. </a:t>
            </a:r>
          </a:p>
          <a:p>
            <a:pPr lvl="0"/>
            <a:r>
              <a:rPr lang="en-IN" sz="1200" dirty="0"/>
              <a:t>Upload a sample document. </a:t>
            </a:r>
          </a:p>
          <a:p>
            <a:pPr lvl="0"/>
            <a:r>
              <a:rPr lang="en-IN" sz="1200" dirty="0"/>
              <a:t>Verify that the file is available. </a:t>
            </a:r>
          </a:p>
          <a:p>
            <a:pPr lvl="0"/>
            <a:r>
              <a:rPr lang="en-IN" sz="1200" dirty="0"/>
              <a:t>Select </a:t>
            </a:r>
            <a:r>
              <a:rPr lang="en-IN" sz="1200" b="1" dirty="0"/>
              <a:t>Connect</a:t>
            </a:r>
            <a:r>
              <a:rPr lang="en-IN" sz="1200" dirty="0"/>
              <a:t>. </a:t>
            </a:r>
          </a:p>
          <a:p>
            <a:pPr lvl="0"/>
            <a:r>
              <a:rPr lang="en-IN" sz="1200" dirty="0"/>
              <a:t>Choose the appropriate operating system, such as </a:t>
            </a:r>
            <a:r>
              <a:rPr lang="en-IN" sz="1200" b="1" dirty="0"/>
              <a:t>Windows</a:t>
            </a:r>
            <a:r>
              <a:rPr lang="en-IN" sz="1200" dirty="0"/>
              <a:t> or </a:t>
            </a:r>
            <a:r>
              <a:rPr lang="en-IN" sz="1200" b="1" dirty="0"/>
              <a:t>Linux</a:t>
            </a:r>
            <a:r>
              <a:rPr lang="en-IN" sz="1200" dirty="0"/>
              <a:t>. </a:t>
            </a:r>
          </a:p>
          <a:p>
            <a:pPr lvl="0"/>
            <a:r>
              <a:rPr lang="en-IN" sz="1200" dirty="0"/>
              <a:t>Copy the generated mounting/connection command. </a:t>
            </a:r>
          </a:p>
          <a:p>
            <a:pPr lvl="0"/>
            <a:r>
              <a:rPr lang="en-IN" sz="1200" dirty="0"/>
              <a:t>Execute the command on the client system. </a:t>
            </a:r>
          </a:p>
          <a:p>
            <a:pPr lvl="0"/>
            <a:r>
              <a:rPr lang="en-IN" sz="1200" dirty="0"/>
              <a:t>Verify that the Azure file share is accessible. </a:t>
            </a:r>
          </a:p>
          <a:p>
            <a:pPr lvl="0"/>
            <a:r>
              <a:rPr lang="en-IN" sz="1200" dirty="0"/>
              <a:t>Create a new folder and file in the share. </a:t>
            </a:r>
          </a:p>
          <a:p>
            <a:pPr lvl="0"/>
            <a:r>
              <a:rPr lang="en-IN" sz="1200" dirty="0"/>
              <a:t>Verify the changes from the Azure Portal.</a:t>
            </a:r>
          </a:p>
          <a:p>
            <a:pPr marL="0" indent="0" algn="just">
              <a:buNone/>
            </a:pPr>
            <a:endParaRPr lang="en-IN" sz="1200" dirty="0">
              <a:latin typeface="Times New Roman" panose="02020603050405020304" pitchFamily="18" charset="0"/>
              <a:ea typeface="+mj-ea"/>
              <a:cs typeface="Times New Roman" panose="02020603050405020304" pitchFamily="18" charset="0"/>
            </a:endParaRPr>
          </a:p>
        </p:txBody>
      </p:sp>
      <p:pic>
        <p:nvPicPr>
          <p:cNvPr id="5" name="Picture 4">
            <a:extLst>
              <a:ext uri="{FF2B5EF4-FFF2-40B4-BE49-F238E27FC236}">
                <a16:creationId xmlns:a16="http://schemas.microsoft.com/office/drawing/2014/main" id="{171BB492-5F06-3C1A-1334-FB3E16506E63}"/>
              </a:ext>
            </a:extLst>
          </p:cNvPr>
          <p:cNvPicPr>
            <a:picLocks noChangeAspect="1"/>
          </p:cNvPicPr>
          <p:nvPr/>
        </p:nvPicPr>
        <p:blipFill>
          <a:blip r:embed="rId2"/>
          <a:stretch>
            <a:fillRect/>
          </a:stretch>
        </p:blipFill>
        <p:spPr>
          <a:xfrm>
            <a:off x="0" y="55880"/>
            <a:ext cx="2054711" cy="563880"/>
          </a:xfrm>
          <a:prstGeom prst="rect">
            <a:avLst/>
          </a:prstGeom>
        </p:spPr>
      </p:pic>
    </p:spTree>
    <p:extLst>
      <p:ext uri="{BB962C8B-B14F-4D97-AF65-F5344CB8AC3E}">
        <p14:creationId xmlns:p14="http://schemas.microsoft.com/office/powerpoint/2010/main" val="2900891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32B53-48C2-9642-072B-55CC801239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39D18A-0849-998E-132B-6803C24EE8C7}"/>
              </a:ext>
            </a:extLst>
          </p:cNvPr>
          <p:cNvSpPr>
            <a:spLocks noGrp="1"/>
          </p:cNvSpPr>
          <p:nvPr>
            <p:ph idx="1"/>
          </p:nvPr>
        </p:nvSpPr>
        <p:spPr/>
        <p:txBody>
          <a:bodyPr/>
          <a:lstStyle/>
          <a:p>
            <a:r>
              <a:rPr lang="en-IN" dirty="0"/>
              <a:t>Any Queries?</a:t>
            </a:r>
          </a:p>
        </p:txBody>
      </p:sp>
    </p:spTree>
    <p:extLst>
      <p:ext uri="{BB962C8B-B14F-4D97-AF65-F5344CB8AC3E}">
        <p14:creationId xmlns:p14="http://schemas.microsoft.com/office/powerpoint/2010/main" val="42641950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914</Words>
  <Application>Microsoft Office PowerPoint</Application>
  <PresentationFormat>Widescreen</PresentationFormat>
  <Paragraphs>124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Microsoft Azure Administrator Associate (AZ-104)</vt:lpstr>
      <vt:lpstr>Task -5</vt:lpstr>
      <vt:lpstr>Deploy an Azure Virtual Machine </vt:lpstr>
      <vt:lpstr>Deploy an Azure Virtual Machine </vt:lpstr>
      <vt:lpstr>Create and Configure an Azure Storage Account </vt:lpstr>
      <vt:lpstr> </vt:lpstr>
      <vt:lpstr>Manage Blob Storage </vt:lpstr>
      <vt:lpstr> </vt:lpstr>
      <vt:lpstr>Manage Authentication and Authorization for Azure Storage </vt:lpstr>
      <vt:lpstr> </vt:lpstr>
      <vt:lpstr>Create and Configure an Azure Files Share </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Raju Anitha</dc:creator>
  <cp:lastModifiedBy>Dr. Raju Anitha</cp:lastModifiedBy>
  <cp:revision>17</cp:revision>
  <dcterms:created xsi:type="dcterms:W3CDTF">2026-07-28T15:00:03Z</dcterms:created>
  <dcterms:modified xsi:type="dcterms:W3CDTF">2026-09-01T10:59:35Z</dcterms:modified>
</cp:coreProperties>
</file>