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67" d="100"/>
          <a:sy n="67" d="100"/>
        </p:scale>
        <p:origin x="-86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6E07BD8-5B53-FC41-5F27-444B40FECE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0ED2A8-20ED-419A-E5E1-121F02DDC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3505CA1-2E30-B520-7519-6D9F1761A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5F00A27-C3FB-A2CE-885B-63A3E196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3B4C283-4053-8AE1-300F-D59310BC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32862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867E12-C3EA-8A08-6BA1-AC8E952D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EC0FDD-2BA7-9708-F21A-51FE05855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53D9590-B6BE-F701-77B8-B9E6813CA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0E9003-3426-1627-8C66-53041A7FC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86A6B62-BC3F-E755-BD5F-AFFC4D998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20123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79564D5-6A6D-B78D-2C46-101B3951B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553DDDC-8DA4-73BE-C7C6-4675E2CD3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EB56D58-C6EB-920A-126B-632FB90AF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89F8136-B0DE-D11B-7F94-4CC2953D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8606093-C90D-64A3-C008-26B63EFE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3037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AA1445-E87E-D61B-F7D2-F0AD0E775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DD860F1-8BB5-F13E-6DC3-A448BDAC8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AB52A08-99D9-241A-7B1B-3D9C886C5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D9D19A5-28F7-5F74-01A4-0294D1B6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DBE93FB-9AE5-17BE-6DA9-060E72EB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69CCEE4-4418-9D3D-A704-038F50901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93658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0ACDDA-ECD7-3823-A3A8-B61528843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9F81B48-21D4-6E91-4C72-4C349D0CD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2FA374CF-73F2-4BC9-E5DA-98931D584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C2DC316A-30D5-919A-95F5-E434C3EF8C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CA20B9A0-D503-96A8-6C45-A589ABF19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9AE28BB4-BCE8-1233-DD68-9D07F93DD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492321A-1FCE-8F8D-8064-092BD0413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D3C9E0B-7F20-6341-5362-1DEF4DC6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2909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9E2BAF-8963-FDCB-4858-B9DF335E7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581B636-DE4F-BABF-35A4-A2DF3AC8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53A87749-4E45-2AF3-B142-B9B705C5C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8B86ADC-339A-9428-6A87-B1CEBE3A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694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1D66F27-B197-F099-8D99-6FB7375D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1108BB6-541D-441B-2650-1D59478D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15C9A84-F893-5C10-8811-EB8E49997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48794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ADEFDF-C099-174B-941A-DB3154B5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B564B8-73B8-7DF9-9302-95DF3CE1C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580D510-4885-9609-BF7A-96F5A2F4C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0F5D98C-7C4A-14C0-DF5E-DD4571DC9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B4A2E426-C9B1-B298-8C9C-30A576730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3B407F2-69A6-89AC-2924-85B56962E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75891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5B15081-2E71-1995-CE79-A7019A71D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78FB051-4B45-D169-1C16-C9BD623368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5A56BA0-CAD9-55CC-5E10-7F6FC8E06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801A488-C160-5ADC-D574-4496FF8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74925CF-1714-13EA-6CF5-721AA7CE1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4F6C79C-6811-E7E1-C42D-A7FEB9338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0288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F4D06D-12DC-A41B-FDB5-3FDE8835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15C25D1-7507-6963-1B91-17802C255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83AB047-52C5-02BB-B26A-8737F2AA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68BDE7-4784-5087-AB05-C25AA4B0A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775E57-59C1-DC7E-26D6-139F5097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1562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4674B849-E579-63ED-A79C-B22A6E1761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86BCBA0-A150-D62A-53C6-6ADC735F9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FBD0A77-A65F-5953-08EF-D9D421A3F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495BCA9-21A1-5BB7-8AB2-AD2D7DDD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B101FCD-34F3-C69E-FDBE-FF39C9EEE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9813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C6897358-6716-FD64-6F93-FACDD051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AC7811E-9E5A-226A-C54D-EB2A090AF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6A0CEAE-8C4B-357B-097D-076193262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E9C0F1-D1F8-4452-9ED4-054395D95B2B}" type="datetimeFigureOut">
              <a:rPr lang="en-IN" smtClean="0"/>
              <a:pPr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7240D4D-8323-9B0F-8C68-8B4744554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44C527D-217A-B91A-C7C9-63B4384A4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675A51-CF56-4F8D-A249-92CD8C9A643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1697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en-us/credentials/certifications/azure-administrator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716905-2D36-125C-67BD-E0C1AE8B7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5990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Azure Administrator Associate (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AZ-104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8BDAFDB-0A5F-1843-F9B5-F3967976EE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493B83B-E366-88FF-DD03-1037997C4FA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2113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5A86BB-2F56-D3AC-E345-66143C402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564057-1FE3-DE72-E7A5-074F9C042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8344"/>
            <a:ext cx="10515600" cy="4638619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Microsoft Azure is a cloud computing platform developed by Microsoft that provides a wide range of cloud services, including computing, networking, storage, databases, artificial intelligence, and security.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Azure enables organizations to build, deploy, and manage applications through Microsoft-managed data </a:t>
            </a:r>
            <a:r>
              <a:rPr lang="en-IN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centers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Resources in Azure can be created and managed using the Azure Portal, Azure Command-Line Interface (CLI), Azure PowerShell, ARM templates, and Infrastructure as Code (</a:t>
            </a:r>
            <a:r>
              <a:rPr lang="en-IN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IaC</a:t>
            </a:r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 tools.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16B481D-AF51-BDE2-0A32-70776A9B85C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1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E91DCD-0081-3663-D416-8C9640622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1000"/>
              </a:spcBef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Cloud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4F75BE8-2C78-16EE-EB38-8F9781788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65" y="1481380"/>
            <a:ext cx="10833847" cy="4351338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Azure Cloud Shell is a browser-based command-line environment that allows users to manage Azure resources without installing any software on their local computers.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provides authenticated access to Azure services and supports both PowerShell and Bash environments.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Cloud Shell automatically authenticates users with their Azure accounts and provides persistent storage for scripts and configuration files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040E1EC-E858-625D-0502-419A66804B0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244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DEFEAB7-B016-BBF2-AE01-464916F7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B2B866-0E18-8060-A4A8-84E06A967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spcBef>
                <a:spcPts val="1000"/>
              </a:spcBef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Azure Cloud Shell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39B7E9-A16A-6ED7-0DD8-F44C3F4C2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65" y="1481380"/>
            <a:ext cx="10833847" cy="4351338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Accessible directly from the Azure Portal.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Supports Azure PowerShell and Azure CLI.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No local installation or configuration is required.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Automatically authenticates with the Azure subscription.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Includes commonly used Azure management tools.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Provides persistent file storage for scripts.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763DD0A-9A5B-8FAD-08D9-F32BAAA68BE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42056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30574C-5AE5-0A55-8826-2F1DC1E43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355" y="619761"/>
            <a:ext cx="10515600" cy="1079948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PowerShell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581DE7-917C-CD9F-B6DD-8453C4ED2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3647"/>
            <a:ext cx="10515600" cy="456331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Azure PowerShell is a collection of PowerShell cmdlets used to create, configure, automate, and manage Azure resources. </a:t>
            </a:r>
          </a:p>
          <a:p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enables administrators and developers to perform resource management tasks through scripts, making cloud administration faster, more consistent, and less prone to manual errors.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B63D287-2E30-296B-1F5C-48817C1C108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53745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A655AAF-B9FE-ABC6-13AD-FD80A34C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9597"/>
            <a:ext cx="10515600" cy="1111091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commonly used Azure PowerShell cmdlets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14C048-C173-D9C6-5225-D10AC1C0E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New-</a:t>
            </a:r>
            <a:r>
              <a:rPr lang="en-IN" dirty="0" err="1"/>
              <a:t>AzResourceGroup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Get-</a:t>
            </a:r>
            <a:r>
              <a:rPr lang="en-IN" dirty="0" err="1"/>
              <a:t>AzResourceGroup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New-</a:t>
            </a:r>
            <a:r>
              <a:rPr lang="en-IN" dirty="0" err="1"/>
              <a:t>AzDisk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Update-</a:t>
            </a:r>
            <a:r>
              <a:rPr lang="en-IN" dirty="0" err="1"/>
              <a:t>AzDisk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Remove-</a:t>
            </a:r>
            <a:r>
              <a:rPr lang="en-IN" dirty="0" err="1"/>
              <a:t>AzResourceGroup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4755DF-7B18-7EC3-DBBC-90AF7738D32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576" y="15717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467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328951-4ADB-5BFD-E0D2-AC5992E3A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96DFC79-F13B-35AA-E213-83B9EC82E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39" y="1524411"/>
            <a:ext cx="10515600" cy="4351338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 Resource Group is a logical container that holds related Azure resources, such as virtual machines, storage accounts, virtual networks, and managed disks.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Every Azure resource must belong to a resource group.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Resource groups simplify resource management by allowing administrators to organize, monitor, and delete related resources together.</a:t>
            </a:r>
            <a:endParaRPr lang="en-IN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1D69EA81-62DA-4447-E86A-8B96BCED532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81605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A0FD3AE-75E4-9C8A-6443-B2924280E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Resource Groups</a:t>
            </a:r>
            <a:b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AA4C295-825A-B2A0-8BEB-6C5049E31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Logical organization of resources.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Simplified access control using Azure Role-Based Access Control (RBAC).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Easy deployment and management of related resources.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Centralized monitoring and billing. </a:t>
            </a:r>
          </a:p>
          <a:p>
            <a:pPr lvl="0"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Simplified backup and deletion of resources.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B0F2FED-EB8B-2BC3-3470-0015BB9A04D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7530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9E1A27-C793-2EA6-D238-ADBA43B6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Managed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B4997F3-120C-861D-FA7F-BF26F1F41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355" y="1427592"/>
            <a:ext cx="10515600" cy="4351338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 Azure Managed Disk is a virtual hard disk (VHD) managed entirely by Microsoft Azure.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 provides persistent storage for Azure Virtual Machines without requiring users to manage storage accounts manually.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Azure automatically handles storage allocation, replication, scalability, availability, and security.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AC70316-4950-603B-2E1D-93D9EF3951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74999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D77668-72C9-09D1-EB4C-D5B45849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4711" y="527124"/>
            <a:ext cx="9299088" cy="401881"/>
          </a:xfrm>
        </p:spPr>
        <p:txBody>
          <a:bodyPr>
            <a:normAutofit fontScale="90000"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Azure Managed Disks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75F8727-8E05-5F13-03F9-F7A3D2F13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005" y="929005"/>
            <a:ext cx="11481995" cy="6160283"/>
          </a:xfrm>
        </p:spPr>
        <p:txBody>
          <a:bodyPr>
            <a:normAutofit fontScale="250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Standard HDD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Magnetic hard disk-based storage.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Suitable for development, testing, backup, and infrequently accessed workloads.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Lowest cost among Azure disk types.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Standard SSD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Solid-state storage providing better performance than HDD.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Suitable for web servers, lightly loaded applications, and development environments.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Premium SSD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High-performance SSD storage.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Designed for production databases, enterprise applications, and high I/O workloads.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Provides low latency and high throughput. 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Premium SSD v2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Next-generation premium storage.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Offers configurable performance with lower latency and improved scalability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Ultra Disk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Highest-performance managed disk. Intended for mission-critical databases such as SAP HANA, SQL Server, and Oracle. </a:t>
            </a:r>
          </a:p>
          <a:p>
            <a:pPr lvl="0" algn="just">
              <a:lnSpc>
                <a:spcPct val="110000"/>
              </a:lnSpc>
            </a:pPr>
            <a:r>
              <a:rPr lang="en-IN" sz="6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Provides extremely high Input/Output Operations Per Second (IOPS) and throughput</a:t>
            </a:r>
            <a:r>
              <a:rPr lang="en-IN" sz="7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7A7CEA7-CC6D-1CAC-E8DD-A3691835F50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943577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717F0B-3C5D-FBB5-8BBC-140E158E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Disk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02FC354-57F4-9576-E5ED-0B6AFD53B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4670892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Before creating a managed disk, Azure requires a disk configuration object. The configuration specifies the disk properties, including:</a:t>
            </a:r>
          </a:p>
          <a:p>
            <a:pPr lvl="0"/>
            <a:r>
              <a:rPr lang="en-IN" dirty="0"/>
              <a:t>Azure region (Location) </a:t>
            </a:r>
          </a:p>
          <a:p>
            <a:pPr lvl="0"/>
            <a:r>
              <a:rPr lang="en-IN" dirty="0"/>
              <a:t>Disk size </a:t>
            </a:r>
          </a:p>
          <a:p>
            <a:pPr lvl="0"/>
            <a:r>
              <a:rPr lang="en-IN" dirty="0"/>
              <a:t>Storage type (SKU) </a:t>
            </a:r>
          </a:p>
          <a:p>
            <a:pPr marL="0" lvl="0" indent="0">
              <a:buNone/>
            </a:pPr>
            <a:r>
              <a:rPr lang="en-IN" dirty="0"/>
              <a:t>Creation option (Empty, Copy, Import, Snapshot) </a:t>
            </a:r>
          </a:p>
          <a:p>
            <a:r>
              <a:rPr lang="en-IN" dirty="0"/>
              <a:t>The New-</a:t>
            </a:r>
            <a:r>
              <a:rPr lang="en-IN" dirty="0" err="1"/>
              <a:t>AzDiskConfig</a:t>
            </a:r>
            <a:r>
              <a:rPr lang="en-IN" dirty="0"/>
              <a:t> cmdlet creates this configuration, which is later used by the New-</a:t>
            </a:r>
            <a:r>
              <a:rPr lang="en-IN" dirty="0" err="1"/>
              <a:t>AzDisk</a:t>
            </a:r>
            <a:r>
              <a:rPr lang="en-IN" dirty="0"/>
              <a:t> cmdlet to create the actual managed disk.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DB8AC76-6AF1-C023-4BDA-FC2AC3839B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64302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70CB78-CAA8-3461-752E-857D86CE8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6550"/>
          </a:xfrm>
        </p:spPr>
        <p:txBody>
          <a:bodyPr/>
          <a:lstStyle/>
          <a:p>
            <a:r>
              <a:rPr lang="en-IN" b="1" dirty="0"/>
              <a:t>Configuring a Managed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649EB4-15A6-4FD0-1482-DF233FD9A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798"/>
            <a:ext cx="10515600" cy="4703165"/>
          </a:xfrm>
        </p:spPr>
        <p:txBody>
          <a:bodyPr/>
          <a:lstStyle/>
          <a:p>
            <a:r>
              <a:rPr lang="en-IN" dirty="0"/>
              <a:t>After creating a managed disk, its properties can be modified using Azure PowerShell. Common configuration tasks include:</a:t>
            </a:r>
          </a:p>
          <a:p>
            <a:pPr lvl="0"/>
            <a:r>
              <a:rPr lang="en-IN" dirty="0"/>
              <a:t>Increasing disk size. </a:t>
            </a:r>
          </a:p>
          <a:p>
            <a:pPr lvl="0"/>
            <a:r>
              <a:rPr lang="en-IN" dirty="0"/>
              <a:t>Changing the storage performance tier (where supported). </a:t>
            </a:r>
          </a:p>
          <a:p>
            <a:pPr lvl="0"/>
            <a:r>
              <a:rPr lang="en-IN" dirty="0"/>
              <a:t>Updating metadata or tags. </a:t>
            </a:r>
          </a:p>
          <a:p>
            <a:pPr lvl="0"/>
            <a:r>
              <a:rPr lang="en-IN" dirty="0"/>
              <a:t>Monitoring disk health and performance.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C601DC1-3A41-7AC8-8AEC-A68971F526A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055239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82DC17-D1A7-7852-80BA-01387C11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089579-9331-8A72-8919-4C680D83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7736"/>
            <a:ext cx="10515600" cy="47892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1.Start a PowerShell session in Azure Cloud Shell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2.Create a Resource group and an Azure-managed disk by using Azure PowerShell </a:t>
            </a:r>
          </a:p>
          <a:p>
            <a:pPr marL="0" indent="0">
              <a:buNone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Configure the managed disk by using Azure PowerShell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14A067-8345-9869-66BA-84E1E30FA3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5880"/>
            <a:ext cx="2054711" cy="5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511132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C2D339-EDED-A37D-A34E-318E9DA42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0A47DAB-B16D-0EFA-81BE-B8EC04D4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IN" dirty="0"/>
          </a:p>
          <a:p>
            <a:r>
              <a:rPr lang="en-IN" dirty="0"/>
              <a:t>Commands:</a:t>
            </a:r>
          </a:p>
          <a:p>
            <a:r>
              <a:rPr lang="en-IN" dirty="0"/>
              <a:t>$</a:t>
            </a:r>
            <a:r>
              <a:rPr lang="en-IN" dirty="0" err="1"/>
              <a:t>psversiontable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# Confirm you're logged in and see your subscription</a:t>
            </a:r>
          </a:p>
          <a:p>
            <a:r>
              <a:rPr lang="en-US" dirty="0"/>
              <a:t>Get-</a:t>
            </a:r>
            <a:r>
              <a:rPr lang="en-US" dirty="0" err="1"/>
              <a:t>AzContext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List all subscriptions you have access to</a:t>
            </a:r>
          </a:p>
          <a:p>
            <a:r>
              <a:rPr lang="en-US" dirty="0"/>
              <a:t>Get-</a:t>
            </a:r>
            <a:r>
              <a:rPr lang="en-US" dirty="0" err="1"/>
              <a:t>AzSubscription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See what resource groups already exist</a:t>
            </a:r>
          </a:p>
          <a:p>
            <a:r>
              <a:rPr lang="en-US" dirty="0"/>
              <a:t>Get-</a:t>
            </a:r>
            <a:r>
              <a:rPr lang="en-US" dirty="0" err="1"/>
              <a:t>AzResourceGroup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Check PowerShell/Az module version (good habit before troubleshooting)</a:t>
            </a:r>
          </a:p>
          <a:p>
            <a:r>
              <a:rPr lang="en-US" dirty="0"/>
              <a:t>Get-Module -Name Az -</a:t>
            </a:r>
            <a:r>
              <a:rPr lang="en-US" dirty="0" err="1"/>
              <a:t>ListAvailable</a:t>
            </a:r>
            <a:r>
              <a:rPr lang="en-US" dirty="0"/>
              <a:t> | Select-Object Name, Version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78195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2BEEA92-BAF6-B063-00B8-AB439975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Resource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64B7074-4BAF-0AF7-6DEA-DC672CEA5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5464"/>
            <a:ext cx="10515600" cy="48214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# Create a resource group</a:t>
            </a:r>
          </a:p>
          <a:p>
            <a:r>
              <a:rPr lang="en-US" dirty="0"/>
              <a:t>New-</a:t>
            </a:r>
            <a:r>
              <a:rPr lang="en-US" dirty="0" err="1"/>
              <a:t>AzResourceGroup</a:t>
            </a:r>
            <a:r>
              <a:rPr lang="en-US" dirty="0"/>
              <a:t> -Name "rg-training-01" -Location "</a:t>
            </a:r>
            <a:r>
              <a:rPr lang="en-US" dirty="0" err="1"/>
              <a:t>eastus</a:t>
            </a:r>
            <a:r>
              <a:rPr lang="en-US" dirty="0"/>
              <a:t>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List it back to confirm</a:t>
            </a:r>
          </a:p>
          <a:p>
            <a:r>
              <a:rPr lang="en-US" dirty="0"/>
              <a:t>Get-</a:t>
            </a:r>
            <a:r>
              <a:rPr lang="en-US" dirty="0" err="1"/>
              <a:t>AzResourceGroup</a:t>
            </a:r>
            <a:r>
              <a:rPr lang="en-US" dirty="0"/>
              <a:t> -Name "rg-training-01"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Add a tag (useful for showing "why tags matter" from slide 8)</a:t>
            </a:r>
          </a:p>
          <a:p>
            <a:r>
              <a:rPr lang="en-US" dirty="0"/>
              <a:t>Set-</a:t>
            </a:r>
            <a:r>
              <a:rPr lang="en-US" dirty="0" err="1"/>
              <a:t>AzResourceGroup</a:t>
            </a:r>
            <a:r>
              <a:rPr lang="en-US" dirty="0"/>
              <a:t> -Name "rg-training-01" -Tag @{Environment="Training"; Owner="</a:t>
            </a:r>
            <a:r>
              <a:rPr lang="en-US" dirty="0" err="1"/>
              <a:t>StudentName</a:t>
            </a:r>
            <a:r>
              <a:rPr lang="en-US" dirty="0"/>
              <a:t>"}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View the tag you just added</a:t>
            </a:r>
          </a:p>
          <a:p>
            <a:pPr marL="0" indent="0">
              <a:buNone/>
            </a:pPr>
            <a:r>
              <a:rPr lang="en-US" dirty="0"/>
              <a:t>(Get-</a:t>
            </a:r>
            <a:r>
              <a:rPr lang="en-US" dirty="0" err="1"/>
              <a:t>AzResourceGroup</a:t>
            </a:r>
            <a:r>
              <a:rPr lang="en-US" dirty="0"/>
              <a:t> -Name "rg-training-01").Tags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Create a second resource group in a different region — good for comparing</a:t>
            </a:r>
          </a:p>
          <a:p>
            <a:r>
              <a:rPr lang="en-US" dirty="0"/>
              <a:t>New-</a:t>
            </a:r>
            <a:r>
              <a:rPr lang="en-US" dirty="0" err="1"/>
              <a:t>AzResourceGroup</a:t>
            </a:r>
            <a:r>
              <a:rPr lang="en-US" dirty="0"/>
              <a:t> -Name "rg-training-02" -Location "</a:t>
            </a:r>
            <a:r>
              <a:rPr lang="en-US" dirty="0" err="1"/>
              <a:t>westeurope</a:t>
            </a:r>
            <a:r>
              <a:rPr lang="en-US" dirty="0"/>
              <a:t>"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# List ALL resource groups again to see both</a:t>
            </a:r>
          </a:p>
          <a:p>
            <a:r>
              <a:rPr lang="en-US" dirty="0"/>
              <a:t>Get-</a:t>
            </a:r>
            <a:r>
              <a:rPr lang="en-US" dirty="0" err="1"/>
              <a:t>AzResourceGroup</a:t>
            </a:r>
            <a:r>
              <a:rPr lang="en-US" dirty="0"/>
              <a:t> | Format-Table </a:t>
            </a:r>
            <a:r>
              <a:rPr lang="en-US" dirty="0" err="1"/>
              <a:t>ResourceGroupName</a:t>
            </a:r>
            <a:r>
              <a:rPr lang="en-US" dirty="0"/>
              <a:t>, Location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302569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800DDCF-EAA9-D1D5-CE9B-1A42E8D11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Managing Disk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631D9C2-AB7B-6243-F2B7-DB1A11F2D7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# Step 1: build the disk configuration object</a:t>
            </a:r>
          </a:p>
          <a:p>
            <a:r>
              <a:rPr lang="en-IN" dirty="0"/>
              <a:t>$</a:t>
            </a:r>
            <a:r>
              <a:rPr lang="en-IN" dirty="0" err="1"/>
              <a:t>diskConfig</a:t>
            </a:r>
            <a:r>
              <a:rPr lang="en-IN" dirty="0"/>
              <a:t> = New-</a:t>
            </a:r>
            <a:r>
              <a:rPr lang="en-IN" dirty="0" err="1"/>
              <a:t>AzDiskConfig</a:t>
            </a:r>
            <a:r>
              <a:rPr lang="en-IN" dirty="0"/>
              <a:t> -Location "</a:t>
            </a:r>
            <a:r>
              <a:rPr lang="en-IN" dirty="0" err="1"/>
              <a:t>eastus</a:t>
            </a:r>
            <a:r>
              <a:rPr lang="en-IN" dirty="0"/>
              <a:t>" -</a:t>
            </a:r>
            <a:r>
              <a:rPr lang="en-IN" dirty="0" err="1"/>
              <a:t>CreateOption</a:t>
            </a:r>
            <a:r>
              <a:rPr lang="en-IN" dirty="0"/>
              <a:t> Empty -</a:t>
            </a:r>
            <a:r>
              <a:rPr lang="en-IN" dirty="0" err="1"/>
              <a:t>DiskSizeGB</a:t>
            </a:r>
            <a:r>
              <a:rPr lang="en-IN" dirty="0"/>
              <a:t> 32 -</a:t>
            </a:r>
            <a:r>
              <a:rPr lang="en-IN" dirty="0" err="1"/>
              <a:t>SkuName</a:t>
            </a:r>
            <a:r>
              <a:rPr lang="en-IN" dirty="0"/>
              <a:t> </a:t>
            </a:r>
            <a:r>
              <a:rPr lang="en-IN" dirty="0" err="1"/>
              <a:t>Standard_LRS</a:t>
            </a:r>
            <a:endParaRPr lang="en-IN" dirty="0"/>
          </a:p>
          <a:p>
            <a:endParaRPr lang="en-IN" dirty="0"/>
          </a:p>
          <a:p>
            <a:r>
              <a:rPr lang="en-IN" dirty="0"/>
              <a:t># Step 2: create the actual disk using that config</a:t>
            </a:r>
          </a:p>
          <a:p>
            <a:r>
              <a:rPr lang="en-IN" dirty="0"/>
              <a:t>New-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"disk-demo-01" -Disk $</a:t>
            </a:r>
            <a:r>
              <a:rPr lang="en-IN" dirty="0" err="1"/>
              <a:t>diskConfig</a:t>
            </a:r>
            <a:endParaRPr lang="en-IN" dirty="0"/>
          </a:p>
          <a:p>
            <a:endParaRPr lang="en-IN" dirty="0"/>
          </a:p>
          <a:p>
            <a:r>
              <a:rPr lang="en-IN" dirty="0"/>
              <a:t># Confirm it was created</a:t>
            </a:r>
          </a:p>
          <a:p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"disk-demo-01"</a:t>
            </a:r>
          </a:p>
          <a:p>
            <a:endParaRPr lang="en-IN" dirty="0"/>
          </a:p>
          <a:p>
            <a:r>
              <a:rPr lang="en-IN" dirty="0"/>
              <a:t># List every disk in the resource group</a:t>
            </a:r>
          </a:p>
          <a:p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| Format-Table Name, </a:t>
            </a:r>
            <a:r>
              <a:rPr lang="en-IN" dirty="0" err="1"/>
              <a:t>DiskSizeGB</a:t>
            </a:r>
            <a:r>
              <a:rPr lang="en-IN" dirty="0"/>
              <a:t>, </a:t>
            </a:r>
            <a:r>
              <a:rPr lang="en-IN" dirty="0" err="1"/>
              <a:t>Sku</a:t>
            </a:r>
            <a:endParaRPr lang="en-IN" dirty="0"/>
          </a:p>
          <a:p>
            <a:endParaRPr lang="en-IN" dirty="0"/>
          </a:p>
          <a:p>
            <a:r>
              <a:rPr lang="en-IN" dirty="0"/>
              <a:t># Try a different SKU — Premium SSD instead of Standard HDD</a:t>
            </a:r>
          </a:p>
          <a:p>
            <a:r>
              <a:rPr lang="en-IN" dirty="0"/>
              <a:t>$diskConfig2 = New-</a:t>
            </a:r>
            <a:r>
              <a:rPr lang="en-IN" dirty="0" err="1"/>
              <a:t>AzDiskConfig</a:t>
            </a:r>
            <a:r>
              <a:rPr lang="en-IN" dirty="0"/>
              <a:t> -Location "</a:t>
            </a:r>
            <a:r>
              <a:rPr lang="en-IN" dirty="0" err="1"/>
              <a:t>eastus</a:t>
            </a:r>
            <a:r>
              <a:rPr lang="en-IN" dirty="0"/>
              <a:t>" -</a:t>
            </a:r>
            <a:r>
              <a:rPr lang="en-IN" dirty="0" err="1"/>
              <a:t>CreateOption</a:t>
            </a:r>
            <a:r>
              <a:rPr lang="en-IN" dirty="0"/>
              <a:t> Empty -</a:t>
            </a:r>
            <a:r>
              <a:rPr lang="en-IN" dirty="0" err="1"/>
              <a:t>DiskSizeGB</a:t>
            </a:r>
            <a:r>
              <a:rPr lang="en-IN" dirty="0"/>
              <a:t> 64 -</a:t>
            </a:r>
            <a:r>
              <a:rPr lang="en-IN" dirty="0" err="1"/>
              <a:t>SkuName</a:t>
            </a:r>
            <a:r>
              <a:rPr lang="en-IN" dirty="0"/>
              <a:t> </a:t>
            </a:r>
            <a:r>
              <a:rPr lang="en-IN" dirty="0" err="1"/>
              <a:t>Premium_LRS</a:t>
            </a:r>
            <a:endParaRPr lang="en-IN" dirty="0"/>
          </a:p>
          <a:p>
            <a:r>
              <a:rPr lang="en-IN" dirty="0"/>
              <a:t>New-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"disk-demo-02" -Disk $diskConfig2</a:t>
            </a:r>
          </a:p>
        </p:txBody>
      </p:sp>
    </p:spTree>
    <p:extLst>
      <p:ext uri="{BB962C8B-B14F-4D97-AF65-F5344CB8AC3E}">
        <p14:creationId xmlns:p14="http://schemas.microsoft.com/office/powerpoint/2010/main" xmlns="" val="3375706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DC6911-667E-576D-DDF9-DA24992D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Updating a disk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59BECD-046B-291C-9F49-0445D0F5F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# Retrieve the disk object first</a:t>
            </a:r>
          </a:p>
          <a:p>
            <a:r>
              <a:rPr lang="en-IN" dirty="0"/>
              <a:t>$disk = 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"disk-demo-01"</a:t>
            </a:r>
          </a:p>
          <a:p>
            <a:endParaRPr lang="en-IN" dirty="0"/>
          </a:p>
          <a:p>
            <a:r>
              <a:rPr lang="en-IN" dirty="0"/>
              <a:t># Resize it (disks can only grow, not shrink)</a:t>
            </a:r>
          </a:p>
          <a:p>
            <a:r>
              <a:rPr lang="en-IN" dirty="0"/>
              <a:t>$</a:t>
            </a:r>
            <a:r>
              <a:rPr lang="en-IN" dirty="0" err="1"/>
              <a:t>disk.DiskSizeGB</a:t>
            </a:r>
            <a:r>
              <a:rPr lang="en-IN" dirty="0"/>
              <a:t> = 64</a:t>
            </a:r>
          </a:p>
          <a:p>
            <a:r>
              <a:rPr lang="en-IN" dirty="0"/>
              <a:t>Update-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"disk-demo-01" -Disk $disk</a:t>
            </a:r>
          </a:p>
          <a:p>
            <a:endParaRPr lang="en-IN" dirty="0"/>
          </a:p>
          <a:p>
            <a:r>
              <a:rPr lang="en-IN" dirty="0"/>
              <a:t># Confirm the resize worked</a:t>
            </a:r>
          </a:p>
          <a:p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"rg-training-01" -</a:t>
            </a:r>
            <a:r>
              <a:rPr lang="en-IN" dirty="0" err="1"/>
              <a:t>DiskName</a:t>
            </a:r>
            <a:r>
              <a:rPr lang="en-IN" dirty="0"/>
              <a:t> "disk-demo-01" | Select-Object Name, </a:t>
            </a:r>
            <a:r>
              <a:rPr lang="en-IN" dirty="0" err="1"/>
              <a:t>DiskSizeGB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541478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82CE0F-28EE-02B0-2C39-9793D6D1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Cleanup(MUST 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6BA35CA-D65C-5609-8913-1E98A36C9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# Delete a single disk</a:t>
            </a:r>
          </a:p>
          <a:p>
            <a:r>
              <a:rPr lang="en-IN"/>
              <a:t>Remove-AzDisk -ResourceGroupName "rg-training-01" -DiskName "disk-demo-02" -Force</a:t>
            </a:r>
          </a:p>
          <a:p>
            <a:endParaRPr lang="en-IN"/>
          </a:p>
          <a:p>
            <a:r>
              <a:rPr lang="en-IN"/>
              <a:t># Delete an entire resource group (and everything inside it)</a:t>
            </a:r>
          </a:p>
          <a:p>
            <a:r>
              <a:rPr lang="en-IN"/>
              <a:t>Remove-AzResourceGroup -Name "rg-training-02" -Force</a:t>
            </a:r>
          </a:p>
          <a:p>
            <a:endParaRPr lang="en-IN"/>
          </a:p>
          <a:p>
            <a:r>
              <a:rPr lang="en-IN"/>
              <a:t># Confirm rg-training-02 is gone</a:t>
            </a:r>
          </a:p>
          <a:p>
            <a:r>
              <a:rPr lang="en-IN"/>
              <a:t>Get-AzResourceGroup -Name "rg-training-01"</a:t>
            </a:r>
          </a:p>
        </p:txBody>
      </p:sp>
    </p:spTree>
    <p:extLst>
      <p:ext uri="{BB962C8B-B14F-4D97-AF65-F5344CB8AC3E}">
        <p14:creationId xmlns:p14="http://schemas.microsoft.com/office/powerpoint/2010/main" xmlns="" val="485922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6D5F3B1-DC51-02BB-E41B-A7343B611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TASK1: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7153B6-30E0-FEE4-2206-4FEB85B9E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979"/>
            <a:ext cx="10515600" cy="479998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Get-</a:t>
            </a:r>
            <a:r>
              <a:rPr lang="en-IN" dirty="0" err="1"/>
              <a:t>AzContext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Create a Resource Group and a Managed Disk</a:t>
            </a:r>
          </a:p>
          <a:p>
            <a:pPr marL="0" indent="0">
              <a:buNone/>
            </a:pPr>
            <a:r>
              <a:rPr lang="en-IN" dirty="0"/>
              <a:t># Create the resource group</a:t>
            </a:r>
          </a:p>
          <a:p>
            <a:pPr marL="0" indent="0">
              <a:buNone/>
            </a:pPr>
            <a:r>
              <a:rPr lang="en-IN" dirty="0"/>
              <a:t>New-</a:t>
            </a:r>
            <a:r>
              <a:rPr lang="en-IN" dirty="0" err="1"/>
              <a:t>AzResourceGroup</a:t>
            </a:r>
            <a:r>
              <a:rPr lang="en-IN" dirty="0"/>
              <a:t> -Name "rg-az104-task1" -Location "</a:t>
            </a:r>
            <a:r>
              <a:rPr lang="en-IN" dirty="0" err="1"/>
              <a:t>eastus</a:t>
            </a:r>
            <a:r>
              <a:rPr lang="en-IN" dirty="0"/>
              <a:t>"</a:t>
            </a:r>
          </a:p>
          <a:p>
            <a:pPr marL="0" indent="0">
              <a:buNone/>
            </a:pPr>
            <a:r>
              <a:rPr lang="en-IN" dirty="0"/>
              <a:t># Build the disk configuration object</a:t>
            </a:r>
          </a:p>
          <a:p>
            <a:pPr marL="0" indent="0">
              <a:buNone/>
            </a:pPr>
            <a:r>
              <a:rPr lang="en-IN" dirty="0"/>
              <a:t>$</a:t>
            </a:r>
            <a:r>
              <a:rPr lang="en-IN" dirty="0" err="1"/>
              <a:t>diskConfig</a:t>
            </a:r>
            <a:r>
              <a:rPr lang="en-IN" dirty="0"/>
              <a:t> = New-</a:t>
            </a:r>
            <a:r>
              <a:rPr lang="en-IN" dirty="0" err="1"/>
              <a:t>AzDiskConfig</a:t>
            </a:r>
            <a:r>
              <a:rPr lang="en-IN" dirty="0"/>
              <a:t> `</a:t>
            </a:r>
          </a:p>
          <a:p>
            <a:pPr marL="0" indent="0">
              <a:buNone/>
            </a:pPr>
            <a:r>
              <a:rPr lang="en-IN" dirty="0"/>
              <a:t>    -Location "</a:t>
            </a:r>
            <a:r>
              <a:rPr lang="en-IN" dirty="0" err="1"/>
              <a:t>eastus</a:t>
            </a:r>
            <a:r>
              <a:rPr lang="en-IN" dirty="0"/>
              <a:t>"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CreateOption</a:t>
            </a:r>
            <a:r>
              <a:rPr lang="en-IN" dirty="0"/>
              <a:t> Empty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DiskSizeGB</a:t>
            </a:r>
            <a:r>
              <a:rPr lang="en-IN" dirty="0"/>
              <a:t> 32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SkuName</a:t>
            </a:r>
            <a:r>
              <a:rPr lang="en-IN" dirty="0"/>
              <a:t> </a:t>
            </a:r>
            <a:r>
              <a:rPr lang="en-IN" dirty="0" err="1"/>
              <a:t>Standard_LRS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Create he managed disk using that configuration</a:t>
            </a:r>
          </a:p>
          <a:p>
            <a:pPr marL="0" indent="0">
              <a:buNone/>
            </a:pPr>
            <a:r>
              <a:rPr lang="en-IN" dirty="0"/>
              <a:t>New-</a:t>
            </a:r>
            <a:r>
              <a:rPr lang="en-IN" dirty="0" err="1"/>
              <a:t>AzDisk</a:t>
            </a:r>
            <a:r>
              <a:rPr lang="en-IN" dirty="0"/>
              <a:t>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ResourceGroupName</a:t>
            </a:r>
            <a:r>
              <a:rPr lang="en-IN" dirty="0"/>
              <a:t> "rg-az104-task1"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DiskName</a:t>
            </a:r>
            <a:r>
              <a:rPr lang="en-IN" dirty="0"/>
              <a:t> "disk-az104-task1" `</a:t>
            </a:r>
          </a:p>
          <a:p>
            <a:pPr marL="0" indent="0">
              <a:buNone/>
            </a:pPr>
            <a:r>
              <a:rPr lang="en-IN" dirty="0"/>
              <a:t>    -Disk $</a:t>
            </a:r>
            <a:r>
              <a:rPr lang="en-IN" dirty="0" err="1"/>
              <a:t>diskConfig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7726471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C12DC1-8AA2-772C-1F18-4697E301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Verify both were created: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E27893D-5ADF-E5E2-A5B4-5DA85ED66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Get-</a:t>
            </a:r>
            <a:r>
              <a:rPr lang="en-IN" dirty="0" err="1"/>
              <a:t>AzResourceGroup</a:t>
            </a:r>
            <a:r>
              <a:rPr lang="en-IN" dirty="0"/>
              <a:t> -Name "rg-az104-task1"</a:t>
            </a:r>
          </a:p>
          <a:p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"rg-az104-task1" -</a:t>
            </a:r>
            <a:r>
              <a:rPr lang="en-IN" dirty="0" err="1"/>
              <a:t>DiskName</a:t>
            </a:r>
            <a:r>
              <a:rPr lang="en-IN" dirty="0"/>
              <a:t> "disk-az104-task1"</a:t>
            </a:r>
          </a:p>
        </p:txBody>
      </p:sp>
    </p:spTree>
    <p:extLst>
      <p:ext uri="{BB962C8B-B14F-4D97-AF65-F5344CB8AC3E}">
        <p14:creationId xmlns:p14="http://schemas.microsoft.com/office/powerpoint/2010/main" xmlns="" val="489371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E1D3C4A-C428-79E8-372F-0796383EE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0311"/>
            <a:ext cx="10515600" cy="75303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Step 3: Configure the Managed Disk</a:t>
            </a:r>
            <a:br>
              <a:rPr lang="en-IN" b="1" dirty="0"/>
            </a:b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C966A78-551B-B9E8-43C8-F624FCCC3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07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Retrieve the disk object, then modify its properties before pushing the update back to Azure.</a:t>
            </a:r>
          </a:p>
          <a:p>
            <a:pPr marL="0" indent="0">
              <a:buNone/>
            </a:pPr>
            <a:r>
              <a:rPr lang="en-IN" dirty="0"/>
              <a:t>#Get the current disk object</a:t>
            </a:r>
          </a:p>
          <a:p>
            <a:pPr marL="0" indent="0">
              <a:buNone/>
            </a:pPr>
            <a:r>
              <a:rPr lang="en-IN" dirty="0"/>
              <a:t>$disk = 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"rg-az104-task1" -</a:t>
            </a:r>
            <a:r>
              <a:rPr lang="en-IN" dirty="0" err="1"/>
              <a:t>DiskName</a:t>
            </a:r>
            <a:r>
              <a:rPr lang="en-IN" dirty="0"/>
              <a:t> "disk-az104-task1"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Example configuration change: increase disk size from 32 GB to 64 GB</a:t>
            </a:r>
          </a:p>
          <a:p>
            <a:pPr marL="0" indent="0">
              <a:buNone/>
            </a:pPr>
            <a:r>
              <a:rPr lang="en-IN" dirty="0"/>
              <a:t>$</a:t>
            </a:r>
            <a:r>
              <a:rPr lang="en-IN" dirty="0" err="1"/>
              <a:t>disk.DiskSizeGB</a:t>
            </a:r>
            <a:r>
              <a:rPr lang="en-IN" dirty="0"/>
              <a:t> = 64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Example configuration change: add a tag</a:t>
            </a:r>
          </a:p>
          <a:p>
            <a:pPr marL="0" indent="0">
              <a:buNone/>
            </a:pPr>
            <a:r>
              <a:rPr lang="en-IN" dirty="0"/>
              <a:t>$</a:t>
            </a:r>
            <a:r>
              <a:rPr lang="en-IN" dirty="0" err="1"/>
              <a:t>disk.Tags</a:t>
            </a:r>
            <a:r>
              <a:rPr lang="en-IN" dirty="0"/>
              <a:t> = @{Environment = "Training"; Task = "AZ104-Task1"}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# Push the changes back to the actual disk in Azure</a:t>
            </a:r>
          </a:p>
          <a:p>
            <a:pPr marL="0" indent="0">
              <a:buNone/>
            </a:pPr>
            <a:r>
              <a:rPr lang="en-IN" dirty="0"/>
              <a:t>Update-</a:t>
            </a:r>
            <a:r>
              <a:rPr lang="en-IN" dirty="0" err="1"/>
              <a:t>AzDisk</a:t>
            </a:r>
            <a:r>
              <a:rPr lang="en-IN" dirty="0"/>
              <a:t>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ResourceGroupName</a:t>
            </a:r>
            <a:r>
              <a:rPr lang="en-IN" dirty="0"/>
              <a:t> "rg-az104-task1" `</a:t>
            </a:r>
          </a:p>
          <a:p>
            <a:pPr marL="0" indent="0">
              <a:buNone/>
            </a:pPr>
            <a:r>
              <a:rPr lang="en-IN" dirty="0"/>
              <a:t>    -</a:t>
            </a:r>
            <a:r>
              <a:rPr lang="en-IN" dirty="0" err="1"/>
              <a:t>DiskName</a:t>
            </a:r>
            <a:r>
              <a:rPr lang="en-IN" dirty="0"/>
              <a:t> "disk-az104-task1" `</a:t>
            </a:r>
          </a:p>
          <a:p>
            <a:pPr marL="0" indent="0">
              <a:buNone/>
            </a:pPr>
            <a:r>
              <a:rPr lang="en-IN" dirty="0"/>
              <a:t>    -Disk $disk</a:t>
            </a:r>
          </a:p>
        </p:txBody>
      </p:sp>
    </p:spTree>
    <p:extLst>
      <p:ext uri="{BB962C8B-B14F-4D97-AF65-F5344CB8AC3E}">
        <p14:creationId xmlns:p14="http://schemas.microsoft.com/office/powerpoint/2010/main" xmlns="" val="4110358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F6EB7C1-200B-490D-947D-F0F1A7B1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Confirm the configuration change took effect: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1FA2198-1408-3980-12B5-A4864742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Get-</a:t>
            </a:r>
            <a:r>
              <a:rPr lang="en-IN" dirty="0" err="1"/>
              <a:t>AzDisk</a:t>
            </a:r>
            <a:r>
              <a:rPr lang="en-IN" dirty="0"/>
              <a:t> -</a:t>
            </a:r>
            <a:r>
              <a:rPr lang="en-IN" dirty="0" err="1"/>
              <a:t>ResourceGroupName</a:t>
            </a:r>
            <a:r>
              <a:rPr lang="en-IN" dirty="0"/>
              <a:t> "rg-az104-task1" -</a:t>
            </a:r>
            <a:r>
              <a:rPr lang="en-IN" dirty="0" err="1"/>
              <a:t>DiskName</a:t>
            </a:r>
            <a:r>
              <a:rPr lang="en-IN" dirty="0"/>
              <a:t> "disk-az104-task1" |</a:t>
            </a:r>
          </a:p>
          <a:p>
            <a:r>
              <a:rPr lang="en-IN" dirty="0"/>
              <a:t> Select-Object Name, </a:t>
            </a:r>
            <a:r>
              <a:rPr lang="en-IN" dirty="0" err="1"/>
              <a:t>DiskSizeGB</a:t>
            </a:r>
            <a:r>
              <a:rPr lang="en-IN" dirty="0"/>
              <a:t>, Tags</a:t>
            </a:r>
          </a:p>
          <a:p>
            <a:pPr marL="0" indent="0">
              <a:buNone/>
            </a:pPr>
            <a:r>
              <a:rPr lang="en-IN" dirty="0"/>
              <a:t>CLEANUP(MUST)</a:t>
            </a:r>
          </a:p>
          <a:p>
            <a:r>
              <a:rPr lang="en-IN" dirty="0"/>
              <a:t>Remove-</a:t>
            </a:r>
            <a:r>
              <a:rPr lang="en-IN" dirty="0" err="1"/>
              <a:t>AzResourceGroup</a:t>
            </a:r>
            <a:r>
              <a:rPr lang="en-IN" dirty="0"/>
              <a:t> -Name "rg-az104-task1" -Force</a:t>
            </a:r>
          </a:p>
        </p:txBody>
      </p:sp>
    </p:spTree>
    <p:extLst>
      <p:ext uri="{BB962C8B-B14F-4D97-AF65-F5344CB8AC3E}">
        <p14:creationId xmlns:p14="http://schemas.microsoft.com/office/powerpoint/2010/main" xmlns="" val="35957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1397</Words>
  <Application>Microsoft Office PowerPoint</Application>
  <PresentationFormat>Custom</PresentationFormat>
  <Paragraphs>179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Microsoft Azure Administrator Associate (AZ-104)</vt:lpstr>
      <vt:lpstr>Introduction</vt:lpstr>
      <vt:lpstr>Azure Cloud Shell</vt:lpstr>
      <vt:lpstr>Features of Azure Cloud Shell</vt:lpstr>
      <vt:lpstr>Azure PowerShell</vt:lpstr>
      <vt:lpstr>Some commonly used Azure PowerShell cmdlets include</vt:lpstr>
      <vt:lpstr>Resource Group</vt:lpstr>
      <vt:lpstr>Advantages of Resource Groups </vt:lpstr>
      <vt:lpstr>Azure Managed Disk</vt:lpstr>
      <vt:lpstr>Types of Azure Managed Disks</vt:lpstr>
      <vt:lpstr>Disk Configuration</vt:lpstr>
      <vt:lpstr>Configuring a Managed Disk</vt:lpstr>
      <vt:lpstr>TASK1:</vt:lpstr>
      <vt:lpstr>Slide 14</vt:lpstr>
      <vt:lpstr>Resource Group</vt:lpstr>
      <vt:lpstr>Managing Disk Practice</vt:lpstr>
      <vt:lpstr>Updating a disk</vt:lpstr>
      <vt:lpstr>Cleanup(MUST DO)</vt:lpstr>
      <vt:lpstr>TASK1: SOLUTION</vt:lpstr>
      <vt:lpstr>Verify both were created:</vt:lpstr>
      <vt:lpstr>Step 3: Configure the Managed Disk  </vt:lpstr>
      <vt:lpstr>Confirm the configuration change took effect: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Azure Administrator Associate (AZ-104)</dc:title>
  <dc:creator>Dr. Raju Anitha</dc:creator>
  <cp:lastModifiedBy>hp</cp:lastModifiedBy>
  <cp:revision>12</cp:revision>
  <dcterms:created xsi:type="dcterms:W3CDTF">2026-07-28T15:00:03Z</dcterms:created>
  <dcterms:modified xsi:type="dcterms:W3CDTF">2026-08-05T02:41:50Z</dcterms:modified>
</cp:coreProperties>
</file>