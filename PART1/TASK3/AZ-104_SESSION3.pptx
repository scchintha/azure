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68" r:id="rId4"/>
    <p:sldId id="258" r:id="rId5"/>
    <p:sldId id="259" r:id="rId6"/>
    <p:sldId id="260" r:id="rId7"/>
    <p:sldId id="261" r:id="rId8"/>
    <p:sldId id="262" r:id="rId9"/>
    <p:sldId id="265" r:id="rId10"/>
    <p:sldId id="269" r:id="rId11"/>
    <p:sldId id="270" r:id="rId12"/>
    <p:sldId id="271" r:id="rId13"/>
    <p:sldId id="272" r:id="rId14"/>
    <p:sldId id="263" r:id="rId15"/>
    <p:sldId id="273" r:id="rId16"/>
    <p:sldId id="274" r:id="rId17"/>
    <p:sldId id="264" r:id="rId18"/>
    <p:sldId id="275" r:id="rId19"/>
    <p:sldId id="276" r:id="rId20"/>
    <p:sldId id="277" r:id="rId21"/>
    <p:sldId id="266" r:id="rId22"/>
    <p:sldId id="278"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57018E-EE37-4C63-8548-AB32A072A58E}">
          <p14:sldIdLst>
            <p14:sldId id="256"/>
            <p14:sldId id="257"/>
            <p14:sldId id="268"/>
            <p14:sldId id="258"/>
            <p14:sldId id="259"/>
            <p14:sldId id="260"/>
            <p14:sldId id="261"/>
            <p14:sldId id="262"/>
            <p14:sldId id="265"/>
            <p14:sldId id="269"/>
            <p14:sldId id="270"/>
            <p14:sldId id="271"/>
            <p14:sldId id="272"/>
            <p14:sldId id="263"/>
            <p14:sldId id="273"/>
            <p14:sldId id="274"/>
            <p14:sldId id="264"/>
            <p14:sldId id="275"/>
            <p14:sldId id="276"/>
            <p14:sldId id="277"/>
            <p14:sldId id="266"/>
            <p14:sldId id="278"/>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67" d="100"/>
          <a:sy n="67"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5BF443-E6B3-4596-8939-4D173DDBF1C6}" type="datetimeFigureOut">
              <a:rPr lang="en-IN" smtClean="0"/>
              <a:t>12-08-2026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1148A-5E98-450B-BF1B-149F5227614C}" type="slidenum">
              <a:rPr lang="en-IN" smtClean="0"/>
              <a:t>‹#›</a:t>
            </a:fld>
            <a:endParaRPr lang="en-IN"/>
          </a:p>
        </p:txBody>
      </p:sp>
    </p:spTree>
    <p:extLst>
      <p:ext uri="{BB962C8B-B14F-4D97-AF65-F5344CB8AC3E}">
        <p14:creationId xmlns:p14="http://schemas.microsoft.com/office/powerpoint/2010/main" val="1416394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11148A-5E98-450B-BF1B-149F5227614C}" type="slidenum">
              <a:rPr lang="en-IN" smtClean="0"/>
              <a:t>9</a:t>
            </a:fld>
            <a:endParaRPr lang="en-IN"/>
          </a:p>
        </p:txBody>
      </p:sp>
    </p:spTree>
    <p:extLst>
      <p:ext uri="{BB962C8B-B14F-4D97-AF65-F5344CB8AC3E}">
        <p14:creationId xmlns:p14="http://schemas.microsoft.com/office/powerpoint/2010/main" val="2805694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07BD8-5B53-FC41-5F27-444B40FECE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0ED2A8-20ED-419A-E5E1-121F02DDC2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05CA1-2E30-B520-7519-6D9F1761A85E}"/>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C5F00A27-C3FB-A2CE-885B-63A3E1968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B4C283-4053-8AE1-300F-D59310BC5CAD}"/>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3328628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7E12-C3EA-8A08-6BA1-AC8E952D73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EC0FDD-2BA7-9708-F21A-51FE058552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D9590-B6BE-F701-77B8-B9E6813CA82D}"/>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690E9003-3426-1627-8C66-53041A7FCC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6A6B62-BC3F-E755-BD5F-AFFC4D998E1C}"/>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920123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64D5-6A6D-B78D-2C46-101B3951B0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3DDDC-8DA4-73BE-C7C6-4675E2CD3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B56D58-C6EB-920A-126B-632FB90AF5F2}"/>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189F8136-B0DE-D11B-7F94-4CC2953DBC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06093-C90D-64A3-C008-26B63EFE5056}"/>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830374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1445-E87E-D61B-F7D2-F0AD0E7759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D860F1-8BB5-F13E-6DC3-A448BDAC80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B52A08-99D9-241A-7B1B-3D9C886C55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9D19A5-28F7-5F74-01A4-0294D1B66D0E}"/>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6" name="Footer Placeholder 5">
            <a:extLst>
              <a:ext uri="{FF2B5EF4-FFF2-40B4-BE49-F238E27FC236}">
                <a16:creationId xmlns:a16="http://schemas.microsoft.com/office/drawing/2014/main" id="{BDBE93FB-9AE5-17BE-6DA9-060E72EB40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CCEE4-4418-9D3D-A704-038F509017CD}"/>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793658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ACDDA-ECD7-3823-A3A8-B615288433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F81B48-21D4-6E91-4C72-4C349D0CD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374CF-73F2-4BC9-E5DA-98931D584E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DC316A-30D5-919A-95F5-E434C3EF8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20B9A0-D503-96A8-6C45-A589ABF196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E28BB4-BCE8-1233-DD68-9D07F93DD1C7}"/>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8" name="Footer Placeholder 7">
            <a:extLst>
              <a:ext uri="{FF2B5EF4-FFF2-40B4-BE49-F238E27FC236}">
                <a16:creationId xmlns:a16="http://schemas.microsoft.com/office/drawing/2014/main" id="{1492321A-1FCE-8F8D-8064-092BD0413D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3C9E0B-7F20-6341-5362-1DEF4DC61415}"/>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02909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2BAF-8963-FDCB-4858-B9DF335E76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81B636-DE4F-BABF-35A4-A2DF3AC89D63}"/>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4" name="Footer Placeholder 3">
            <a:extLst>
              <a:ext uri="{FF2B5EF4-FFF2-40B4-BE49-F238E27FC236}">
                <a16:creationId xmlns:a16="http://schemas.microsoft.com/office/drawing/2014/main" id="{53A87749-4E45-2AF3-B142-B9B705C5C0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B86ADC-339A-9428-6A87-B1CEBE3A8445}"/>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769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D66F27-B197-F099-8D99-6FB7375DC80C}"/>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3" name="Footer Placeholder 2">
            <a:extLst>
              <a:ext uri="{FF2B5EF4-FFF2-40B4-BE49-F238E27FC236}">
                <a16:creationId xmlns:a16="http://schemas.microsoft.com/office/drawing/2014/main" id="{81108BB6-541D-441B-2650-1D59478DA5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5C9A84-F893-5C10-8811-EB8E49997347}"/>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948794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EFDF-C099-174B-941A-DB3154B5E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B564B8-73B8-7DF9-9302-95DF3CE1C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80D510-4885-9609-BF7A-96F5A2F4C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F5D98C-7C4A-14C0-DF5E-DD4571DC92B1}"/>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6" name="Footer Placeholder 5">
            <a:extLst>
              <a:ext uri="{FF2B5EF4-FFF2-40B4-BE49-F238E27FC236}">
                <a16:creationId xmlns:a16="http://schemas.microsoft.com/office/drawing/2014/main" id="{B4A2E426-C9B1-B298-8C9C-30A576730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B407F2-69A6-89AC-2924-85B56962E593}"/>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475891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15081-2E71-1995-CE79-A7019A71D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8FB051-4B45-D169-1C16-C9BD62336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A56BA0-CAD9-55CC-5E10-7F6FC8E06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1A488-C160-5ADC-D574-4496FF8C355C}"/>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6" name="Footer Placeholder 5">
            <a:extLst>
              <a:ext uri="{FF2B5EF4-FFF2-40B4-BE49-F238E27FC236}">
                <a16:creationId xmlns:a16="http://schemas.microsoft.com/office/drawing/2014/main" id="{174925CF-1714-13EA-6CF5-721AA7CE11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F6C79C-6811-E7E1-C42D-A7FEB93385DC}"/>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802880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D06D-12DC-A41B-FDB5-3FDE88356B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5C25D1-7507-6963-1B91-17802C255B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3AB047-52C5-02BB-B26A-8737F2AAED30}"/>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6968BDE7-4784-5087-AB05-C25AA4B0A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75E57-59C1-DC7E-26D6-139F509785FE}"/>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61562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74B849-E579-63ED-A79C-B22A6E176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6BCBA0-A150-D62A-53C6-6ADC735F9B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BD0A77-A65F-5953-08EF-D9D421A3F331}"/>
              </a:ext>
            </a:extLst>
          </p:cNvPr>
          <p:cNvSpPr>
            <a:spLocks noGrp="1"/>
          </p:cNvSpPr>
          <p:nvPr>
            <p:ph type="dt" sz="half" idx="10"/>
          </p:nvPr>
        </p:nvSpPr>
        <p:spPr/>
        <p:txBody>
          <a:body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5495BCA9-21A1-5BB7-8AB2-AD2D7DDD24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101FCD-34F3-C69E-FDBE-FF39C9EEE844}"/>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29813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97358-6716-FD64-6F93-FACDD0518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C7811E-9E5A-226A-C54D-EB2A090AFC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A0CEAE-8C4B-357B-097D-076193262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E9C0F1-D1F8-4452-9ED4-054395D95B2B}" type="datetimeFigureOut">
              <a:rPr lang="en-IN" smtClean="0"/>
              <a:t>12-08-2026</a:t>
            </a:fld>
            <a:endParaRPr lang="en-IN"/>
          </a:p>
        </p:txBody>
      </p:sp>
      <p:sp>
        <p:nvSpPr>
          <p:cNvPr id="5" name="Footer Placeholder 4">
            <a:extLst>
              <a:ext uri="{FF2B5EF4-FFF2-40B4-BE49-F238E27FC236}">
                <a16:creationId xmlns:a16="http://schemas.microsoft.com/office/drawing/2014/main" id="{37240D4D-8323-9B0F-8C68-8B47445544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4C527D-217A-B91A-C7C9-63B4384A4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675A51-CF56-4F8D-A249-92CD8C9A6430}" type="slidenum">
              <a:rPr lang="en-IN" smtClean="0"/>
              <a:t>‹#›</a:t>
            </a:fld>
            <a:endParaRPr lang="en-IN"/>
          </a:p>
        </p:txBody>
      </p:sp>
    </p:spTree>
    <p:extLst>
      <p:ext uri="{BB962C8B-B14F-4D97-AF65-F5344CB8AC3E}">
        <p14:creationId xmlns:p14="http://schemas.microsoft.com/office/powerpoint/2010/main" val="141697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learn.microsoft.com/en-us/credentials/certifications/azure-administrato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16905-2D36-125C-67BD-E0C1AE8B7227}"/>
              </a:ext>
            </a:extLst>
          </p:cNvPr>
          <p:cNvSpPr>
            <a:spLocks noGrp="1"/>
          </p:cNvSpPr>
          <p:nvPr>
            <p:ph type="ctrTitle"/>
          </p:nvPr>
        </p:nvSpPr>
        <p:spPr>
          <a:xfrm>
            <a:off x="1524000" y="1122363"/>
            <a:ext cx="9144000" cy="1835990"/>
          </a:xfrm>
        </p:spPr>
        <p:txBody>
          <a:bodyPr>
            <a:normAutofit/>
          </a:bodyPr>
          <a:lstStyle/>
          <a:p>
            <a:r>
              <a:rPr lang="en-IN" sz="4000" b="1" dirty="0">
                <a:latin typeface="Times New Roman" panose="02020603050405020304" pitchFamily="18" charset="0"/>
                <a:cs typeface="Times New Roman" panose="02020603050405020304" pitchFamily="18" charset="0"/>
              </a:rPr>
              <a:t>Microsoft Azure Administrator Associate (</a:t>
            </a:r>
            <a:r>
              <a:rPr lang="en-IN" sz="4000" b="1" dirty="0">
                <a:latin typeface="Times New Roman" panose="02020603050405020304" pitchFamily="18" charset="0"/>
                <a:cs typeface="Times New Roman" panose="02020603050405020304" pitchFamily="18" charset="0"/>
                <a:hlinkClick r:id="rId2"/>
              </a:rPr>
              <a:t>AZ-104</a:t>
            </a:r>
            <a:r>
              <a:rPr lang="en-IN" sz="40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F8BDAFDB-0A5F-1843-F9B5-F3967976EE4C}"/>
              </a:ext>
            </a:extLst>
          </p:cNvPr>
          <p:cNvSpPr>
            <a:spLocks noGrp="1"/>
          </p:cNvSpPr>
          <p:nvPr>
            <p:ph type="subTitle" idx="1"/>
          </p:nvPr>
        </p:nvSpPr>
        <p:spPr/>
        <p:txBody>
          <a:bodyPr/>
          <a:lstStyle/>
          <a:p>
            <a:r>
              <a:rPr lang="en-IN" b="1" dirty="0"/>
              <a:t>SESSION-3</a:t>
            </a:r>
          </a:p>
          <a:p>
            <a:endParaRPr lang="en-IN" b="1" dirty="0"/>
          </a:p>
          <a:p>
            <a:endParaRPr lang="en-IN" b="1" dirty="0"/>
          </a:p>
          <a:p>
            <a:endParaRPr lang="en-IN" b="1" dirty="0"/>
          </a:p>
        </p:txBody>
      </p:sp>
      <p:pic>
        <p:nvPicPr>
          <p:cNvPr id="5" name="Picture 4">
            <a:extLst>
              <a:ext uri="{FF2B5EF4-FFF2-40B4-BE49-F238E27FC236}">
                <a16:creationId xmlns:a16="http://schemas.microsoft.com/office/drawing/2014/main" id="{C493B83B-E366-88FF-DD03-1037997C4FAB}"/>
              </a:ext>
            </a:extLst>
          </p:cNvPr>
          <p:cNvPicPr>
            <a:picLocks noChangeAspect="1"/>
          </p:cNvPicPr>
          <p:nvPr/>
        </p:nvPicPr>
        <p:blipFill>
          <a:blip r:embed="rId3"/>
          <a:stretch>
            <a:fillRect/>
          </a:stretch>
        </p:blipFill>
        <p:spPr>
          <a:xfrm>
            <a:off x="0" y="55880"/>
            <a:ext cx="2054711" cy="563880"/>
          </a:xfrm>
          <a:prstGeom prst="rect">
            <a:avLst/>
          </a:prstGeom>
        </p:spPr>
      </p:pic>
    </p:spTree>
    <p:extLst>
      <p:ext uri="{BB962C8B-B14F-4D97-AF65-F5344CB8AC3E}">
        <p14:creationId xmlns:p14="http://schemas.microsoft.com/office/powerpoint/2010/main" val="2202113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462C-6F5F-BCB5-18C1-CF66E8D8B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6867C-4A4A-27FB-5564-FDB92D74EAFD}"/>
              </a:ext>
            </a:extLst>
          </p:cNvPr>
          <p:cNvSpPr>
            <a:spLocks noGrp="1"/>
          </p:cNvSpPr>
          <p:nvPr>
            <p:ph type="ctrTitle"/>
          </p:nvPr>
        </p:nvSpPr>
        <p:spPr>
          <a:xfrm>
            <a:off x="1524000" y="1122363"/>
            <a:ext cx="6909995" cy="563880"/>
          </a:xfrm>
        </p:spPr>
        <p:txBody>
          <a:bodyPr>
            <a:normAutofit fontScale="90000"/>
          </a:bodyPr>
          <a:lstStyle/>
          <a:p>
            <a:r>
              <a:rPr lang="en-US" sz="4000" b="1" dirty="0">
                <a:latin typeface="Times New Roman" panose="02020603050405020304" pitchFamily="18" charset="0"/>
                <a:cs typeface="Times New Roman" panose="02020603050405020304" pitchFamily="18" charset="0"/>
              </a:rPr>
              <a:t>TASK 3</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1AB1C62-CC8C-3F6E-278D-6EF7EB8D1049}"/>
              </a:ext>
            </a:extLst>
          </p:cNvPr>
          <p:cNvSpPr>
            <a:spLocks noGrp="1"/>
          </p:cNvSpPr>
          <p:nvPr>
            <p:ph type="subTitle" idx="1"/>
          </p:nvPr>
        </p:nvSpPr>
        <p:spPr>
          <a:xfrm>
            <a:off x="1739152" y="2188846"/>
            <a:ext cx="9144000" cy="2538683"/>
          </a:xfrm>
        </p:spPr>
        <p:txBody>
          <a:bodyPr/>
          <a:lstStyle/>
          <a:p>
            <a:pPr algn="l"/>
            <a:r>
              <a:rPr lang="en-US" b="1" dirty="0"/>
              <a:t>1. Deploy resource to existing Resource Group  </a:t>
            </a:r>
          </a:p>
          <a:p>
            <a:pPr algn="l"/>
            <a:r>
              <a:rPr lang="en-US" b="1" dirty="0"/>
              <a:t>2. Move resource between Resource Groups  </a:t>
            </a:r>
          </a:p>
          <a:p>
            <a:pPr algn="l"/>
            <a:r>
              <a:rPr lang="en-US" b="1" dirty="0"/>
              <a:t>3. Implement and test Resource Lock</a:t>
            </a:r>
            <a:endParaRPr lang="en-IN" b="1" dirty="0"/>
          </a:p>
          <a:p>
            <a:pPr algn="l"/>
            <a:endParaRPr lang="en-IN" b="1" dirty="0"/>
          </a:p>
          <a:p>
            <a:endParaRPr lang="en-IN" b="1" dirty="0"/>
          </a:p>
        </p:txBody>
      </p:sp>
      <p:pic>
        <p:nvPicPr>
          <p:cNvPr id="5" name="Picture 4">
            <a:extLst>
              <a:ext uri="{FF2B5EF4-FFF2-40B4-BE49-F238E27FC236}">
                <a16:creationId xmlns:a16="http://schemas.microsoft.com/office/drawing/2014/main" id="{E4AE321A-E42B-7BF8-0088-DD9EB0533815}"/>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3030056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96110-09AA-C65C-2B4D-6BC508E1862D}"/>
              </a:ext>
            </a:extLst>
          </p:cNvPr>
          <p:cNvSpPr>
            <a:spLocks noGrp="1"/>
          </p:cNvSpPr>
          <p:nvPr>
            <p:ph type="title"/>
          </p:nvPr>
        </p:nvSpPr>
        <p:spPr/>
        <p:txBody>
          <a:bodyPr/>
          <a:lstStyle/>
          <a:p>
            <a:r>
              <a:rPr lang="en-US" dirty="0"/>
              <a:t>Task introduction</a:t>
            </a:r>
            <a:endParaRPr lang="en-IN" dirty="0"/>
          </a:p>
        </p:txBody>
      </p:sp>
      <p:sp>
        <p:nvSpPr>
          <p:cNvPr id="3" name="Content Placeholder 2">
            <a:extLst>
              <a:ext uri="{FF2B5EF4-FFF2-40B4-BE49-F238E27FC236}">
                <a16:creationId xmlns:a16="http://schemas.microsoft.com/office/drawing/2014/main" id="{9FF3476B-BA9D-2F46-3609-B32A34E60636}"/>
              </a:ext>
            </a:extLst>
          </p:cNvPr>
          <p:cNvSpPr>
            <a:spLocks noGrp="1"/>
          </p:cNvSpPr>
          <p:nvPr>
            <p:ph idx="1"/>
          </p:nvPr>
        </p:nvSpPr>
        <p:spPr>
          <a:xfrm>
            <a:off x="838200" y="1538344"/>
            <a:ext cx="10515600" cy="4638619"/>
          </a:xfrm>
        </p:spPr>
        <p:txBody>
          <a:bodyPr/>
          <a:lstStyle/>
          <a:p>
            <a:r>
              <a:rPr lang="en-US" dirty="0"/>
              <a:t>In this Task, you deploy a resource into an existing resource group, move a resource between resource groups, and implement and test a resource lock. This task requires an Azure subscription (a free trial or pay-as-you-go subscription works). Steps are written using East US, but you may change the region.</a:t>
            </a:r>
            <a:endParaRPr lang="en-IN" dirty="0"/>
          </a:p>
        </p:txBody>
      </p:sp>
    </p:spTree>
    <p:extLst>
      <p:ext uri="{BB962C8B-B14F-4D97-AF65-F5344CB8AC3E}">
        <p14:creationId xmlns:p14="http://schemas.microsoft.com/office/powerpoint/2010/main" val="3301122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3EA9E-E8A8-2DAC-7EA1-1F6BA1BC0A77}"/>
              </a:ext>
            </a:extLst>
          </p:cNvPr>
          <p:cNvSpPr>
            <a:spLocks noGrp="1"/>
          </p:cNvSpPr>
          <p:nvPr>
            <p:ph type="title"/>
          </p:nvPr>
        </p:nvSpPr>
        <p:spPr>
          <a:xfrm>
            <a:off x="1247886" y="699247"/>
            <a:ext cx="10105913" cy="991441"/>
          </a:xfrm>
        </p:spPr>
        <p:txBody>
          <a:bodyPr>
            <a:normAutofit fontScale="90000"/>
          </a:bodyPr>
          <a:lstStyle/>
          <a:p>
            <a:r>
              <a:rPr lang="en-IN" b="1" dirty="0"/>
              <a:t>Resource Groups</a:t>
            </a:r>
            <a:br>
              <a:rPr lang="en-IN" b="1" dirty="0"/>
            </a:br>
            <a:endParaRPr lang="en-IN" dirty="0"/>
          </a:p>
        </p:txBody>
      </p:sp>
      <p:sp>
        <p:nvSpPr>
          <p:cNvPr id="3" name="Content Placeholder 2">
            <a:extLst>
              <a:ext uri="{FF2B5EF4-FFF2-40B4-BE49-F238E27FC236}">
                <a16:creationId xmlns:a16="http://schemas.microsoft.com/office/drawing/2014/main" id="{C54C4B86-9BCC-C56B-AE52-F957A92495A9}"/>
              </a:ext>
            </a:extLst>
          </p:cNvPr>
          <p:cNvSpPr>
            <a:spLocks noGrp="1"/>
          </p:cNvSpPr>
          <p:nvPr>
            <p:ph idx="1"/>
          </p:nvPr>
        </p:nvSpPr>
        <p:spPr>
          <a:xfrm>
            <a:off x="838200" y="1253331"/>
            <a:ext cx="10515600" cy="4351338"/>
          </a:xfrm>
        </p:spPr>
        <p:txBody>
          <a:bodyPr/>
          <a:lstStyle/>
          <a:p>
            <a:r>
              <a:rPr lang="en-IN" dirty="0"/>
              <a:t>A </a:t>
            </a:r>
            <a:r>
              <a:rPr lang="en-IN" b="1" dirty="0"/>
              <a:t>Resource Group (RG)</a:t>
            </a:r>
            <a:r>
              <a:rPr lang="en-IN" dirty="0"/>
              <a:t> is a logical container used to organize and manage related Azure resources.</a:t>
            </a:r>
          </a:p>
          <a:p>
            <a:r>
              <a:rPr lang="en-IN" b="1" dirty="0"/>
              <a:t>Examples of </a:t>
            </a:r>
            <a:r>
              <a:rPr lang="en-IN" b="1" dirty="0" err="1"/>
              <a:t>resources:</a:t>
            </a:r>
            <a:r>
              <a:rPr lang="en-IN" dirty="0" err="1"/>
              <a:t>Virtual</a:t>
            </a:r>
            <a:r>
              <a:rPr lang="en-IN" dirty="0"/>
              <a:t> Machine ,Storage Account ,Virtual Network ,Network Security Group ,Azure Database</a:t>
            </a:r>
          </a:p>
          <a:p>
            <a:endParaRPr lang="en-IN" dirty="0"/>
          </a:p>
          <a:p>
            <a:endParaRPr lang="en-IN" dirty="0"/>
          </a:p>
        </p:txBody>
      </p:sp>
      <p:pic>
        <p:nvPicPr>
          <p:cNvPr id="5" name="Picture 4">
            <a:extLst>
              <a:ext uri="{FF2B5EF4-FFF2-40B4-BE49-F238E27FC236}">
                <a16:creationId xmlns:a16="http://schemas.microsoft.com/office/drawing/2014/main" id="{3BEF4A4E-E1DB-3251-9F04-36AEE83C6D48}"/>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462753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6CC3-C43E-4CC1-11E8-91384ECE2210}"/>
              </a:ext>
            </a:extLst>
          </p:cNvPr>
          <p:cNvSpPr>
            <a:spLocks noGrp="1"/>
          </p:cNvSpPr>
          <p:nvPr>
            <p:ph type="title"/>
          </p:nvPr>
        </p:nvSpPr>
        <p:spPr>
          <a:xfrm>
            <a:off x="1118794" y="1000461"/>
            <a:ext cx="10235005" cy="690227"/>
          </a:xfrm>
        </p:spPr>
        <p:txBody>
          <a:bodyPr>
            <a:normAutofit fontScale="90000"/>
          </a:bodyPr>
          <a:lstStyle/>
          <a:p>
            <a:r>
              <a:rPr lang="en-IN" b="1" dirty="0"/>
              <a:t>Key points</a:t>
            </a:r>
            <a:br>
              <a:rPr lang="en-IN" b="1" dirty="0"/>
            </a:br>
            <a:endParaRPr lang="en-IN" dirty="0"/>
          </a:p>
        </p:txBody>
      </p:sp>
      <p:sp>
        <p:nvSpPr>
          <p:cNvPr id="3" name="Content Placeholder 2">
            <a:extLst>
              <a:ext uri="{FF2B5EF4-FFF2-40B4-BE49-F238E27FC236}">
                <a16:creationId xmlns:a16="http://schemas.microsoft.com/office/drawing/2014/main" id="{1D210EFA-164E-31E2-3B90-5E09AE648E19}"/>
              </a:ext>
            </a:extLst>
          </p:cNvPr>
          <p:cNvSpPr>
            <a:spLocks noGrp="1"/>
          </p:cNvSpPr>
          <p:nvPr>
            <p:ph idx="1"/>
          </p:nvPr>
        </p:nvSpPr>
        <p:spPr/>
        <p:txBody>
          <a:bodyPr/>
          <a:lstStyle/>
          <a:p>
            <a:pPr lvl="0"/>
            <a:r>
              <a:rPr lang="en-IN" dirty="0"/>
              <a:t>A resource must belong to one Resource Group. </a:t>
            </a:r>
          </a:p>
          <a:p>
            <a:pPr lvl="0"/>
            <a:r>
              <a:rPr lang="en-IN" dirty="0"/>
              <a:t>A Resource Group can contain multiple resources. </a:t>
            </a:r>
          </a:p>
          <a:p>
            <a:pPr lvl="0"/>
            <a:r>
              <a:rPr lang="en-IN" dirty="0"/>
              <a:t>Resources in an RG can be managed together. </a:t>
            </a:r>
          </a:p>
          <a:p>
            <a:pPr lvl="0"/>
            <a:r>
              <a:rPr lang="en-IN" dirty="0"/>
              <a:t>Resource Groups are not physical locations. </a:t>
            </a:r>
          </a:p>
          <a:p>
            <a:pPr lvl="0"/>
            <a:r>
              <a:rPr lang="en-IN" dirty="0"/>
              <a:t>An RG has a location for storing its metadata, but resources can sometimes have different regions.</a:t>
            </a:r>
          </a:p>
          <a:p>
            <a:endParaRPr lang="en-IN" dirty="0"/>
          </a:p>
        </p:txBody>
      </p:sp>
      <p:pic>
        <p:nvPicPr>
          <p:cNvPr id="5" name="Picture 4">
            <a:extLst>
              <a:ext uri="{FF2B5EF4-FFF2-40B4-BE49-F238E27FC236}">
                <a16:creationId xmlns:a16="http://schemas.microsoft.com/office/drawing/2014/main" id="{B93D23A6-592B-F066-A636-359C6C6B7C63}"/>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903329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954F-9100-700C-09C0-91D813FB8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87B93-E7F1-9337-1367-8D48E7B8A047}"/>
              </a:ext>
            </a:extLst>
          </p:cNvPr>
          <p:cNvSpPr>
            <a:spLocks noGrp="1"/>
          </p:cNvSpPr>
          <p:nvPr>
            <p:ph type="title"/>
          </p:nvPr>
        </p:nvSpPr>
        <p:spPr>
          <a:xfrm>
            <a:off x="1118794" y="1000461"/>
            <a:ext cx="10235005" cy="690227"/>
          </a:xfrm>
        </p:spPr>
        <p:txBody>
          <a:bodyPr>
            <a:normAutofit fontScale="90000"/>
          </a:bodyPr>
          <a:lstStyle/>
          <a:p>
            <a:r>
              <a:rPr lang="en-IN" b="1" dirty="0"/>
              <a:t>Key points</a:t>
            </a:r>
            <a:br>
              <a:rPr lang="en-IN" b="1" dirty="0"/>
            </a:br>
            <a:endParaRPr lang="en-IN" dirty="0"/>
          </a:p>
        </p:txBody>
      </p:sp>
      <p:sp>
        <p:nvSpPr>
          <p:cNvPr id="3" name="Content Placeholder 2">
            <a:extLst>
              <a:ext uri="{FF2B5EF4-FFF2-40B4-BE49-F238E27FC236}">
                <a16:creationId xmlns:a16="http://schemas.microsoft.com/office/drawing/2014/main" id="{BF93DE1B-9742-946B-76EC-12E58F2567A9}"/>
              </a:ext>
            </a:extLst>
          </p:cNvPr>
          <p:cNvSpPr>
            <a:spLocks noGrp="1"/>
          </p:cNvSpPr>
          <p:nvPr>
            <p:ph idx="1"/>
          </p:nvPr>
        </p:nvSpPr>
        <p:spPr/>
        <p:txBody>
          <a:bodyPr/>
          <a:lstStyle/>
          <a:p>
            <a:pPr lvl="0"/>
            <a:r>
              <a:rPr lang="en-IN" dirty="0"/>
              <a:t>A resource must belong to one Resource Group. </a:t>
            </a:r>
          </a:p>
          <a:p>
            <a:pPr lvl="0"/>
            <a:r>
              <a:rPr lang="en-IN" dirty="0"/>
              <a:t>A Resource Group can contain multiple resources. </a:t>
            </a:r>
          </a:p>
          <a:p>
            <a:pPr lvl="0"/>
            <a:r>
              <a:rPr lang="en-IN" dirty="0"/>
              <a:t>Resources in an RG can be managed together. </a:t>
            </a:r>
          </a:p>
          <a:p>
            <a:pPr lvl="0"/>
            <a:r>
              <a:rPr lang="en-IN" dirty="0"/>
              <a:t>Resource Groups are not physical locations. </a:t>
            </a:r>
          </a:p>
          <a:p>
            <a:pPr lvl="0"/>
            <a:r>
              <a:rPr lang="en-IN" dirty="0"/>
              <a:t>An RG has a location for storing its metadata, but resources can sometimes have different regions.</a:t>
            </a:r>
          </a:p>
          <a:p>
            <a:endParaRPr lang="en-IN" dirty="0"/>
          </a:p>
        </p:txBody>
      </p:sp>
      <p:pic>
        <p:nvPicPr>
          <p:cNvPr id="5" name="Picture 4">
            <a:extLst>
              <a:ext uri="{FF2B5EF4-FFF2-40B4-BE49-F238E27FC236}">
                <a16:creationId xmlns:a16="http://schemas.microsoft.com/office/drawing/2014/main" id="{6820DAD6-2065-013F-B588-C317DC5EF696}"/>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137144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1B5C3-6CCD-E12F-2268-B5AF4E19F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57AB2-F46A-E44D-4939-B885319C1F1E}"/>
              </a:ext>
            </a:extLst>
          </p:cNvPr>
          <p:cNvSpPr>
            <a:spLocks noGrp="1"/>
          </p:cNvSpPr>
          <p:nvPr>
            <p:ph type="title"/>
          </p:nvPr>
        </p:nvSpPr>
        <p:spPr>
          <a:xfrm>
            <a:off x="1118794" y="1000461"/>
            <a:ext cx="10235005" cy="690227"/>
          </a:xfrm>
        </p:spPr>
        <p:txBody>
          <a:bodyPr>
            <a:normAutofit fontScale="90000"/>
          </a:bodyPr>
          <a:lstStyle/>
          <a:p>
            <a:r>
              <a:rPr lang="en-IN" b="1" dirty="0"/>
              <a:t>Moving Resources</a:t>
            </a:r>
            <a:br>
              <a:rPr lang="en-IN" b="1" dirty="0"/>
            </a:br>
            <a:endParaRPr lang="en-IN" dirty="0"/>
          </a:p>
        </p:txBody>
      </p:sp>
      <p:sp>
        <p:nvSpPr>
          <p:cNvPr id="3" name="Content Placeholder 2">
            <a:extLst>
              <a:ext uri="{FF2B5EF4-FFF2-40B4-BE49-F238E27FC236}">
                <a16:creationId xmlns:a16="http://schemas.microsoft.com/office/drawing/2014/main" id="{BE34DB7B-AC4D-5932-1481-9186FEA8A182}"/>
              </a:ext>
            </a:extLst>
          </p:cNvPr>
          <p:cNvSpPr>
            <a:spLocks noGrp="1"/>
          </p:cNvSpPr>
          <p:nvPr>
            <p:ph idx="1"/>
          </p:nvPr>
        </p:nvSpPr>
        <p:spPr/>
        <p:txBody>
          <a:bodyPr>
            <a:normAutofit fontScale="92500" lnSpcReduction="10000"/>
          </a:bodyPr>
          <a:lstStyle/>
          <a:p>
            <a:r>
              <a:rPr lang="en-IN" dirty="0"/>
              <a:t>Azure allows supported resources to be moved:</a:t>
            </a:r>
          </a:p>
          <a:p>
            <a:r>
              <a:rPr lang="en-IN" b="1" dirty="0"/>
              <a:t>Resource Group → Resource Group</a:t>
            </a:r>
            <a:endParaRPr lang="en-IN" dirty="0"/>
          </a:p>
          <a:p>
            <a:r>
              <a:rPr lang="en-IN" dirty="0"/>
              <a:t>and, for supported resources:</a:t>
            </a:r>
          </a:p>
          <a:p>
            <a:r>
              <a:rPr lang="en-IN" b="1" dirty="0"/>
              <a:t>Subscription → Subscription</a:t>
            </a:r>
          </a:p>
          <a:p>
            <a:pPr lvl="0"/>
            <a:r>
              <a:rPr lang="en-IN" dirty="0"/>
              <a:t>Moving a resource </a:t>
            </a:r>
            <a:r>
              <a:rPr lang="en-IN" b="1" dirty="0"/>
              <a:t>does not change its Azure region</a:t>
            </a:r>
            <a:r>
              <a:rPr lang="en-IN" dirty="0"/>
              <a:t>. </a:t>
            </a:r>
          </a:p>
          <a:p>
            <a:pPr lvl="0"/>
            <a:r>
              <a:rPr lang="en-IN" dirty="0"/>
              <a:t>The resource's </a:t>
            </a:r>
            <a:r>
              <a:rPr lang="en-IN" b="1" dirty="0"/>
              <a:t>Resource ID changes</a:t>
            </a:r>
            <a:r>
              <a:rPr lang="en-IN" dirty="0"/>
              <a:t> because the Resource Group is part of the ID. </a:t>
            </a:r>
          </a:p>
          <a:p>
            <a:pPr lvl="0"/>
            <a:r>
              <a:rPr lang="en-IN" dirty="0"/>
              <a:t>Not every Azure resource supports moving. </a:t>
            </a:r>
          </a:p>
          <a:p>
            <a:pPr lvl="0"/>
            <a:r>
              <a:rPr lang="en-IN" dirty="0"/>
              <a:t>Dependencies may also need to be considered. </a:t>
            </a:r>
          </a:p>
          <a:p>
            <a:pPr lvl="0"/>
            <a:r>
              <a:rPr lang="en-IN" dirty="0"/>
              <a:t>Resource locks can prevent a move.</a:t>
            </a:r>
          </a:p>
          <a:p>
            <a:endParaRPr lang="en-IN" dirty="0"/>
          </a:p>
          <a:p>
            <a:pPr marL="0" indent="0">
              <a:buNone/>
            </a:pPr>
            <a:endParaRPr lang="en-IN" dirty="0"/>
          </a:p>
        </p:txBody>
      </p:sp>
      <p:pic>
        <p:nvPicPr>
          <p:cNvPr id="5" name="Picture 4">
            <a:extLst>
              <a:ext uri="{FF2B5EF4-FFF2-40B4-BE49-F238E27FC236}">
                <a16:creationId xmlns:a16="http://schemas.microsoft.com/office/drawing/2014/main" id="{058C4E74-B875-06D6-E75A-04E723859CDA}"/>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689323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D436-5AE2-D14F-0D54-B9071AF08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CBB9A-F97C-3345-B0AD-A356FFE1FA2E}"/>
              </a:ext>
            </a:extLst>
          </p:cNvPr>
          <p:cNvSpPr>
            <a:spLocks noGrp="1"/>
          </p:cNvSpPr>
          <p:nvPr>
            <p:ph type="title"/>
          </p:nvPr>
        </p:nvSpPr>
        <p:spPr>
          <a:xfrm>
            <a:off x="1118794" y="1000461"/>
            <a:ext cx="10235005" cy="690227"/>
          </a:xfrm>
        </p:spPr>
        <p:txBody>
          <a:bodyPr>
            <a:normAutofit fontScale="90000"/>
          </a:bodyPr>
          <a:lstStyle/>
          <a:p>
            <a:br>
              <a:rPr lang="en-IN" b="1" dirty="0"/>
            </a:br>
            <a:br>
              <a:rPr lang="en-IN" b="1" dirty="0"/>
            </a:br>
            <a:r>
              <a:rPr lang="en-IN" b="1" dirty="0"/>
              <a:t>Resource Locks</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CC49CC0E-4C6F-81F5-4AD8-8D3B32771B3B}"/>
              </a:ext>
            </a:extLst>
          </p:cNvPr>
          <p:cNvSpPr>
            <a:spLocks noGrp="1"/>
          </p:cNvSpPr>
          <p:nvPr>
            <p:ph idx="1"/>
          </p:nvPr>
        </p:nvSpPr>
        <p:spPr/>
        <p:txBody>
          <a:bodyPr>
            <a:normAutofit/>
          </a:bodyPr>
          <a:lstStyle/>
          <a:p>
            <a:endParaRPr lang="en-IN" dirty="0"/>
          </a:p>
          <a:p>
            <a:r>
              <a:rPr lang="en-IN" dirty="0"/>
              <a:t>Resource locks protect Azure resources from accidental changes or deletion.</a:t>
            </a:r>
          </a:p>
          <a:p>
            <a:pPr marL="0" indent="0">
              <a:buNone/>
            </a:pPr>
            <a:r>
              <a:rPr lang="en-IN" dirty="0"/>
              <a:t>There are </a:t>
            </a:r>
            <a:r>
              <a:rPr lang="en-IN" b="1" dirty="0"/>
              <a:t>two main lock types</a:t>
            </a:r>
            <a:r>
              <a:rPr lang="en-IN" dirty="0"/>
              <a:t>:</a:t>
            </a:r>
          </a:p>
          <a:p>
            <a:r>
              <a:rPr lang="en-IN" b="1" dirty="0"/>
              <a:t>Delete / </a:t>
            </a:r>
            <a:r>
              <a:rPr lang="en-IN" b="1" dirty="0" err="1"/>
              <a:t>CanNotDelete:</a:t>
            </a:r>
            <a:r>
              <a:rPr lang="en-IN" dirty="0" err="1"/>
              <a:t>Use</a:t>
            </a:r>
            <a:r>
              <a:rPr lang="en-IN" dirty="0"/>
              <a:t> when you want users to continue modifying a resource but </a:t>
            </a:r>
            <a:r>
              <a:rPr lang="en-IN" b="1" dirty="0"/>
              <a:t>prevent deletion</a:t>
            </a:r>
            <a:r>
              <a:rPr lang="en-IN" dirty="0"/>
              <a:t>.</a:t>
            </a:r>
          </a:p>
          <a:p>
            <a:r>
              <a:rPr lang="en-IN" b="1" dirty="0" err="1"/>
              <a:t>ReadOnly:</a:t>
            </a:r>
            <a:r>
              <a:rPr lang="en-IN" dirty="0" err="1"/>
              <a:t>Use</a:t>
            </a:r>
            <a:r>
              <a:rPr lang="en-IN" dirty="0"/>
              <a:t> when you want the resource to be </a:t>
            </a:r>
            <a:r>
              <a:rPr lang="en-IN" b="1" dirty="0"/>
              <a:t>read-only</a:t>
            </a:r>
            <a:r>
              <a:rPr lang="en-IN" dirty="0"/>
              <a:t>.</a:t>
            </a:r>
          </a:p>
          <a:p>
            <a:endParaRPr lang="en-IN" dirty="0"/>
          </a:p>
          <a:p>
            <a:pPr marL="0" indent="0">
              <a:buNone/>
            </a:pPr>
            <a:endParaRPr lang="en-IN" dirty="0"/>
          </a:p>
        </p:txBody>
      </p:sp>
      <p:pic>
        <p:nvPicPr>
          <p:cNvPr id="5" name="Picture 4">
            <a:extLst>
              <a:ext uri="{FF2B5EF4-FFF2-40B4-BE49-F238E27FC236}">
                <a16:creationId xmlns:a16="http://schemas.microsoft.com/office/drawing/2014/main" id="{2D2502D9-D66A-5D72-2A73-FB9BE85A0288}"/>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47682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DA08-B587-6A88-D4C1-FE9D446CD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EDCF2-1F04-88E0-F363-CA93886D325B}"/>
              </a:ext>
            </a:extLst>
          </p:cNvPr>
          <p:cNvSpPr>
            <a:spLocks noGrp="1"/>
          </p:cNvSpPr>
          <p:nvPr>
            <p:ph type="title"/>
          </p:nvPr>
        </p:nvSpPr>
        <p:spPr>
          <a:xfrm>
            <a:off x="1118794" y="1000461"/>
            <a:ext cx="10235005" cy="690227"/>
          </a:xfrm>
        </p:spPr>
        <p:txBody>
          <a:bodyPr>
            <a:normAutofit fontScale="90000"/>
          </a:bodyPr>
          <a:lstStyle/>
          <a:p>
            <a:br>
              <a:rPr lang="en-IN" b="1" dirty="0"/>
            </a:br>
            <a:br>
              <a:rPr lang="en-IN" b="1" dirty="0"/>
            </a:br>
            <a:r>
              <a:rPr lang="en-IN" b="1" dirty="0"/>
              <a:t>Resource Locks</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E93755F9-A277-85BB-6108-1A85A068B94C}"/>
              </a:ext>
            </a:extLst>
          </p:cNvPr>
          <p:cNvSpPr>
            <a:spLocks noGrp="1"/>
          </p:cNvSpPr>
          <p:nvPr>
            <p:ph idx="1"/>
          </p:nvPr>
        </p:nvSpPr>
        <p:spPr/>
        <p:txBody>
          <a:bodyPr>
            <a:normAutofit/>
          </a:bodyPr>
          <a:lstStyle/>
          <a:p>
            <a:r>
              <a:rPr lang="en-IN" dirty="0"/>
              <a:t>Resource locks protect Azure resources from accidental changes or deletion.</a:t>
            </a:r>
          </a:p>
          <a:p>
            <a:r>
              <a:rPr lang="en-IN" dirty="0"/>
              <a:t>There are </a:t>
            </a:r>
            <a:r>
              <a:rPr lang="en-IN" b="1" dirty="0"/>
              <a:t>two main lock types</a:t>
            </a:r>
            <a:r>
              <a:rPr lang="en-IN" dirty="0"/>
              <a:t>:</a:t>
            </a:r>
          </a:p>
          <a:p>
            <a:r>
              <a:rPr lang="en-IN" b="1" dirty="0"/>
              <a:t>Delete / </a:t>
            </a:r>
            <a:r>
              <a:rPr lang="en-IN" b="1" dirty="0" err="1"/>
              <a:t>CanNotDelete:</a:t>
            </a:r>
            <a:r>
              <a:rPr lang="en-IN" dirty="0" err="1"/>
              <a:t>Use</a:t>
            </a:r>
            <a:r>
              <a:rPr lang="en-IN" dirty="0"/>
              <a:t> when you want users to continue modifying a resource but </a:t>
            </a:r>
            <a:r>
              <a:rPr lang="en-IN" b="1" dirty="0"/>
              <a:t>prevent deletion</a:t>
            </a:r>
            <a:r>
              <a:rPr lang="en-IN" dirty="0"/>
              <a:t>.</a:t>
            </a:r>
          </a:p>
          <a:p>
            <a:r>
              <a:rPr lang="en-IN" b="1" dirty="0" err="1"/>
              <a:t>ReadOnly:</a:t>
            </a:r>
            <a:r>
              <a:rPr lang="en-IN" dirty="0" err="1"/>
              <a:t>Use</a:t>
            </a:r>
            <a:r>
              <a:rPr lang="en-IN" dirty="0"/>
              <a:t> when you want the resource to be </a:t>
            </a:r>
            <a:r>
              <a:rPr lang="en-IN" b="1" dirty="0"/>
              <a:t>read-only</a:t>
            </a:r>
            <a:r>
              <a:rPr lang="en-IN" dirty="0"/>
              <a:t>.</a:t>
            </a:r>
          </a:p>
          <a:p>
            <a:endParaRPr lang="en-IN" dirty="0"/>
          </a:p>
          <a:p>
            <a:endParaRPr lang="en-IN" dirty="0"/>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507D81EC-62F6-4EDB-15A0-B2BD1F12D7F3}"/>
              </a:ext>
            </a:extLst>
          </p:cNvPr>
          <p:cNvPicPr>
            <a:picLocks noChangeAspect="1"/>
          </p:cNvPicPr>
          <p:nvPr/>
        </p:nvPicPr>
        <p:blipFill>
          <a:blip r:embed="rId3"/>
          <a:stretch>
            <a:fillRect/>
          </a:stretch>
        </p:blipFill>
        <p:spPr>
          <a:xfrm>
            <a:off x="129540" y="84137"/>
            <a:ext cx="2057400" cy="561975"/>
          </a:xfrm>
          <a:prstGeom prst="rect">
            <a:avLst/>
          </a:prstGeom>
        </p:spPr>
      </p:pic>
    </p:spTree>
    <p:extLst>
      <p:ext uri="{BB962C8B-B14F-4D97-AF65-F5344CB8AC3E}">
        <p14:creationId xmlns:p14="http://schemas.microsoft.com/office/powerpoint/2010/main" val="3581953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3CDCB-716C-9D62-8530-CECF2B033473}"/>
              </a:ext>
            </a:extLst>
          </p:cNvPr>
          <p:cNvSpPr>
            <a:spLocks noGrp="1"/>
          </p:cNvSpPr>
          <p:nvPr>
            <p:ph type="title"/>
          </p:nvPr>
        </p:nvSpPr>
        <p:spPr>
          <a:xfrm>
            <a:off x="838200" y="849854"/>
            <a:ext cx="10515600" cy="840834"/>
          </a:xfrm>
        </p:spPr>
        <p:txBody>
          <a:bodyPr>
            <a:normAutofit fontScale="90000"/>
          </a:bodyPr>
          <a:lstStyle/>
          <a:p>
            <a:r>
              <a:rPr lang="en-IN" b="1" dirty="0"/>
              <a:t>Deploy a resource to an existing resource group</a:t>
            </a:r>
            <a:br>
              <a:rPr lang="en-IN" b="1" dirty="0"/>
            </a:br>
            <a:endParaRPr lang="en-IN" dirty="0"/>
          </a:p>
        </p:txBody>
      </p:sp>
      <p:sp>
        <p:nvSpPr>
          <p:cNvPr id="3" name="Content Placeholder 2">
            <a:extLst>
              <a:ext uri="{FF2B5EF4-FFF2-40B4-BE49-F238E27FC236}">
                <a16:creationId xmlns:a16="http://schemas.microsoft.com/office/drawing/2014/main" id="{BBEAA415-2224-C947-672B-FA0F995FD3A7}"/>
              </a:ext>
            </a:extLst>
          </p:cNvPr>
          <p:cNvSpPr>
            <a:spLocks noGrp="1"/>
          </p:cNvSpPr>
          <p:nvPr>
            <p:ph idx="1"/>
          </p:nvPr>
        </p:nvSpPr>
        <p:spPr>
          <a:xfrm>
            <a:off x="838200" y="1492138"/>
            <a:ext cx="10515600" cy="4351338"/>
          </a:xfrm>
        </p:spPr>
        <p:txBody>
          <a:bodyPr/>
          <a:lstStyle/>
          <a:p>
            <a:r>
              <a:rPr lang="en-IN" dirty="0"/>
              <a:t>In this task, you create a resource group (if you don't already have one), then deploy a Storage Account into it.</a:t>
            </a:r>
          </a:p>
          <a:p>
            <a:pPr lvl="0"/>
            <a:r>
              <a:rPr lang="en-IN" dirty="0"/>
              <a:t>Sign in to the </a:t>
            </a:r>
            <a:r>
              <a:rPr lang="en-IN" b="1" dirty="0"/>
              <a:t>Azure portal</a:t>
            </a:r>
            <a:r>
              <a:rPr lang="en-IN" dirty="0"/>
              <a:t> — https://portal.azure.com.</a:t>
            </a:r>
          </a:p>
          <a:p>
            <a:pPr lvl="0"/>
            <a:r>
              <a:rPr lang="en-IN" dirty="0"/>
              <a:t>Search for and select </a:t>
            </a:r>
            <a:r>
              <a:rPr lang="en-IN" b="1" dirty="0"/>
              <a:t>Resource groups</a:t>
            </a:r>
            <a:r>
              <a:rPr lang="en-IN" dirty="0"/>
              <a:t>.</a:t>
            </a:r>
          </a:p>
          <a:p>
            <a:pPr lvl="0"/>
            <a:r>
              <a:rPr lang="en-IN" dirty="0"/>
              <a:t>If you don't already have one, select </a:t>
            </a:r>
            <a:r>
              <a:rPr lang="en-IN" b="1" dirty="0"/>
              <a:t>+ Create</a:t>
            </a:r>
            <a:r>
              <a:rPr lang="en-IN" dirty="0"/>
              <a:t>, and configure</a:t>
            </a:r>
          </a:p>
          <a:p>
            <a:endParaRPr lang="en-IN" dirty="0"/>
          </a:p>
        </p:txBody>
      </p:sp>
      <p:pic>
        <p:nvPicPr>
          <p:cNvPr id="5" name="Picture 4">
            <a:extLst>
              <a:ext uri="{FF2B5EF4-FFF2-40B4-BE49-F238E27FC236}">
                <a16:creationId xmlns:a16="http://schemas.microsoft.com/office/drawing/2014/main" id="{7032186C-A1B5-1207-7F6D-AC3583DA2DFE}"/>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1697154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6CB5-5E36-5276-C4AA-472F392AA906}"/>
              </a:ext>
            </a:extLst>
          </p:cNvPr>
          <p:cNvSpPr>
            <a:spLocks noGrp="1"/>
          </p:cNvSpPr>
          <p:nvPr>
            <p:ph type="title"/>
          </p:nvPr>
        </p:nvSpPr>
        <p:spPr>
          <a:xfrm>
            <a:off x="710901" y="945743"/>
            <a:ext cx="10642899" cy="561975"/>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id="{C5CAA68E-13FF-A18B-D0C1-D87579BEF0FE}"/>
              </a:ext>
            </a:extLst>
          </p:cNvPr>
          <p:cNvGraphicFramePr>
            <a:graphicFrameLocks noGrp="1"/>
          </p:cNvGraphicFramePr>
          <p:nvPr>
            <p:ph idx="1"/>
            <p:extLst>
              <p:ext uri="{D42A27DB-BD31-4B8C-83A1-F6EECF244321}">
                <p14:modId xmlns:p14="http://schemas.microsoft.com/office/powerpoint/2010/main" val="687355195"/>
              </p:ext>
            </p:extLst>
          </p:nvPr>
        </p:nvGraphicFramePr>
        <p:xfrm>
          <a:off x="914400" y="2796988"/>
          <a:ext cx="10439400" cy="1935828"/>
        </p:xfrm>
        <a:graphic>
          <a:graphicData uri="http://schemas.openxmlformats.org/drawingml/2006/table">
            <a:tbl>
              <a:tblPr/>
              <a:tblGrid>
                <a:gridCol w="5219700">
                  <a:extLst>
                    <a:ext uri="{9D8B030D-6E8A-4147-A177-3AD203B41FA5}">
                      <a16:colId xmlns:a16="http://schemas.microsoft.com/office/drawing/2014/main" val="1754399362"/>
                    </a:ext>
                  </a:extLst>
                </a:gridCol>
                <a:gridCol w="5219700">
                  <a:extLst>
                    <a:ext uri="{9D8B030D-6E8A-4147-A177-3AD203B41FA5}">
                      <a16:colId xmlns:a16="http://schemas.microsoft.com/office/drawing/2014/main" val="1332016264"/>
                    </a:ext>
                  </a:extLst>
                </a:gridCol>
              </a:tblGrid>
              <a:tr h="483957">
                <a:tc>
                  <a:txBody>
                    <a:bodyPr/>
                    <a:lstStyle/>
                    <a:p>
                      <a:pPr>
                        <a:buNone/>
                      </a:pPr>
                      <a:r>
                        <a:rPr lang="en-IN" dirty="0"/>
                        <a:t>Setting</a:t>
                      </a:r>
                    </a:p>
                  </a:txBody>
                  <a:tcPr anchor="ctr">
                    <a:lnL>
                      <a:noFill/>
                    </a:lnL>
                    <a:lnR>
                      <a:noFill/>
                    </a:lnR>
                    <a:lnT>
                      <a:noFill/>
                    </a:lnT>
                    <a:lnB>
                      <a:noFill/>
                    </a:lnB>
                    <a:noFill/>
                  </a:tcPr>
                </a:tc>
                <a:tc>
                  <a:txBody>
                    <a:bodyPr/>
                    <a:lstStyle/>
                    <a:p>
                      <a:pPr>
                        <a:buNone/>
                      </a:pPr>
                      <a:r>
                        <a:rPr lang="en-IN"/>
                        <a:t>Value</a:t>
                      </a:r>
                    </a:p>
                  </a:txBody>
                  <a:tcPr anchor="ctr">
                    <a:lnL>
                      <a:noFill/>
                    </a:lnL>
                    <a:lnR>
                      <a:noFill/>
                    </a:lnR>
                    <a:lnT>
                      <a:noFill/>
                    </a:lnT>
                    <a:lnB>
                      <a:noFill/>
                    </a:lnB>
                    <a:noFill/>
                  </a:tcPr>
                </a:tc>
                <a:extLst>
                  <a:ext uri="{0D108BD9-81ED-4DB2-BD59-A6C34878D82A}">
                    <a16:rowId xmlns:a16="http://schemas.microsoft.com/office/drawing/2014/main" val="4171522204"/>
                  </a:ext>
                </a:extLst>
              </a:tr>
              <a:tr h="483957">
                <a:tc>
                  <a:txBody>
                    <a:bodyPr/>
                    <a:lstStyle/>
                    <a:p>
                      <a:pPr>
                        <a:buNone/>
                      </a:pPr>
                      <a:r>
                        <a:rPr lang="en-IN" dirty="0"/>
                        <a:t>Subscription</a:t>
                      </a:r>
                    </a:p>
                  </a:txBody>
                  <a:tcPr anchor="ctr">
                    <a:lnL>
                      <a:noFill/>
                    </a:lnL>
                    <a:lnR>
                      <a:noFill/>
                    </a:lnR>
                    <a:lnT>
                      <a:noFill/>
                    </a:lnT>
                    <a:lnB>
                      <a:noFill/>
                    </a:lnB>
                    <a:noFill/>
                  </a:tcPr>
                </a:tc>
                <a:tc>
                  <a:txBody>
                    <a:bodyPr/>
                    <a:lstStyle/>
                    <a:p>
                      <a:pPr>
                        <a:buNone/>
                      </a:pPr>
                      <a:r>
                        <a:rPr lang="en-IN" i="1"/>
                        <a:t>your subscription</a:t>
                      </a:r>
                      <a:endParaRPr lang="en-IN"/>
                    </a:p>
                  </a:txBody>
                  <a:tcPr anchor="ctr">
                    <a:lnL>
                      <a:noFill/>
                    </a:lnL>
                    <a:lnR>
                      <a:noFill/>
                    </a:lnR>
                    <a:lnT>
                      <a:noFill/>
                    </a:lnT>
                    <a:lnB>
                      <a:noFill/>
                    </a:lnB>
                    <a:noFill/>
                  </a:tcPr>
                </a:tc>
                <a:extLst>
                  <a:ext uri="{0D108BD9-81ED-4DB2-BD59-A6C34878D82A}">
                    <a16:rowId xmlns:a16="http://schemas.microsoft.com/office/drawing/2014/main" val="4134358038"/>
                  </a:ext>
                </a:extLst>
              </a:tr>
              <a:tr h="483957">
                <a:tc>
                  <a:txBody>
                    <a:bodyPr/>
                    <a:lstStyle/>
                    <a:p>
                      <a:pPr>
                        <a:buNone/>
                      </a:pPr>
                      <a:r>
                        <a:rPr lang="en-IN"/>
                        <a:t>Resource group</a:t>
                      </a:r>
                    </a:p>
                  </a:txBody>
                  <a:tcPr anchor="ctr">
                    <a:lnL>
                      <a:noFill/>
                    </a:lnL>
                    <a:lnR>
                      <a:noFill/>
                    </a:lnR>
                    <a:lnT>
                      <a:noFill/>
                    </a:lnT>
                    <a:lnB>
                      <a:noFill/>
                    </a:lnB>
                    <a:noFill/>
                  </a:tcPr>
                </a:tc>
                <a:tc>
                  <a:txBody>
                    <a:bodyPr/>
                    <a:lstStyle/>
                    <a:p>
                      <a:pPr>
                        <a:buNone/>
                      </a:pPr>
                      <a:r>
                        <a:rPr lang="en-IN">
                          <a:latin typeface="Courier New" panose="02070309020205020404" pitchFamily="49" charset="0"/>
                        </a:rPr>
                        <a:t>az104-rg-demo</a:t>
                      </a:r>
                      <a:endParaRPr lang="en-IN"/>
                    </a:p>
                  </a:txBody>
                  <a:tcPr anchor="ctr">
                    <a:lnL>
                      <a:noFill/>
                    </a:lnL>
                    <a:lnR>
                      <a:noFill/>
                    </a:lnR>
                    <a:lnT>
                      <a:noFill/>
                    </a:lnT>
                    <a:lnB>
                      <a:noFill/>
                    </a:lnB>
                    <a:noFill/>
                  </a:tcPr>
                </a:tc>
                <a:extLst>
                  <a:ext uri="{0D108BD9-81ED-4DB2-BD59-A6C34878D82A}">
                    <a16:rowId xmlns:a16="http://schemas.microsoft.com/office/drawing/2014/main" val="1019811396"/>
                  </a:ext>
                </a:extLst>
              </a:tr>
              <a:tr h="483957">
                <a:tc>
                  <a:txBody>
                    <a:bodyPr/>
                    <a:lstStyle/>
                    <a:p>
                      <a:pPr>
                        <a:buNone/>
                      </a:pPr>
                      <a:r>
                        <a:rPr lang="en-IN"/>
                        <a:t>Region</a:t>
                      </a:r>
                    </a:p>
                  </a:txBody>
                  <a:tcPr anchor="ctr">
                    <a:lnL>
                      <a:noFill/>
                    </a:lnL>
                    <a:lnR>
                      <a:noFill/>
                    </a:lnR>
                    <a:lnT>
                      <a:noFill/>
                    </a:lnT>
                    <a:lnB>
                      <a:noFill/>
                    </a:lnB>
                    <a:noFill/>
                  </a:tcPr>
                </a:tc>
                <a:tc>
                  <a:txBody>
                    <a:bodyPr/>
                    <a:lstStyle/>
                    <a:p>
                      <a:pPr>
                        <a:buNone/>
                      </a:pPr>
                      <a:r>
                        <a:rPr lang="en-IN" b="1" dirty="0"/>
                        <a:t>East US</a:t>
                      </a:r>
                      <a:endParaRPr lang="en-IN" dirty="0"/>
                    </a:p>
                  </a:txBody>
                  <a:tcPr anchor="ctr">
                    <a:lnL>
                      <a:noFill/>
                    </a:lnL>
                    <a:lnR>
                      <a:noFill/>
                    </a:lnR>
                    <a:lnT>
                      <a:noFill/>
                    </a:lnT>
                    <a:lnB>
                      <a:noFill/>
                    </a:lnB>
                    <a:noFill/>
                  </a:tcPr>
                </a:tc>
                <a:extLst>
                  <a:ext uri="{0D108BD9-81ED-4DB2-BD59-A6C34878D82A}">
                    <a16:rowId xmlns:a16="http://schemas.microsoft.com/office/drawing/2014/main" val="3842099191"/>
                  </a:ext>
                </a:extLst>
              </a:tr>
            </a:tbl>
          </a:graphicData>
        </a:graphic>
      </p:graphicFrame>
      <p:sp>
        <p:nvSpPr>
          <p:cNvPr id="6" name="TextBox 5">
            <a:extLst>
              <a:ext uri="{FF2B5EF4-FFF2-40B4-BE49-F238E27FC236}">
                <a16:creationId xmlns:a16="http://schemas.microsoft.com/office/drawing/2014/main" id="{D7179534-A1E0-2183-CC0A-3B33512B84DE}"/>
              </a:ext>
            </a:extLst>
          </p:cNvPr>
          <p:cNvSpPr txBox="1"/>
          <p:nvPr/>
        </p:nvSpPr>
        <p:spPr>
          <a:xfrm>
            <a:off x="710902" y="1716818"/>
            <a:ext cx="8390068" cy="923330"/>
          </a:xfrm>
          <a:prstGeom prst="rect">
            <a:avLst/>
          </a:prstGeom>
          <a:noFill/>
        </p:spPr>
        <p:txBody>
          <a:bodyPr wrap="square">
            <a:spAutoFit/>
          </a:bodyPr>
          <a:lstStyle/>
          <a:p>
            <a:pPr marL="342900" lvl="0" indent="-342900">
              <a:buFont typeface="Arial" panose="020B0604020202020204" pitchFamily="34" charset="0"/>
              <a:buChar char="•"/>
            </a:pPr>
            <a:r>
              <a:rPr lang="en-IN" dirty="0"/>
              <a:t>Select </a:t>
            </a:r>
            <a:r>
              <a:rPr lang="en-IN" b="1" dirty="0"/>
              <a:t>Review + create</a:t>
            </a:r>
            <a:r>
              <a:rPr lang="en-IN" dirty="0"/>
              <a:t>, then </a:t>
            </a:r>
            <a:r>
              <a:rPr lang="en-IN" b="1" dirty="0"/>
              <a:t>Create</a:t>
            </a:r>
            <a:r>
              <a:rPr lang="en-IN" dirty="0"/>
              <a:t>.</a:t>
            </a:r>
          </a:p>
          <a:p>
            <a:pPr marL="342900" lvl="0" indent="-342900">
              <a:buFont typeface="Arial" panose="020B0604020202020204" pitchFamily="34" charset="0"/>
              <a:buChar char="•"/>
            </a:pPr>
            <a:r>
              <a:rPr lang="en-IN" dirty="0"/>
              <a:t>From the top of the portal, select </a:t>
            </a:r>
            <a:r>
              <a:rPr lang="en-IN" b="1" dirty="0"/>
              <a:t>+ Create a resource</a:t>
            </a:r>
            <a:r>
              <a:rPr lang="en-IN" dirty="0"/>
              <a:t>.</a:t>
            </a:r>
          </a:p>
          <a:p>
            <a:pPr marL="342900" lvl="0" indent="-342900">
              <a:buFont typeface="Arial" panose="020B0604020202020204" pitchFamily="34" charset="0"/>
              <a:buChar char="•"/>
            </a:pPr>
            <a:r>
              <a:rPr lang="en-IN" dirty="0"/>
              <a:t>Search for </a:t>
            </a:r>
            <a:r>
              <a:rPr lang="en-IN" dirty="0">
                <a:latin typeface="Courier New" panose="02070309020205020404" pitchFamily="49" charset="0"/>
              </a:rPr>
              <a:t>Storage account</a:t>
            </a:r>
            <a:r>
              <a:rPr lang="en-IN" dirty="0"/>
              <a:t> and select </a:t>
            </a:r>
            <a:r>
              <a:rPr lang="en-IN" b="1" dirty="0"/>
              <a:t>Create</a:t>
            </a:r>
            <a:r>
              <a:rPr lang="en-IN" dirty="0"/>
              <a:t>.</a:t>
            </a:r>
          </a:p>
        </p:txBody>
      </p:sp>
      <p:pic>
        <p:nvPicPr>
          <p:cNvPr id="8" name="Picture 7">
            <a:extLst>
              <a:ext uri="{FF2B5EF4-FFF2-40B4-BE49-F238E27FC236}">
                <a16:creationId xmlns:a16="http://schemas.microsoft.com/office/drawing/2014/main" id="{DF2662DD-E020-CE0F-781B-5415C0E0B0AD}"/>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204382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2FCA-303A-6D25-A2FA-8B7C8352DF90}"/>
              </a:ext>
            </a:extLst>
          </p:cNvPr>
          <p:cNvSpPr>
            <a:spLocks noGrp="1"/>
          </p:cNvSpPr>
          <p:nvPr>
            <p:ph type="title"/>
          </p:nvPr>
        </p:nvSpPr>
        <p:spPr>
          <a:xfrm>
            <a:off x="838200" y="365126"/>
            <a:ext cx="8456407" cy="444202"/>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id="{335C3E34-FD50-A027-A1A0-3F436304B4AF}"/>
              </a:ext>
            </a:extLst>
          </p:cNvPr>
          <p:cNvGraphicFramePr>
            <a:graphicFrameLocks noGrp="1"/>
          </p:cNvGraphicFramePr>
          <p:nvPr>
            <p:ph idx="1"/>
          </p:nvPr>
        </p:nvGraphicFramePr>
        <p:xfrm>
          <a:off x="838200" y="2446814"/>
          <a:ext cx="10515600" cy="3108960"/>
        </p:xfrm>
        <a:graphic>
          <a:graphicData uri="http://schemas.openxmlformats.org/drawingml/2006/table">
            <a:tbl>
              <a:tblPr/>
              <a:tblGrid>
                <a:gridCol w="5257800">
                  <a:extLst>
                    <a:ext uri="{9D8B030D-6E8A-4147-A177-3AD203B41FA5}">
                      <a16:colId xmlns:a16="http://schemas.microsoft.com/office/drawing/2014/main" val="4265290363"/>
                    </a:ext>
                  </a:extLst>
                </a:gridCol>
                <a:gridCol w="5257800">
                  <a:extLst>
                    <a:ext uri="{9D8B030D-6E8A-4147-A177-3AD203B41FA5}">
                      <a16:colId xmlns:a16="http://schemas.microsoft.com/office/drawing/2014/main" val="3284242939"/>
                    </a:ext>
                  </a:extLst>
                </a:gridCol>
              </a:tblGrid>
              <a:tr h="0">
                <a:tc>
                  <a:txBody>
                    <a:bodyPr/>
                    <a:lstStyle/>
                    <a:p>
                      <a:pPr>
                        <a:buNone/>
                      </a:pPr>
                      <a:r>
                        <a:rPr lang="en-IN"/>
                        <a:t>Setting</a:t>
                      </a:r>
                    </a:p>
                  </a:txBody>
                  <a:tcPr anchor="ctr">
                    <a:lnL>
                      <a:noFill/>
                    </a:lnL>
                    <a:lnR>
                      <a:noFill/>
                    </a:lnR>
                    <a:lnT>
                      <a:noFill/>
                    </a:lnT>
                    <a:lnB>
                      <a:noFill/>
                    </a:lnB>
                    <a:noFill/>
                  </a:tcPr>
                </a:tc>
                <a:tc>
                  <a:txBody>
                    <a:bodyPr/>
                    <a:lstStyle/>
                    <a:p>
                      <a:pPr>
                        <a:buNone/>
                      </a:pPr>
                      <a:r>
                        <a:rPr lang="en-IN"/>
                        <a:t>Value</a:t>
                      </a:r>
                    </a:p>
                  </a:txBody>
                  <a:tcPr anchor="ctr">
                    <a:lnL>
                      <a:noFill/>
                    </a:lnL>
                    <a:lnR>
                      <a:noFill/>
                    </a:lnR>
                    <a:lnT>
                      <a:noFill/>
                    </a:lnT>
                    <a:lnB>
                      <a:noFill/>
                    </a:lnB>
                    <a:noFill/>
                  </a:tcPr>
                </a:tc>
                <a:extLst>
                  <a:ext uri="{0D108BD9-81ED-4DB2-BD59-A6C34878D82A}">
                    <a16:rowId xmlns:a16="http://schemas.microsoft.com/office/drawing/2014/main" val="149476132"/>
                  </a:ext>
                </a:extLst>
              </a:tr>
              <a:tr h="0">
                <a:tc>
                  <a:txBody>
                    <a:bodyPr/>
                    <a:lstStyle/>
                    <a:p>
                      <a:pPr>
                        <a:buNone/>
                      </a:pPr>
                      <a:r>
                        <a:rPr lang="en-IN"/>
                        <a:t>Subscription</a:t>
                      </a:r>
                    </a:p>
                  </a:txBody>
                  <a:tcPr anchor="ctr">
                    <a:lnL>
                      <a:noFill/>
                    </a:lnL>
                    <a:lnR>
                      <a:noFill/>
                    </a:lnR>
                    <a:lnT>
                      <a:noFill/>
                    </a:lnT>
                    <a:lnB>
                      <a:noFill/>
                    </a:lnB>
                    <a:noFill/>
                  </a:tcPr>
                </a:tc>
                <a:tc>
                  <a:txBody>
                    <a:bodyPr/>
                    <a:lstStyle/>
                    <a:p>
                      <a:pPr>
                        <a:buNone/>
                      </a:pPr>
                      <a:r>
                        <a:rPr lang="en-IN" i="1"/>
                        <a:t>your subscription</a:t>
                      </a:r>
                      <a:endParaRPr lang="en-IN"/>
                    </a:p>
                  </a:txBody>
                  <a:tcPr anchor="ctr">
                    <a:lnL>
                      <a:noFill/>
                    </a:lnL>
                    <a:lnR>
                      <a:noFill/>
                    </a:lnR>
                    <a:lnT>
                      <a:noFill/>
                    </a:lnT>
                    <a:lnB>
                      <a:noFill/>
                    </a:lnB>
                    <a:noFill/>
                  </a:tcPr>
                </a:tc>
                <a:extLst>
                  <a:ext uri="{0D108BD9-81ED-4DB2-BD59-A6C34878D82A}">
                    <a16:rowId xmlns:a16="http://schemas.microsoft.com/office/drawing/2014/main" val="2659892525"/>
                  </a:ext>
                </a:extLst>
              </a:tr>
              <a:tr h="0">
                <a:tc>
                  <a:txBody>
                    <a:bodyPr/>
                    <a:lstStyle/>
                    <a:p>
                      <a:pPr>
                        <a:buNone/>
                      </a:pPr>
                      <a:r>
                        <a:rPr lang="en-IN" dirty="0"/>
                        <a:t>Resource group</a:t>
                      </a:r>
                    </a:p>
                  </a:txBody>
                  <a:tcPr anchor="ctr">
                    <a:lnL>
                      <a:noFill/>
                    </a:lnL>
                    <a:lnR>
                      <a:noFill/>
                    </a:lnR>
                    <a:lnT>
                      <a:noFill/>
                    </a:lnT>
                    <a:lnB>
                      <a:noFill/>
                    </a:lnB>
                    <a:noFill/>
                  </a:tcPr>
                </a:tc>
                <a:tc>
                  <a:txBody>
                    <a:bodyPr/>
                    <a:lstStyle/>
                    <a:p>
                      <a:pPr>
                        <a:buNone/>
                      </a:pPr>
                      <a:r>
                        <a:rPr lang="en-IN">
                          <a:latin typeface="Courier New" panose="02070309020205020404" pitchFamily="49" charset="0"/>
                        </a:rPr>
                        <a:t>az104-rg-demo</a:t>
                      </a:r>
                      <a:r>
                        <a:rPr lang="en-IN"/>
                        <a:t> </a:t>
                      </a:r>
                      <a:r>
                        <a:rPr lang="en-IN" i="1"/>
                        <a:t>(select your existing group — do not create new)</a:t>
                      </a:r>
                      <a:endParaRPr lang="en-IN"/>
                    </a:p>
                  </a:txBody>
                  <a:tcPr anchor="ctr">
                    <a:lnL>
                      <a:noFill/>
                    </a:lnL>
                    <a:lnR>
                      <a:noFill/>
                    </a:lnR>
                    <a:lnT>
                      <a:noFill/>
                    </a:lnT>
                    <a:lnB>
                      <a:noFill/>
                    </a:lnB>
                    <a:noFill/>
                  </a:tcPr>
                </a:tc>
                <a:extLst>
                  <a:ext uri="{0D108BD9-81ED-4DB2-BD59-A6C34878D82A}">
                    <a16:rowId xmlns:a16="http://schemas.microsoft.com/office/drawing/2014/main" val="2750168611"/>
                  </a:ext>
                </a:extLst>
              </a:tr>
              <a:tr h="0">
                <a:tc>
                  <a:txBody>
                    <a:bodyPr/>
                    <a:lstStyle/>
                    <a:p>
                      <a:pPr>
                        <a:buNone/>
                      </a:pPr>
                      <a:r>
                        <a:rPr lang="en-IN"/>
                        <a:t>Storage account name</a:t>
                      </a:r>
                    </a:p>
                  </a:txBody>
                  <a:tcPr anchor="ctr">
                    <a:lnL>
                      <a:noFill/>
                    </a:lnL>
                    <a:lnR>
                      <a:noFill/>
                    </a:lnR>
                    <a:lnT>
                      <a:noFill/>
                    </a:lnT>
                    <a:lnB>
                      <a:noFill/>
                    </a:lnB>
                    <a:noFill/>
                  </a:tcPr>
                </a:tc>
                <a:tc>
                  <a:txBody>
                    <a:bodyPr/>
                    <a:lstStyle/>
                    <a:p>
                      <a:pPr>
                        <a:buNone/>
                      </a:pPr>
                      <a:r>
                        <a:rPr lang="en-IN">
                          <a:latin typeface="Courier New" panose="02070309020205020404" pitchFamily="49" charset="0"/>
                        </a:rPr>
                        <a:t>az104storagedemo</a:t>
                      </a:r>
                      <a:r>
                        <a:rPr lang="en-IN"/>
                        <a:t> </a:t>
                      </a:r>
                      <a:r>
                        <a:rPr lang="en-IN" i="1"/>
                        <a:t>(must be globally unique — append random digits if taken)</a:t>
                      </a:r>
                      <a:endParaRPr lang="en-IN"/>
                    </a:p>
                  </a:txBody>
                  <a:tcPr anchor="ctr">
                    <a:lnL>
                      <a:noFill/>
                    </a:lnL>
                    <a:lnR>
                      <a:noFill/>
                    </a:lnR>
                    <a:lnT>
                      <a:noFill/>
                    </a:lnT>
                    <a:lnB>
                      <a:noFill/>
                    </a:lnB>
                    <a:noFill/>
                  </a:tcPr>
                </a:tc>
                <a:extLst>
                  <a:ext uri="{0D108BD9-81ED-4DB2-BD59-A6C34878D82A}">
                    <a16:rowId xmlns:a16="http://schemas.microsoft.com/office/drawing/2014/main" val="900136089"/>
                  </a:ext>
                </a:extLst>
              </a:tr>
              <a:tr h="0">
                <a:tc>
                  <a:txBody>
                    <a:bodyPr/>
                    <a:lstStyle/>
                    <a:p>
                      <a:pPr>
                        <a:buNone/>
                      </a:pPr>
                      <a:r>
                        <a:rPr lang="en-IN"/>
                        <a:t>Region</a:t>
                      </a:r>
                    </a:p>
                  </a:txBody>
                  <a:tcPr anchor="ctr">
                    <a:lnL>
                      <a:noFill/>
                    </a:lnL>
                    <a:lnR>
                      <a:noFill/>
                    </a:lnR>
                    <a:lnT>
                      <a:noFill/>
                    </a:lnT>
                    <a:lnB>
                      <a:noFill/>
                    </a:lnB>
                    <a:noFill/>
                  </a:tcPr>
                </a:tc>
                <a:tc>
                  <a:txBody>
                    <a:bodyPr/>
                    <a:lstStyle/>
                    <a:p>
                      <a:pPr>
                        <a:buNone/>
                      </a:pPr>
                      <a:r>
                        <a:rPr lang="en-IN" b="1"/>
                        <a:t>East US</a:t>
                      </a:r>
                      <a:endParaRPr lang="en-IN"/>
                    </a:p>
                  </a:txBody>
                  <a:tcPr anchor="ctr">
                    <a:lnL>
                      <a:noFill/>
                    </a:lnL>
                    <a:lnR>
                      <a:noFill/>
                    </a:lnR>
                    <a:lnT>
                      <a:noFill/>
                    </a:lnT>
                    <a:lnB>
                      <a:noFill/>
                    </a:lnB>
                    <a:noFill/>
                  </a:tcPr>
                </a:tc>
                <a:extLst>
                  <a:ext uri="{0D108BD9-81ED-4DB2-BD59-A6C34878D82A}">
                    <a16:rowId xmlns:a16="http://schemas.microsoft.com/office/drawing/2014/main" val="959574219"/>
                  </a:ext>
                </a:extLst>
              </a:tr>
              <a:tr h="0">
                <a:tc>
                  <a:txBody>
                    <a:bodyPr/>
                    <a:lstStyle/>
                    <a:p>
                      <a:pPr>
                        <a:buNone/>
                      </a:pPr>
                      <a:r>
                        <a:rPr lang="en-IN"/>
                        <a:t>Performance</a:t>
                      </a:r>
                    </a:p>
                  </a:txBody>
                  <a:tcPr anchor="ctr">
                    <a:lnL>
                      <a:noFill/>
                    </a:lnL>
                    <a:lnR>
                      <a:noFill/>
                    </a:lnR>
                    <a:lnT>
                      <a:noFill/>
                    </a:lnT>
                    <a:lnB>
                      <a:noFill/>
                    </a:lnB>
                    <a:noFill/>
                  </a:tcPr>
                </a:tc>
                <a:tc>
                  <a:txBody>
                    <a:bodyPr/>
                    <a:lstStyle/>
                    <a:p>
                      <a:pPr>
                        <a:buNone/>
                      </a:pPr>
                      <a:r>
                        <a:rPr lang="en-IN" b="1"/>
                        <a:t>Standard</a:t>
                      </a:r>
                      <a:endParaRPr lang="en-IN"/>
                    </a:p>
                  </a:txBody>
                  <a:tcPr anchor="ctr">
                    <a:lnL>
                      <a:noFill/>
                    </a:lnL>
                    <a:lnR>
                      <a:noFill/>
                    </a:lnR>
                    <a:lnT>
                      <a:noFill/>
                    </a:lnT>
                    <a:lnB>
                      <a:noFill/>
                    </a:lnB>
                    <a:noFill/>
                  </a:tcPr>
                </a:tc>
                <a:extLst>
                  <a:ext uri="{0D108BD9-81ED-4DB2-BD59-A6C34878D82A}">
                    <a16:rowId xmlns:a16="http://schemas.microsoft.com/office/drawing/2014/main" val="2478238084"/>
                  </a:ext>
                </a:extLst>
              </a:tr>
              <a:tr h="0">
                <a:tc>
                  <a:txBody>
                    <a:bodyPr/>
                    <a:lstStyle/>
                    <a:p>
                      <a:pPr>
                        <a:buNone/>
                      </a:pPr>
                      <a:r>
                        <a:rPr lang="en-IN"/>
                        <a:t>Redundancy</a:t>
                      </a:r>
                    </a:p>
                  </a:txBody>
                  <a:tcPr anchor="ctr">
                    <a:lnL>
                      <a:noFill/>
                    </a:lnL>
                    <a:lnR>
                      <a:noFill/>
                    </a:lnR>
                    <a:lnT>
                      <a:noFill/>
                    </a:lnT>
                    <a:lnB>
                      <a:noFill/>
                    </a:lnB>
                    <a:noFill/>
                  </a:tcPr>
                </a:tc>
                <a:tc>
                  <a:txBody>
                    <a:bodyPr/>
                    <a:lstStyle/>
                    <a:p>
                      <a:pPr>
                        <a:buNone/>
                      </a:pPr>
                      <a:r>
                        <a:rPr lang="en-IN" b="1" dirty="0"/>
                        <a:t>LRS</a:t>
                      </a:r>
                      <a:endParaRPr lang="en-IN" dirty="0"/>
                    </a:p>
                  </a:txBody>
                  <a:tcPr anchor="ctr">
                    <a:lnL>
                      <a:noFill/>
                    </a:lnL>
                    <a:lnR>
                      <a:noFill/>
                    </a:lnR>
                    <a:lnT>
                      <a:noFill/>
                    </a:lnT>
                    <a:lnB>
                      <a:noFill/>
                    </a:lnB>
                    <a:noFill/>
                  </a:tcPr>
                </a:tc>
                <a:extLst>
                  <a:ext uri="{0D108BD9-81ED-4DB2-BD59-A6C34878D82A}">
                    <a16:rowId xmlns:a16="http://schemas.microsoft.com/office/drawing/2014/main" val="2644610247"/>
                  </a:ext>
                </a:extLst>
              </a:tr>
            </a:tbl>
          </a:graphicData>
        </a:graphic>
      </p:graphicFrame>
      <p:sp>
        <p:nvSpPr>
          <p:cNvPr id="6" name="TextBox 5">
            <a:extLst>
              <a:ext uri="{FF2B5EF4-FFF2-40B4-BE49-F238E27FC236}">
                <a16:creationId xmlns:a16="http://schemas.microsoft.com/office/drawing/2014/main" id="{58D94967-EA28-873F-31F1-D428E89A8C64}"/>
              </a:ext>
            </a:extLst>
          </p:cNvPr>
          <p:cNvSpPr txBox="1"/>
          <p:nvPr/>
        </p:nvSpPr>
        <p:spPr>
          <a:xfrm>
            <a:off x="838200" y="1027906"/>
            <a:ext cx="9575202" cy="923330"/>
          </a:xfrm>
          <a:prstGeom prst="rect">
            <a:avLst/>
          </a:prstGeom>
          <a:noFill/>
        </p:spPr>
        <p:txBody>
          <a:bodyPr wrap="square">
            <a:spAutoFit/>
          </a:bodyPr>
          <a:lstStyle/>
          <a:p>
            <a:pPr marL="342900" lvl="0" indent="-342900" rtl="0">
              <a:buFont typeface="+mj-lt"/>
              <a:buAutoNum type="arabicPeriod"/>
            </a:pPr>
            <a:r>
              <a:rPr lang="en-IN" dirty="0"/>
              <a:t>On the </a:t>
            </a:r>
            <a:r>
              <a:rPr lang="en-IN" b="1" dirty="0"/>
              <a:t>Basics</a:t>
            </a:r>
            <a:r>
              <a:rPr lang="en-IN" dirty="0"/>
              <a:t> tab, configure: </a:t>
            </a:r>
          </a:p>
          <a:p>
            <a:pPr rtl="0">
              <a:buNone/>
            </a:pPr>
            <a:r>
              <a:rPr lang="en-IN" b="1" dirty="0"/>
              <a:t>Note:</a:t>
            </a:r>
            <a:r>
              <a:rPr lang="en-IN" dirty="0"/>
              <a:t> Selecting an existing resource group under </a:t>
            </a:r>
            <a:r>
              <a:rPr lang="en-IN" b="1" dirty="0"/>
              <a:t>Project details</a:t>
            </a:r>
            <a:r>
              <a:rPr lang="en-IN" dirty="0"/>
              <a:t> is the key step — this is what attaches the new resource to your existing group instead of creating a new one.</a:t>
            </a:r>
          </a:p>
        </p:txBody>
      </p:sp>
      <p:pic>
        <p:nvPicPr>
          <p:cNvPr id="8" name="Picture 7">
            <a:extLst>
              <a:ext uri="{FF2B5EF4-FFF2-40B4-BE49-F238E27FC236}">
                <a16:creationId xmlns:a16="http://schemas.microsoft.com/office/drawing/2014/main" id="{A1AED6BC-07EC-D140-3CFD-F7CF6BCC8546}"/>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2180133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26084-6BB4-A20F-47B7-17306E9B17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9A811D-6CFF-423E-72AA-A74DCC63B843}"/>
              </a:ext>
            </a:extLst>
          </p:cNvPr>
          <p:cNvSpPr>
            <a:spLocks noGrp="1"/>
          </p:cNvSpPr>
          <p:nvPr>
            <p:ph idx="1"/>
          </p:nvPr>
        </p:nvSpPr>
        <p:spPr/>
        <p:txBody>
          <a:bodyPr/>
          <a:lstStyle/>
          <a:p>
            <a:pPr lvl="0"/>
            <a:r>
              <a:rPr lang="en-IN" dirty="0"/>
              <a:t>Select </a:t>
            </a:r>
            <a:r>
              <a:rPr lang="en-IN" b="1" dirty="0"/>
              <a:t>Review + create</a:t>
            </a:r>
            <a:r>
              <a:rPr lang="en-IN" dirty="0"/>
              <a:t>. After validation passes, select </a:t>
            </a:r>
            <a:r>
              <a:rPr lang="en-IN" b="1" dirty="0"/>
              <a:t>Create</a:t>
            </a:r>
            <a:r>
              <a:rPr lang="en-IN" dirty="0"/>
              <a:t>.</a:t>
            </a:r>
          </a:p>
          <a:p>
            <a:pPr lvl="0"/>
            <a:r>
              <a:rPr lang="en-IN" dirty="0"/>
              <a:t>Monitor the notification bell (top right). Once deployment succeeds, select </a:t>
            </a:r>
            <a:r>
              <a:rPr lang="en-IN" b="1" dirty="0"/>
              <a:t>Go to resource</a:t>
            </a:r>
            <a:r>
              <a:rPr lang="en-IN" dirty="0"/>
              <a:t>.</a:t>
            </a:r>
          </a:p>
          <a:p>
            <a:pPr lvl="0"/>
            <a:r>
              <a:rPr lang="en-IN" dirty="0"/>
              <a:t>Confirm you're taken to the storage account, and that its </a:t>
            </a:r>
            <a:r>
              <a:rPr lang="en-IN" b="1" dirty="0"/>
              <a:t>Overview</a:t>
            </a:r>
            <a:r>
              <a:rPr lang="en-IN" dirty="0"/>
              <a:t> blade shows az104-rg-demo as the resource group.</a:t>
            </a:r>
          </a:p>
          <a:p>
            <a:endParaRPr lang="en-IN" dirty="0"/>
          </a:p>
        </p:txBody>
      </p:sp>
      <p:pic>
        <p:nvPicPr>
          <p:cNvPr id="5" name="Picture 4">
            <a:extLst>
              <a:ext uri="{FF2B5EF4-FFF2-40B4-BE49-F238E27FC236}">
                <a16:creationId xmlns:a16="http://schemas.microsoft.com/office/drawing/2014/main" id="{DE859DB4-6739-42F1-1B0C-658073440D14}"/>
              </a:ext>
            </a:extLst>
          </p:cNvPr>
          <p:cNvPicPr>
            <a:picLocks noChangeAspect="1"/>
          </p:cNvPicPr>
          <p:nvPr/>
        </p:nvPicPr>
        <p:blipFill>
          <a:blip r:embed="rId2"/>
          <a:stretch>
            <a:fillRect/>
          </a:stretch>
        </p:blipFill>
        <p:spPr>
          <a:xfrm>
            <a:off x="129540" y="84137"/>
            <a:ext cx="2057400" cy="561975"/>
          </a:xfrm>
          <a:prstGeom prst="rect">
            <a:avLst/>
          </a:prstGeom>
        </p:spPr>
      </p:pic>
    </p:spTree>
    <p:extLst>
      <p:ext uri="{BB962C8B-B14F-4D97-AF65-F5344CB8AC3E}">
        <p14:creationId xmlns:p14="http://schemas.microsoft.com/office/powerpoint/2010/main" val="128497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8CE02-F40E-A9E4-9AA9-2ED14D217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5F371-6663-E048-3828-1A34B735A387}"/>
              </a:ext>
            </a:extLst>
          </p:cNvPr>
          <p:cNvSpPr>
            <a:spLocks noGrp="1"/>
          </p:cNvSpPr>
          <p:nvPr>
            <p:ph type="title"/>
          </p:nvPr>
        </p:nvSpPr>
        <p:spPr>
          <a:xfrm>
            <a:off x="1118794" y="681037"/>
            <a:ext cx="10235005" cy="631397"/>
          </a:xfrm>
        </p:spPr>
        <p:txBody>
          <a:bodyPr>
            <a:normAutofit fontScale="90000"/>
          </a:bodyPr>
          <a:lstStyle/>
          <a:p>
            <a:br>
              <a:rPr lang="en-IN" b="1" dirty="0"/>
            </a:b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53832867-D95C-4E93-4F15-989CB6465B1E}"/>
              </a:ext>
            </a:extLst>
          </p:cNvPr>
          <p:cNvSpPr>
            <a:spLocks noGrp="1"/>
          </p:cNvSpPr>
          <p:nvPr>
            <p:ph idx="1"/>
          </p:nvPr>
        </p:nvSpPr>
        <p:spPr>
          <a:xfrm>
            <a:off x="935914" y="1312433"/>
            <a:ext cx="10417885" cy="4864530"/>
          </a:xfrm>
        </p:spPr>
        <p:txBody>
          <a:bodyPr>
            <a:noAutofit/>
          </a:bodyPr>
          <a:lstStyle/>
          <a:p>
            <a:r>
              <a:rPr lang="en-US" sz="1400" dirty="0">
                <a:latin typeface="Times New Roman" panose="02020603050405020304" pitchFamily="18" charset="0"/>
                <a:cs typeface="Times New Roman" panose="02020603050405020304" pitchFamily="18" charset="0"/>
              </a:rPr>
              <a:t>Sign in to Azure Portal</a:t>
            </a:r>
          </a:p>
          <a:p>
            <a:pPr marL="0" indent="0">
              <a:buNone/>
            </a:pPr>
            <a:r>
              <a:rPr lang="en-US" sz="1400" dirty="0">
                <a:latin typeface="Times New Roman" panose="02020603050405020304" pitchFamily="18" charset="0"/>
                <a:cs typeface="Times New Roman" panose="02020603050405020304" pitchFamily="18" charset="0"/>
              </a:rPr>
              <a:t>Go to portal.azure.com and log in. On the left sidebar, click 'Resource groups' to see your existing groups, or use the search bar at the top and type the name of your existing Resource Group to open it directly.</a:t>
            </a:r>
          </a:p>
          <a:p>
            <a:r>
              <a:rPr lang="en-US" sz="1400" dirty="0">
                <a:latin typeface="Times New Roman" panose="02020603050405020304" pitchFamily="18" charset="0"/>
                <a:cs typeface="Times New Roman" panose="02020603050405020304" pitchFamily="18" charset="0"/>
              </a:rPr>
              <a:t>Open 'Create a resource'</a:t>
            </a:r>
          </a:p>
          <a:p>
            <a:pPr marL="0" indent="0">
              <a:buNone/>
            </a:pPr>
            <a:r>
              <a:rPr lang="en-US" sz="1400" dirty="0">
                <a:latin typeface="Times New Roman" panose="02020603050405020304" pitchFamily="18" charset="0"/>
                <a:cs typeface="Times New Roman" panose="02020603050405020304" pitchFamily="18" charset="0"/>
              </a:rPr>
              <a:t>Click the '+ Create a resource' button (top-left, under the hamburger menu, or on the Azure home page). Search for the resource type you want — e.g., 'Virtual Machine', 'Storage Account', or 'App Service'.</a:t>
            </a:r>
          </a:p>
          <a:p>
            <a:r>
              <a:rPr lang="en-US" sz="1400" dirty="0">
                <a:latin typeface="Times New Roman" panose="02020603050405020304" pitchFamily="18" charset="0"/>
                <a:cs typeface="Times New Roman" panose="02020603050405020304" pitchFamily="18" charset="0"/>
              </a:rPr>
              <a:t>Fill in Basics tab</a:t>
            </a:r>
          </a:p>
          <a:p>
            <a:pPr marL="0" indent="0">
              <a:buNone/>
            </a:pPr>
            <a:r>
              <a:rPr lang="en-US" sz="1400" dirty="0">
                <a:latin typeface="Times New Roman" panose="02020603050405020304" pitchFamily="18" charset="0"/>
                <a:cs typeface="Times New Roman" panose="02020603050405020304" pitchFamily="18" charset="0"/>
              </a:rPr>
              <a:t>Under 'Project details', for the 'Resource group' dropdown, select your EXISTING resource group instead of clicking 'Create new'. This is the key step that ties the new resource to that group.</a:t>
            </a:r>
          </a:p>
          <a:p>
            <a:r>
              <a:rPr lang="en-US" sz="1400" dirty="0">
                <a:latin typeface="Times New Roman" panose="02020603050405020304" pitchFamily="18" charset="0"/>
                <a:cs typeface="Times New Roman" panose="02020603050405020304" pitchFamily="18" charset="0"/>
              </a:rPr>
              <a:t>Configure resource-specific settings</a:t>
            </a:r>
          </a:p>
          <a:p>
            <a:pPr marL="0" indent="0">
              <a:buNone/>
            </a:pPr>
            <a:r>
              <a:rPr lang="en-US" sz="1400" dirty="0">
                <a:latin typeface="Times New Roman" panose="02020603050405020304" pitchFamily="18" charset="0"/>
                <a:cs typeface="Times New Roman" panose="02020603050405020304" pitchFamily="18" charset="0"/>
              </a:rPr>
              <a:t>Fill in remaining tabs (Networking, Management, Tags, etc.) as needed for your resource type. Defaults are fine for a test deployment.</a:t>
            </a:r>
          </a:p>
          <a:p>
            <a:r>
              <a:rPr lang="en-US" sz="1400" dirty="0">
                <a:latin typeface="Times New Roman" panose="02020603050405020304" pitchFamily="18" charset="0"/>
                <a:cs typeface="Times New Roman" panose="02020603050405020304" pitchFamily="18" charset="0"/>
              </a:rPr>
              <a:t>Review + Create</a:t>
            </a:r>
          </a:p>
          <a:p>
            <a:pPr marL="0" indent="0">
              <a:buNone/>
            </a:pPr>
            <a:r>
              <a:rPr lang="en-US" sz="1400" dirty="0">
                <a:latin typeface="Times New Roman" panose="02020603050405020304" pitchFamily="18" charset="0"/>
                <a:cs typeface="Times New Roman" panose="02020603050405020304" pitchFamily="18" charset="0"/>
              </a:rPr>
              <a:t>Click 'Review + create'. Azure validates the configuration. Once validation passes, click 'Create' to start deployment.</a:t>
            </a:r>
          </a:p>
          <a:p>
            <a:pPr marL="0" indent="0">
              <a:buNone/>
            </a:pPr>
            <a:r>
              <a:rPr lang="en-US" sz="1400" dirty="0">
                <a:latin typeface="Times New Roman" panose="02020603050405020304" pitchFamily="18" charset="0"/>
                <a:cs typeface="Times New Roman" panose="02020603050405020304" pitchFamily="18" charset="0"/>
              </a:rPr>
              <a:t>Verify deployment</a:t>
            </a:r>
          </a:p>
          <a:p>
            <a:r>
              <a:rPr lang="en-US" sz="1400" dirty="0">
                <a:latin typeface="Times New Roman" panose="02020603050405020304" pitchFamily="18" charset="0"/>
                <a:cs typeface="Times New Roman" panose="02020603050405020304" pitchFamily="18" charset="0"/>
              </a:rPr>
              <a:t>Wait for the 'Deployment succeeded' notification (bell icon, top-right). Click 'Go to resource', or navigate back to your Resource Group and confirm the new resource appears in the resource list.</a:t>
            </a:r>
            <a:endParaRPr lang="en-IN" sz="1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16578FB-A9C3-2E94-B860-261CBCF4132A}"/>
              </a:ext>
            </a:extLst>
          </p:cNvPr>
          <p:cNvPicPr>
            <a:picLocks noChangeAspect="1"/>
          </p:cNvPicPr>
          <p:nvPr/>
        </p:nvPicPr>
        <p:blipFill>
          <a:blip r:embed="rId2"/>
          <a:stretch>
            <a:fillRect/>
          </a:stretch>
        </p:blipFill>
        <p:spPr>
          <a:xfrm>
            <a:off x="129540" y="182880"/>
            <a:ext cx="989254" cy="270213"/>
          </a:xfrm>
          <a:prstGeom prst="rect">
            <a:avLst/>
          </a:prstGeom>
        </p:spPr>
      </p:pic>
    </p:spTree>
    <p:extLst>
      <p:ext uri="{BB962C8B-B14F-4D97-AF65-F5344CB8AC3E}">
        <p14:creationId xmlns:p14="http://schemas.microsoft.com/office/powerpoint/2010/main" val="12220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FE7BA-0774-7335-2BC5-BBD37638A97F}"/>
              </a:ext>
            </a:extLst>
          </p:cNvPr>
          <p:cNvSpPr>
            <a:spLocks noGrp="1"/>
          </p:cNvSpPr>
          <p:nvPr>
            <p:ph type="title"/>
          </p:nvPr>
        </p:nvSpPr>
        <p:spPr>
          <a:xfrm>
            <a:off x="838199" y="339170"/>
            <a:ext cx="10375751" cy="561975"/>
          </a:xfrm>
        </p:spPr>
        <p:txBody>
          <a:bodyPr>
            <a:noAutofit/>
          </a:bodyPr>
          <a:lstStyle/>
          <a:p>
            <a:r>
              <a:rPr lang="en-IN" sz="2000" b="1" dirty="0"/>
              <a:t>Task 2: Move a resource between resource groups</a:t>
            </a:r>
            <a:br>
              <a:rPr lang="en-IN" sz="2000" b="1" dirty="0"/>
            </a:br>
            <a:r>
              <a:rPr lang="en-IN" sz="2000" dirty="0"/>
              <a:t>In this task, you move the storage account created in Task 1 into a second resource group.</a:t>
            </a:r>
            <a:br>
              <a:rPr lang="en-IN" sz="2000" dirty="0"/>
            </a:br>
            <a:endParaRPr lang="en-IN" sz="2000" dirty="0"/>
          </a:p>
        </p:txBody>
      </p:sp>
      <p:graphicFrame>
        <p:nvGraphicFramePr>
          <p:cNvPr id="4" name="Content Placeholder 3">
            <a:extLst>
              <a:ext uri="{FF2B5EF4-FFF2-40B4-BE49-F238E27FC236}">
                <a16:creationId xmlns:a16="http://schemas.microsoft.com/office/drawing/2014/main" id="{D56F5595-A22D-3A95-640E-51E23D53044B}"/>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3562107883"/>
                    </a:ext>
                  </a:extLst>
                </a:gridCol>
                <a:gridCol w="5257800">
                  <a:extLst>
                    <a:ext uri="{9D8B030D-6E8A-4147-A177-3AD203B41FA5}">
                      <a16:colId xmlns:a16="http://schemas.microsoft.com/office/drawing/2014/main" val="4009159481"/>
                    </a:ext>
                  </a:extLst>
                </a:gridCol>
              </a:tblGrid>
              <a:tr h="0">
                <a:tc>
                  <a:txBody>
                    <a:bodyPr/>
                    <a:lstStyle/>
                    <a:p>
                      <a:pPr>
                        <a:buNone/>
                      </a:pPr>
                      <a:r>
                        <a:rPr lang="en-IN"/>
                        <a:t>Setting</a:t>
                      </a:r>
                    </a:p>
                  </a:txBody>
                  <a:tcPr anchor="ctr">
                    <a:lnL>
                      <a:noFill/>
                    </a:lnL>
                    <a:lnR>
                      <a:noFill/>
                    </a:lnR>
                    <a:lnT>
                      <a:noFill/>
                    </a:lnT>
                    <a:lnB>
                      <a:noFill/>
                    </a:lnB>
                    <a:noFill/>
                  </a:tcPr>
                </a:tc>
                <a:tc>
                  <a:txBody>
                    <a:bodyPr/>
                    <a:lstStyle/>
                    <a:p>
                      <a:pPr>
                        <a:buNone/>
                      </a:pPr>
                      <a:r>
                        <a:rPr lang="en-IN"/>
                        <a:t>Value</a:t>
                      </a:r>
                    </a:p>
                  </a:txBody>
                  <a:tcPr anchor="ctr">
                    <a:lnL>
                      <a:noFill/>
                    </a:lnL>
                    <a:lnR>
                      <a:noFill/>
                    </a:lnR>
                    <a:lnT>
                      <a:noFill/>
                    </a:lnT>
                    <a:lnB>
                      <a:noFill/>
                    </a:lnB>
                    <a:noFill/>
                  </a:tcPr>
                </a:tc>
                <a:extLst>
                  <a:ext uri="{0D108BD9-81ED-4DB2-BD59-A6C34878D82A}">
                    <a16:rowId xmlns:a16="http://schemas.microsoft.com/office/drawing/2014/main" val="3581561057"/>
                  </a:ext>
                </a:extLst>
              </a:tr>
              <a:tr h="0">
                <a:tc>
                  <a:txBody>
                    <a:bodyPr/>
                    <a:lstStyle/>
                    <a:p>
                      <a:pPr>
                        <a:buNone/>
                      </a:pPr>
                      <a:r>
                        <a:rPr lang="en-IN"/>
                        <a:t>Subscription</a:t>
                      </a:r>
                    </a:p>
                  </a:txBody>
                  <a:tcPr anchor="ctr">
                    <a:lnL>
                      <a:noFill/>
                    </a:lnL>
                    <a:lnR>
                      <a:noFill/>
                    </a:lnR>
                    <a:lnT>
                      <a:noFill/>
                    </a:lnT>
                    <a:lnB>
                      <a:noFill/>
                    </a:lnB>
                    <a:noFill/>
                  </a:tcPr>
                </a:tc>
                <a:tc>
                  <a:txBody>
                    <a:bodyPr/>
                    <a:lstStyle/>
                    <a:p>
                      <a:pPr>
                        <a:buNone/>
                      </a:pPr>
                      <a:r>
                        <a:rPr lang="en-IN" i="1"/>
                        <a:t>your subscription</a:t>
                      </a:r>
                      <a:endParaRPr lang="en-IN"/>
                    </a:p>
                  </a:txBody>
                  <a:tcPr anchor="ctr">
                    <a:lnL>
                      <a:noFill/>
                    </a:lnL>
                    <a:lnR>
                      <a:noFill/>
                    </a:lnR>
                    <a:lnT>
                      <a:noFill/>
                    </a:lnT>
                    <a:lnB>
                      <a:noFill/>
                    </a:lnB>
                    <a:noFill/>
                  </a:tcPr>
                </a:tc>
                <a:extLst>
                  <a:ext uri="{0D108BD9-81ED-4DB2-BD59-A6C34878D82A}">
                    <a16:rowId xmlns:a16="http://schemas.microsoft.com/office/drawing/2014/main" val="4173291221"/>
                  </a:ext>
                </a:extLst>
              </a:tr>
              <a:tr h="0">
                <a:tc>
                  <a:txBody>
                    <a:bodyPr/>
                    <a:lstStyle/>
                    <a:p>
                      <a:pPr>
                        <a:buNone/>
                      </a:pPr>
                      <a:r>
                        <a:rPr lang="en-IN"/>
                        <a:t>Resource group</a:t>
                      </a:r>
                    </a:p>
                  </a:txBody>
                  <a:tcPr anchor="ctr">
                    <a:lnL>
                      <a:noFill/>
                    </a:lnL>
                    <a:lnR>
                      <a:noFill/>
                    </a:lnR>
                    <a:lnT>
                      <a:noFill/>
                    </a:lnT>
                    <a:lnB>
                      <a:noFill/>
                    </a:lnB>
                    <a:noFill/>
                  </a:tcPr>
                </a:tc>
                <a:tc>
                  <a:txBody>
                    <a:bodyPr/>
                    <a:lstStyle/>
                    <a:p>
                      <a:pPr>
                        <a:buNone/>
                      </a:pPr>
                      <a:r>
                        <a:rPr lang="en-IN">
                          <a:latin typeface="Courier New" panose="02070309020205020404" pitchFamily="49" charset="0"/>
                        </a:rPr>
                        <a:t>az104-rg-target</a:t>
                      </a:r>
                      <a:endParaRPr lang="en-IN"/>
                    </a:p>
                  </a:txBody>
                  <a:tcPr anchor="ctr">
                    <a:lnL>
                      <a:noFill/>
                    </a:lnL>
                    <a:lnR>
                      <a:noFill/>
                    </a:lnR>
                    <a:lnT>
                      <a:noFill/>
                    </a:lnT>
                    <a:lnB>
                      <a:noFill/>
                    </a:lnB>
                    <a:noFill/>
                  </a:tcPr>
                </a:tc>
                <a:extLst>
                  <a:ext uri="{0D108BD9-81ED-4DB2-BD59-A6C34878D82A}">
                    <a16:rowId xmlns:a16="http://schemas.microsoft.com/office/drawing/2014/main" val="3007403356"/>
                  </a:ext>
                </a:extLst>
              </a:tr>
              <a:tr h="0">
                <a:tc>
                  <a:txBody>
                    <a:bodyPr/>
                    <a:lstStyle/>
                    <a:p>
                      <a:pPr>
                        <a:buNone/>
                      </a:pPr>
                      <a:r>
                        <a:rPr lang="en-IN"/>
                        <a:t>Region</a:t>
                      </a:r>
                    </a:p>
                  </a:txBody>
                  <a:tcPr anchor="ctr">
                    <a:lnL>
                      <a:noFill/>
                    </a:lnL>
                    <a:lnR>
                      <a:noFill/>
                    </a:lnR>
                    <a:lnT>
                      <a:noFill/>
                    </a:lnT>
                    <a:lnB>
                      <a:noFill/>
                    </a:lnB>
                    <a:noFill/>
                  </a:tcPr>
                </a:tc>
                <a:tc>
                  <a:txBody>
                    <a:bodyPr/>
                    <a:lstStyle/>
                    <a:p>
                      <a:pPr>
                        <a:buNone/>
                      </a:pPr>
                      <a:r>
                        <a:rPr lang="en-IN" b="1" dirty="0"/>
                        <a:t>East US</a:t>
                      </a:r>
                      <a:endParaRPr lang="en-IN" dirty="0"/>
                    </a:p>
                  </a:txBody>
                  <a:tcPr anchor="ctr">
                    <a:lnL>
                      <a:noFill/>
                    </a:lnL>
                    <a:lnR>
                      <a:noFill/>
                    </a:lnR>
                    <a:lnT>
                      <a:noFill/>
                    </a:lnT>
                    <a:lnB>
                      <a:noFill/>
                    </a:lnB>
                    <a:noFill/>
                  </a:tcPr>
                </a:tc>
                <a:extLst>
                  <a:ext uri="{0D108BD9-81ED-4DB2-BD59-A6C34878D82A}">
                    <a16:rowId xmlns:a16="http://schemas.microsoft.com/office/drawing/2014/main" val="2196649193"/>
                  </a:ext>
                </a:extLst>
              </a:tr>
            </a:tbl>
          </a:graphicData>
        </a:graphic>
      </p:graphicFrame>
      <p:sp>
        <p:nvSpPr>
          <p:cNvPr id="6" name="TextBox 5">
            <a:extLst>
              <a:ext uri="{FF2B5EF4-FFF2-40B4-BE49-F238E27FC236}">
                <a16:creationId xmlns:a16="http://schemas.microsoft.com/office/drawing/2014/main" id="{E3619502-2866-A4EB-9382-96FE11C113C7}"/>
              </a:ext>
            </a:extLst>
          </p:cNvPr>
          <p:cNvSpPr txBox="1"/>
          <p:nvPr/>
        </p:nvSpPr>
        <p:spPr>
          <a:xfrm>
            <a:off x="419548" y="869117"/>
            <a:ext cx="10934251" cy="2585323"/>
          </a:xfrm>
          <a:prstGeom prst="rect">
            <a:avLst/>
          </a:prstGeom>
          <a:noFill/>
        </p:spPr>
        <p:txBody>
          <a:bodyPr wrap="square">
            <a:spAutoFit/>
          </a:bodyPr>
          <a:lstStyle/>
          <a:p>
            <a:pPr marL="342900" lvl="0" indent="-342900" rtl="0">
              <a:buFont typeface="+mj-lt"/>
              <a:buAutoNum type="arabicPeriod"/>
            </a:pPr>
            <a:r>
              <a:rPr lang="en-IN" dirty="0"/>
              <a:t>In the Azure portal, search for and select </a:t>
            </a:r>
            <a:r>
              <a:rPr lang="en-IN" b="1" dirty="0"/>
              <a:t>Resource groups</a:t>
            </a:r>
            <a:r>
              <a:rPr lang="en-IN" dirty="0"/>
              <a:t>.</a:t>
            </a:r>
          </a:p>
          <a:p>
            <a:pPr marL="342900" lvl="0" indent="-342900" rtl="0">
              <a:buFont typeface="+mj-lt"/>
              <a:buAutoNum type="arabicPeriod"/>
            </a:pPr>
            <a:r>
              <a:rPr lang="en-IN" dirty="0"/>
              <a:t>Select </a:t>
            </a:r>
            <a:r>
              <a:rPr lang="en-IN" b="1" dirty="0"/>
              <a:t>+ Create</a:t>
            </a:r>
            <a:r>
              <a:rPr lang="en-IN" dirty="0"/>
              <a:t> to make a destination group: </a:t>
            </a:r>
          </a:p>
          <a:p>
            <a:pPr marL="342900" lvl="0" indent="-342900" rtl="0">
              <a:buFont typeface="+mj-lt"/>
              <a:buAutoNum type="arabicPeriod"/>
            </a:pPr>
            <a:r>
              <a:rPr lang="en-IN" dirty="0"/>
              <a:t>Select </a:t>
            </a:r>
            <a:r>
              <a:rPr lang="en-IN" b="1" dirty="0"/>
              <a:t>Review + create</a:t>
            </a:r>
            <a:r>
              <a:rPr lang="en-IN" dirty="0"/>
              <a:t>, then </a:t>
            </a:r>
            <a:r>
              <a:rPr lang="en-IN" b="1" dirty="0"/>
              <a:t>Create</a:t>
            </a:r>
            <a:r>
              <a:rPr lang="en-IN" dirty="0"/>
              <a:t>.</a:t>
            </a:r>
          </a:p>
          <a:p>
            <a:pPr marL="342900" lvl="0" indent="-342900" rtl="0">
              <a:buFont typeface="+mj-lt"/>
              <a:buAutoNum type="arabicPeriod"/>
            </a:pPr>
            <a:r>
              <a:rPr lang="en-IN" dirty="0"/>
              <a:t>Navigate back to </a:t>
            </a:r>
            <a:r>
              <a:rPr lang="en-IN" b="1" dirty="0"/>
              <a:t>Resource groups</a:t>
            </a:r>
            <a:r>
              <a:rPr lang="en-IN" dirty="0"/>
              <a:t> and open </a:t>
            </a:r>
            <a:r>
              <a:rPr lang="en-IN" dirty="0">
                <a:latin typeface="Courier New" panose="02070309020205020404" pitchFamily="49" charset="0"/>
              </a:rPr>
              <a:t>az104-rg-demo</a:t>
            </a:r>
            <a:r>
              <a:rPr lang="en-IN" dirty="0"/>
              <a:t>.</a:t>
            </a:r>
          </a:p>
          <a:p>
            <a:pPr marL="342900" lvl="0" indent="-342900" rtl="0">
              <a:buFont typeface="+mj-lt"/>
              <a:buAutoNum type="arabicPeriod"/>
            </a:pPr>
            <a:r>
              <a:rPr lang="en-IN" dirty="0"/>
              <a:t>Select the checkbox next to </a:t>
            </a:r>
            <a:r>
              <a:rPr lang="en-IN" dirty="0">
                <a:latin typeface="Courier New" panose="02070309020205020404" pitchFamily="49" charset="0"/>
              </a:rPr>
              <a:t>az104storagedemo</a:t>
            </a:r>
            <a:r>
              <a:rPr lang="en-IN" dirty="0"/>
              <a:t>.</a:t>
            </a:r>
          </a:p>
          <a:p>
            <a:pPr marL="342900" lvl="0" indent="-342900" rtl="0">
              <a:buFont typeface="+mj-lt"/>
              <a:buAutoNum type="arabicPeriod"/>
            </a:pPr>
            <a:r>
              <a:rPr lang="en-IN" dirty="0"/>
              <a:t>From the top toolbar, select </a:t>
            </a:r>
            <a:r>
              <a:rPr lang="en-IN" b="1" dirty="0"/>
              <a:t>Move</a:t>
            </a:r>
            <a:r>
              <a:rPr lang="en-IN" dirty="0"/>
              <a:t> &gt; </a:t>
            </a:r>
            <a:r>
              <a:rPr lang="en-IN" b="1" dirty="0"/>
              <a:t>Move to another resource group</a:t>
            </a:r>
            <a:r>
              <a:rPr lang="en-IN" dirty="0"/>
              <a:t>.</a:t>
            </a:r>
          </a:p>
          <a:p>
            <a:pPr marL="342900" lvl="0" indent="-342900" rtl="0">
              <a:buFont typeface="+mj-lt"/>
              <a:buAutoNum type="arabicPeriod"/>
            </a:pPr>
            <a:r>
              <a:rPr lang="en-IN" dirty="0"/>
              <a:t>On the </a:t>
            </a:r>
            <a:r>
              <a:rPr lang="en-IN" b="1" dirty="0"/>
              <a:t>Move resources</a:t>
            </a:r>
            <a:r>
              <a:rPr lang="en-IN" dirty="0"/>
              <a:t> pane, select </a:t>
            </a:r>
            <a:r>
              <a:rPr lang="en-IN" dirty="0">
                <a:latin typeface="Courier New" panose="02070309020205020404" pitchFamily="49" charset="0"/>
              </a:rPr>
              <a:t>az104-rg-target</a:t>
            </a:r>
            <a:r>
              <a:rPr lang="en-IN" dirty="0"/>
              <a:t> as the destination.</a:t>
            </a:r>
          </a:p>
          <a:p>
            <a:pPr marL="342900" lvl="0" indent="-342900" rtl="0">
              <a:buFont typeface="+mj-lt"/>
              <a:buAutoNum type="arabicPeriod" startAt="7"/>
            </a:pPr>
            <a:r>
              <a:rPr lang="en-IN" dirty="0"/>
              <a:t>Check the acknowledgement box confirming you understand associated tools/scripts will need updating, then select </a:t>
            </a:r>
            <a:r>
              <a:rPr lang="en-IN" b="1" dirty="0"/>
              <a:t>Next</a:t>
            </a:r>
            <a:r>
              <a:rPr lang="en-IN" dirty="0"/>
              <a:t>.</a:t>
            </a:r>
          </a:p>
        </p:txBody>
      </p:sp>
      <p:pic>
        <p:nvPicPr>
          <p:cNvPr id="8" name="Picture 7">
            <a:extLst>
              <a:ext uri="{FF2B5EF4-FFF2-40B4-BE49-F238E27FC236}">
                <a16:creationId xmlns:a16="http://schemas.microsoft.com/office/drawing/2014/main" id="{8DE0266F-CAC8-548E-DF21-DC2D805E8BDA}"/>
              </a:ext>
            </a:extLst>
          </p:cNvPr>
          <p:cNvPicPr>
            <a:picLocks noChangeAspect="1"/>
          </p:cNvPicPr>
          <p:nvPr/>
        </p:nvPicPr>
        <p:blipFill>
          <a:blip r:embed="rId2"/>
          <a:stretch>
            <a:fillRect/>
          </a:stretch>
        </p:blipFill>
        <p:spPr>
          <a:xfrm>
            <a:off x="129540" y="84137"/>
            <a:ext cx="708659" cy="561975"/>
          </a:xfrm>
          <a:prstGeom prst="rect">
            <a:avLst/>
          </a:prstGeom>
        </p:spPr>
      </p:pic>
    </p:spTree>
    <p:extLst>
      <p:ext uri="{BB962C8B-B14F-4D97-AF65-F5344CB8AC3E}">
        <p14:creationId xmlns:p14="http://schemas.microsoft.com/office/powerpoint/2010/main" val="1007364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7B07-01D0-5881-231A-CFBFB1CEC5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BFA53A-95D6-E05E-540C-5C4B34E678E5}"/>
              </a:ext>
            </a:extLst>
          </p:cNvPr>
          <p:cNvSpPr>
            <a:spLocks noGrp="1"/>
          </p:cNvSpPr>
          <p:nvPr>
            <p:ph idx="1"/>
          </p:nvPr>
        </p:nvSpPr>
        <p:spPr/>
        <p:txBody>
          <a:bodyPr/>
          <a:lstStyle/>
          <a:p>
            <a:pPr marL="342900" lvl="0" indent="-342900">
              <a:buFont typeface="+mj-lt"/>
              <a:buAutoNum type="arabicPeriod" startAt="7"/>
            </a:pPr>
            <a:r>
              <a:rPr lang="en-IN" dirty="0"/>
              <a:t>Once validation succeeds, select </a:t>
            </a:r>
            <a:r>
              <a:rPr lang="en-IN" b="1" dirty="0"/>
              <a:t>Move</a:t>
            </a:r>
            <a:r>
              <a:rPr lang="en-IN" dirty="0"/>
              <a:t>.</a:t>
            </a:r>
          </a:p>
          <a:p>
            <a:pPr marL="342900" lvl="0" indent="-342900">
              <a:buFont typeface="+mj-lt"/>
              <a:buAutoNum type="arabicPeriod" startAt="7"/>
            </a:pPr>
            <a:r>
              <a:rPr lang="en-IN" dirty="0"/>
              <a:t>Wait for the move to complete (track via the notification bell), then open </a:t>
            </a:r>
            <a:r>
              <a:rPr lang="en-IN" dirty="0">
                <a:latin typeface="Courier New" panose="02070309020205020404" pitchFamily="49" charset="0"/>
              </a:rPr>
              <a:t>az104-rg-target</a:t>
            </a:r>
            <a:r>
              <a:rPr lang="en-IN" dirty="0"/>
              <a:t> and confirm </a:t>
            </a:r>
            <a:r>
              <a:rPr lang="en-IN" dirty="0">
                <a:latin typeface="Courier New" panose="02070309020205020404" pitchFamily="49" charset="0"/>
              </a:rPr>
              <a:t>az104storagedemo</a:t>
            </a:r>
            <a:r>
              <a:rPr lang="en-IN" dirty="0"/>
              <a:t> now appears there.</a:t>
            </a:r>
          </a:p>
          <a:p>
            <a:pPr marL="342900" lvl="0" indent="-342900">
              <a:buFont typeface="+mj-lt"/>
              <a:buAutoNum type="arabicPeriod" startAt="7"/>
            </a:pPr>
            <a:r>
              <a:rPr lang="en-IN" dirty="0"/>
              <a:t>Open </a:t>
            </a:r>
            <a:r>
              <a:rPr lang="en-IN" dirty="0">
                <a:latin typeface="Courier New" panose="02070309020205020404" pitchFamily="49" charset="0"/>
              </a:rPr>
              <a:t>az104-rg-demo</a:t>
            </a:r>
            <a:r>
              <a:rPr lang="en-IN" dirty="0"/>
              <a:t> and confirm the storage account no longer appears in the list.</a:t>
            </a:r>
          </a:p>
          <a:p>
            <a:pPr marL="0" indent="0">
              <a:buNone/>
            </a:pPr>
            <a:endParaRPr lang="en-IN" dirty="0"/>
          </a:p>
        </p:txBody>
      </p:sp>
      <p:pic>
        <p:nvPicPr>
          <p:cNvPr id="5" name="Picture 4">
            <a:extLst>
              <a:ext uri="{FF2B5EF4-FFF2-40B4-BE49-F238E27FC236}">
                <a16:creationId xmlns:a16="http://schemas.microsoft.com/office/drawing/2014/main" id="{CEB3165B-B904-8E7B-5658-697C7FCAB7F2}"/>
              </a:ext>
            </a:extLst>
          </p:cNvPr>
          <p:cNvPicPr>
            <a:picLocks noChangeAspect="1"/>
          </p:cNvPicPr>
          <p:nvPr/>
        </p:nvPicPr>
        <p:blipFill>
          <a:blip r:embed="rId2"/>
          <a:stretch>
            <a:fillRect/>
          </a:stretch>
        </p:blipFill>
        <p:spPr>
          <a:xfrm>
            <a:off x="0" y="16669"/>
            <a:ext cx="2057400" cy="561975"/>
          </a:xfrm>
          <a:prstGeom prst="rect">
            <a:avLst/>
          </a:prstGeom>
        </p:spPr>
      </p:pic>
    </p:spTree>
    <p:extLst>
      <p:ext uri="{BB962C8B-B14F-4D97-AF65-F5344CB8AC3E}">
        <p14:creationId xmlns:p14="http://schemas.microsoft.com/office/powerpoint/2010/main" val="2431844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5DD7-C352-707A-6CB9-0D9158F460AC}"/>
              </a:ext>
            </a:extLst>
          </p:cNvPr>
          <p:cNvSpPr>
            <a:spLocks noGrp="1"/>
          </p:cNvSpPr>
          <p:nvPr>
            <p:ph type="title"/>
          </p:nvPr>
        </p:nvSpPr>
        <p:spPr/>
        <p:txBody>
          <a:bodyPr/>
          <a:lstStyle/>
          <a:p>
            <a:r>
              <a:rPr lang="en-IN" dirty="0"/>
              <a:t>Move a Resource Between Resource Groups</a:t>
            </a:r>
          </a:p>
        </p:txBody>
      </p:sp>
      <p:sp>
        <p:nvSpPr>
          <p:cNvPr id="3" name="Content Placeholder 2">
            <a:extLst>
              <a:ext uri="{FF2B5EF4-FFF2-40B4-BE49-F238E27FC236}">
                <a16:creationId xmlns:a16="http://schemas.microsoft.com/office/drawing/2014/main" id="{585137CD-AEFE-7FC5-F6CD-5BA6903B955D}"/>
              </a:ext>
            </a:extLst>
          </p:cNvPr>
          <p:cNvSpPr>
            <a:spLocks noGrp="1"/>
          </p:cNvSpPr>
          <p:nvPr>
            <p:ph idx="1"/>
          </p:nvPr>
        </p:nvSpPr>
        <p:spPr/>
        <p:txBody>
          <a:bodyPr>
            <a:normAutofit fontScale="70000" lnSpcReduction="20000"/>
          </a:bodyPr>
          <a:lstStyle/>
          <a:p>
            <a:pPr lvl="0"/>
            <a:r>
              <a:rPr lang="en-IN" dirty="0"/>
              <a:t>Open the source Resource </a:t>
            </a:r>
            <a:r>
              <a:rPr lang="en-IN" dirty="0" err="1"/>
              <a:t>GroupNavigate</a:t>
            </a:r>
            <a:r>
              <a:rPr lang="en-IN" dirty="0"/>
              <a:t> to 'Resource groups' in the left sidebar and click the Resource Group that currently contains the resource you want to move.</a:t>
            </a:r>
          </a:p>
          <a:p>
            <a:pPr lvl="0"/>
            <a:r>
              <a:rPr lang="en-IN" dirty="0"/>
              <a:t>Select the resource(s)In the resource list, check the checkbox next to the resource(s) you want to move. Multiple resources can be selected if they support moving together.</a:t>
            </a:r>
          </a:p>
          <a:p>
            <a:pPr lvl="0"/>
            <a:r>
              <a:rPr lang="en-IN" dirty="0"/>
              <a:t>Click '</a:t>
            </a:r>
            <a:r>
              <a:rPr lang="en-IN" dirty="0" err="1"/>
              <a:t>Move'In</a:t>
            </a:r>
            <a:r>
              <a:rPr lang="en-IN" dirty="0"/>
              <a:t> the top toolbar, click 'Move' → 'Move to another resource group' (you'll also see an option to move to another subscription).</a:t>
            </a:r>
          </a:p>
          <a:p>
            <a:pPr lvl="0"/>
            <a:r>
              <a:rPr lang="en-IN" dirty="0"/>
              <a:t>Select </a:t>
            </a:r>
            <a:r>
              <a:rPr lang="en-IN" dirty="0" err="1"/>
              <a:t>destinationA</a:t>
            </a:r>
            <a:r>
              <a:rPr lang="en-IN" dirty="0"/>
              <a:t> panel opens on the right. Choose the destination Resource Group from the dropdown (or create a new one). Review the list of resources being moved — Azure also shows dependent resources that must move together.</a:t>
            </a:r>
          </a:p>
          <a:p>
            <a:pPr lvl="0"/>
            <a:r>
              <a:rPr lang="en-IN" dirty="0"/>
              <a:t>Acknowledge and </a:t>
            </a:r>
            <a:r>
              <a:rPr lang="en-IN" dirty="0" err="1"/>
              <a:t>validateCheck</a:t>
            </a:r>
            <a:r>
              <a:rPr lang="en-IN" dirty="0"/>
              <a:t> the box confirming you understand that tools/scripts referencing the old resource ID will need updating. Click 'Next' — Azure runs a validation check to confirm the move is supported for these resource types.</a:t>
            </a:r>
          </a:p>
          <a:p>
            <a:pPr lvl="0"/>
            <a:r>
              <a:rPr lang="en-IN" dirty="0"/>
              <a:t>Confirm the </a:t>
            </a:r>
            <a:r>
              <a:rPr lang="en-IN" dirty="0" err="1"/>
              <a:t>moveAfter</a:t>
            </a:r>
            <a:r>
              <a:rPr lang="en-IN" dirty="0"/>
              <a:t> validation passes, click 'Move'. This can take a few minutes. Track progress via the notifications bell.</a:t>
            </a:r>
          </a:p>
          <a:p>
            <a:pPr lvl="0"/>
            <a:r>
              <a:rPr lang="en-IN" dirty="0"/>
              <a:t>Verify in destination </a:t>
            </a:r>
            <a:r>
              <a:rPr lang="en-IN" dirty="0" err="1"/>
              <a:t>groupOpen</a:t>
            </a:r>
            <a:r>
              <a:rPr lang="en-IN" dirty="0"/>
              <a:t> the destination Resource Group and confirm the resource now appears there, and confirm it's no longer listed in the source group.</a:t>
            </a:r>
          </a:p>
          <a:p>
            <a:pPr lvl="0"/>
            <a:endParaRPr lang="en-IN" dirty="0"/>
          </a:p>
          <a:p>
            <a:endParaRPr lang="en-IN" dirty="0"/>
          </a:p>
        </p:txBody>
      </p:sp>
      <p:pic>
        <p:nvPicPr>
          <p:cNvPr id="5" name="Picture 4">
            <a:extLst>
              <a:ext uri="{FF2B5EF4-FFF2-40B4-BE49-F238E27FC236}">
                <a16:creationId xmlns:a16="http://schemas.microsoft.com/office/drawing/2014/main" id="{0630AAEF-895B-2C1E-951C-5888255AA060}"/>
              </a:ext>
            </a:extLst>
          </p:cNvPr>
          <p:cNvPicPr>
            <a:picLocks noChangeAspect="1"/>
          </p:cNvPicPr>
          <p:nvPr/>
        </p:nvPicPr>
        <p:blipFill>
          <a:blip r:embed="rId2"/>
          <a:stretch>
            <a:fillRect/>
          </a:stretch>
        </p:blipFill>
        <p:spPr>
          <a:xfrm>
            <a:off x="183328" y="84137"/>
            <a:ext cx="2057400" cy="561975"/>
          </a:xfrm>
          <a:prstGeom prst="rect">
            <a:avLst/>
          </a:prstGeom>
        </p:spPr>
      </p:pic>
    </p:spTree>
    <p:extLst>
      <p:ext uri="{BB962C8B-B14F-4D97-AF65-F5344CB8AC3E}">
        <p14:creationId xmlns:p14="http://schemas.microsoft.com/office/powerpoint/2010/main" val="3570074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EE10D-5B98-C980-E027-146ED6391B5E}"/>
              </a:ext>
            </a:extLst>
          </p:cNvPr>
          <p:cNvSpPr>
            <a:spLocks noGrp="1"/>
          </p:cNvSpPr>
          <p:nvPr>
            <p:ph type="title"/>
          </p:nvPr>
        </p:nvSpPr>
        <p:spPr/>
        <p:txBody>
          <a:bodyPr/>
          <a:lstStyle/>
          <a:p>
            <a:r>
              <a:rPr lang="en-IN" dirty="0"/>
              <a:t>Task 3: Implement and test a resource lock</a:t>
            </a:r>
          </a:p>
        </p:txBody>
      </p:sp>
      <p:sp>
        <p:nvSpPr>
          <p:cNvPr id="3" name="Content Placeholder 2">
            <a:extLst>
              <a:ext uri="{FF2B5EF4-FFF2-40B4-BE49-F238E27FC236}">
                <a16:creationId xmlns:a16="http://schemas.microsoft.com/office/drawing/2014/main" id="{60EB1093-7E5D-92F0-842E-80F8BD9C4508}"/>
              </a:ext>
            </a:extLst>
          </p:cNvPr>
          <p:cNvSpPr>
            <a:spLocks noGrp="1"/>
          </p:cNvSpPr>
          <p:nvPr>
            <p:ph idx="1"/>
          </p:nvPr>
        </p:nvSpPr>
        <p:spPr/>
        <p:txBody>
          <a:bodyPr/>
          <a:lstStyle/>
          <a:p>
            <a:r>
              <a:rPr lang="en-IN" dirty="0"/>
              <a:t>In this task, you add a </a:t>
            </a:r>
            <a:r>
              <a:rPr lang="en-IN" b="1" dirty="0"/>
              <a:t>Delete</a:t>
            </a:r>
            <a:r>
              <a:rPr lang="en-IN" dirty="0"/>
              <a:t> lock to the storage account, verify it blocks deletion, then remove it.</a:t>
            </a:r>
          </a:p>
          <a:p>
            <a:pPr lvl="0"/>
            <a:r>
              <a:rPr lang="en-IN" dirty="0"/>
              <a:t>Navigate to az104-rg-target and select az104storagedemo to open it.</a:t>
            </a:r>
          </a:p>
          <a:p>
            <a:pPr lvl="0"/>
            <a:r>
              <a:rPr lang="en-IN" dirty="0"/>
              <a:t>In the left-hand menu, under </a:t>
            </a:r>
            <a:r>
              <a:rPr lang="en-IN" b="1" dirty="0"/>
              <a:t>Settings</a:t>
            </a:r>
            <a:r>
              <a:rPr lang="en-IN" dirty="0"/>
              <a:t>, select </a:t>
            </a:r>
            <a:r>
              <a:rPr lang="en-IN" b="1" dirty="0"/>
              <a:t>Locks</a:t>
            </a:r>
            <a:r>
              <a:rPr lang="en-IN" dirty="0"/>
              <a:t>.</a:t>
            </a:r>
          </a:p>
          <a:p>
            <a:pPr lvl="0"/>
            <a:r>
              <a:rPr lang="en-IN" dirty="0"/>
              <a:t>Select </a:t>
            </a:r>
            <a:r>
              <a:rPr lang="en-IN" b="1" dirty="0"/>
              <a:t>+ Add</a:t>
            </a:r>
            <a:r>
              <a:rPr lang="en-IN" dirty="0"/>
              <a:t>.</a:t>
            </a:r>
          </a:p>
          <a:p>
            <a:pPr lvl="0"/>
            <a:r>
              <a:rPr lang="en-IN" dirty="0"/>
              <a:t>Configure the lock:</a:t>
            </a:r>
          </a:p>
          <a:p>
            <a:endParaRPr lang="en-IN" dirty="0"/>
          </a:p>
        </p:txBody>
      </p:sp>
      <p:pic>
        <p:nvPicPr>
          <p:cNvPr id="5" name="Picture 4">
            <a:extLst>
              <a:ext uri="{FF2B5EF4-FFF2-40B4-BE49-F238E27FC236}">
                <a16:creationId xmlns:a16="http://schemas.microsoft.com/office/drawing/2014/main" id="{4C65F67A-6E7D-7175-2AF4-985C84412833}"/>
              </a:ext>
            </a:extLst>
          </p:cNvPr>
          <p:cNvPicPr>
            <a:picLocks noChangeAspect="1"/>
          </p:cNvPicPr>
          <p:nvPr/>
        </p:nvPicPr>
        <p:blipFill>
          <a:blip r:embed="rId2"/>
          <a:stretch>
            <a:fillRect/>
          </a:stretch>
        </p:blipFill>
        <p:spPr>
          <a:xfrm>
            <a:off x="108025" y="16669"/>
            <a:ext cx="2057400" cy="561975"/>
          </a:xfrm>
          <a:prstGeom prst="rect">
            <a:avLst/>
          </a:prstGeom>
        </p:spPr>
      </p:pic>
    </p:spTree>
    <p:extLst>
      <p:ext uri="{BB962C8B-B14F-4D97-AF65-F5344CB8AC3E}">
        <p14:creationId xmlns:p14="http://schemas.microsoft.com/office/powerpoint/2010/main" val="1139472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816D8-32C6-F789-407C-90F2921A65C5}"/>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E7E0A7CC-1E6C-3646-0992-DE3B36419F17}"/>
              </a:ext>
            </a:extLst>
          </p:cNvPr>
          <p:cNvGraphicFramePr>
            <a:graphicFrameLocks noGrp="1"/>
          </p:cNvGraphicFramePr>
          <p:nvPr>
            <p:ph idx="1"/>
            <p:extLst>
              <p:ext uri="{D42A27DB-BD31-4B8C-83A1-F6EECF244321}">
                <p14:modId xmlns:p14="http://schemas.microsoft.com/office/powerpoint/2010/main" val="4019754502"/>
              </p:ext>
            </p:extLst>
          </p:nvPr>
        </p:nvGraphicFramePr>
        <p:xfrm>
          <a:off x="1032734" y="1904104"/>
          <a:ext cx="10321066" cy="2965871"/>
        </p:xfrm>
        <a:graphic>
          <a:graphicData uri="http://schemas.openxmlformats.org/drawingml/2006/table">
            <a:tbl>
              <a:tblPr/>
              <a:tblGrid>
                <a:gridCol w="5160533">
                  <a:extLst>
                    <a:ext uri="{9D8B030D-6E8A-4147-A177-3AD203B41FA5}">
                      <a16:colId xmlns:a16="http://schemas.microsoft.com/office/drawing/2014/main" val="1827795692"/>
                    </a:ext>
                  </a:extLst>
                </a:gridCol>
                <a:gridCol w="5160533">
                  <a:extLst>
                    <a:ext uri="{9D8B030D-6E8A-4147-A177-3AD203B41FA5}">
                      <a16:colId xmlns:a16="http://schemas.microsoft.com/office/drawing/2014/main" val="583148799"/>
                    </a:ext>
                  </a:extLst>
                </a:gridCol>
              </a:tblGrid>
              <a:tr h="624394">
                <a:tc>
                  <a:txBody>
                    <a:bodyPr/>
                    <a:lstStyle/>
                    <a:p>
                      <a:pPr>
                        <a:buNone/>
                      </a:pPr>
                      <a:r>
                        <a:rPr lang="en-IN" dirty="0"/>
                        <a:t>Setting</a:t>
                      </a:r>
                    </a:p>
                  </a:txBody>
                  <a:tcPr anchor="ctr">
                    <a:lnL>
                      <a:noFill/>
                    </a:lnL>
                    <a:lnR>
                      <a:noFill/>
                    </a:lnR>
                    <a:lnT>
                      <a:noFill/>
                    </a:lnT>
                    <a:lnB>
                      <a:noFill/>
                    </a:lnB>
                    <a:noFill/>
                  </a:tcPr>
                </a:tc>
                <a:tc>
                  <a:txBody>
                    <a:bodyPr/>
                    <a:lstStyle/>
                    <a:p>
                      <a:pPr>
                        <a:buNone/>
                      </a:pPr>
                      <a:r>
                        <a:rPr lang="en-IN"/>
                        <a:t>Value</a:t>
                      </a:r>
                    </a:p>
                  </a:txBody>
                  <a:tcPr anchor="ctr">
                    <a:lnL>
                      <a:noFill/>
                    </a:lnL>
                    <a:lnR>
                      <a:noFill/>
                    </a:lnR>
                    <a:lnT>
                      <a:noFill/>
                    </a:lnT>
                    <a:lnB>
                      <a:noFill/>
                    </a:lnB>
                    <a:noFill/>
                  </a:tcPr>
                </a:tc>
                <a:extLst>
                  <a:ext uri="{0D108BD9-81ED-4DB2-BD59-A6C34878D82A}">
                    <a16:rowId xmlns:a16="http://schemas.microsoft.com/office/drawing/2014/main" val="3100748071"/>
                  </a:ext>
                </a:extLst>
              </a:tr>
              <a:tr h="624394">
                <a:tc>
                  <a:txBody>
                    <a:bodyPr/>
                    <a:lstStyle/>
                    <a:p>
                      <a:pPr>
                        <a:buNone/>
                      </a:pPr>
                      <a:r>
                        <a:rPr lang="en-IN"/>
                        <a:t>Lock name</a:t>
                      </a:r>
                    </a:p>
                  </a:txBody>
                  <a:tcPr anchor="ctr">
                    <a:lnL>
                      <a:noFill/>
                    </a:lnL>
                    <a:lnR>
                      <a:noFill/>
                    </a:lnR>
                    <a:lnT>
                      <a:noFill/>
                    </a:lnT>
                    <a:lnB>
                      <a:noFill/>
                    </a:lnB>
                    <a:noFill/>
                  </a:tcPr>
                </a:tc>
                <a:tc>
                  <a:txBody>
                    <a:bodyPr/>
                    <a:lstStyle/>
                    <a:p>
                      <a:pPr>
                        <a:buNone/>
                      </a:pPr>
                      <a:r>
                        <a:rPr lang="en-IN">
                          <a:latin typeface="Courier New" panose="02070309020205020404" pitchFamily="49" charset="0"/>
                        </a:rPr>
                        <a:t>PreventDelete-Demo</a:t>
                      </a:r>
                      <a:endParaRPr lang="en-IN"/>
                    </a:p>
                  </a:txBody>
                  <a:tcPr anchor="ctr">
                    <a:lnL>
                      <a:noFill/>
                    </a:lnL>
                    <a:lnR>
                      <a:noFill/>
                    </a:lnR>
                    <a:lnT>
                      <a:noFill/>
                    </a:lnT>
                    <a:lnB>
                      <a:noFill/>
                    </a:lnB>
                    <a:noFill/>
                  </a:tcPr>
                </a:tc>
                <a:extLst>
                  <a:ext uri="{0D108BD9-81ED-4DB2-BD59-A6C34878D82A}">
                    <a16:rowId xmlns:a16="http://schemas.microsoft.com/office/drawing/2014/main" val="1644983620"/>
                  </a:ext>
                </a:extLst>
              </a:tr>
              <a:tr h="624394">
                <a:tc>
                  <a:txBody>
                    <a:bodyPr/>
                    <a:lstStyle/>
                    <a:p>
                      <a:pPr>
                        <a:buNone/>
                      </a:pPr>
                      <a:r>
                        <a:rPr lang="en-IN"/>
                        <a:t>Lock type</a:t>
                      </a:r>
                    </a:p>
                  </a:txBody>
                  <a:tcPr anchor="ctr">
                    <a:lnL>
                      <a:noFill/>
                    </a:lnL>
                    <a:lnR>
                      <a:noFill/>
                    </a:lnR>
                    <a:lnT>
                      <a:noFill/>
                    </a:lnT>
                    <a:lnB>
                      <a:noFill/>
                    </a:lnB>
                    <a:noFill/>
                  </a:tcPr>
                </a:tc>
                <a:tc>
                  <a:txBody>
                    <a:bodyPr/>
                    <a:lstStyle/>
                    <a:p>
                      <a:pPr>
                        <a:buNone/>
                      </a:pPr>
                      <a:r>
                        <a:rPr lang="en-IN" b="1"/>
                        <a:t>Delete</a:t>
                      </a:r>
                      <a:endParaRPr lang="en-IN"/>
                    </a:p>
                  </a:txBody>
                  <a:tcPr anchor="ctr">
                    <a:lnL>
                      <a:noFill/>
                    </a:lnL>
                    <a:lnR>
                      <a:noFill/>
                    </a:lnR>
                    <a:lnT>
                      <a:noFill/>
                    </a:lnT>
                    <a:lnB>
                      <a:noFill/>
                    </a:lnB>
                    <a:noFill/>
                  </a:tcPr>
                </a:tc>
                <a:extLst>
                  <a:ext uri="{0D108BD9-81ED-4DB2-BD59-A6C34878D82A}">
                    <a16:rowId xmlns:a16="http://schemas.microsoft.com/office/drawing/2014/main" val="699540873"/>
                  </a:ext>
                </a:extLst>
              </a:tr>
              <a:tr h="1092689">
                <a:tc>
                  <a:txBody>
                    <a:bodyPr/>
                    <a:lstStyle/>
                    <a:p>
                      <a:pPr>
                        <a:buNone/>
                      </a:pPr>
                      <a:r>
                        <a:rPr lang="en-IN"/>
                        <a:t>Notes</a:t>
                      </a:r>
                    </a:p>
                  </a:txBody>
                  <a:tcPr anchor="ctr">
                    <a:lnL>
                      <a:noFill/>
                    </a:lnL>
                    <a:lnR>
                      <a:noFill/>
                    </a:lnR>
                    <a:lnT>
                      <a:noFill/>
                    </a:lnT>
                    <a:lnB>
                      <a:noFill/>
                    </a:lnB>
                    <a:noFill/>
                  </a:tcPr>
                </a:tc>
                <a:tc>
                  <a:txBody>
                    <a:bodyPr/>
                    <a:lstStyle/>
                    <a:p>
                      <a:pPr>
                        <a:buNone/>
                      </a:pPr>
                      <a:r>
                        <a:rPr lang="en-IN" dirty="0">
                          <a:latin typeface="Courier New" panose="02070309020205020404" pitchFamily="49" charset="0"/>
                        </a:rPr>
                        <a:t>Prevents accidental deletion during testing</a:t>
                      </a:r>
                      <a:endParaRPr lang="en-IN" dirty="0"/>
                    </a:p>
                  </a:txBody>
                  <a:tcPr anchor="ctr">
                    <a:lnL>
                      <a:noFill/>
                    </a:lnL>
                    <a:lnR>
                      <a:noFill/>
                    </a:lnR>
                    <a:lnT>
                      <a:noFill/>
                    </a:lnT>
                    <a:lnB>
                      <a:noFill/>
                    </a:lnB>
                    <a:noFill/>
                  </a:tcPr>
                </a:tc>
                <a:extLst>
                  <a:ext uri="{0D108BD9-81ED-4DB2-BD59-A6C34878D82A}">
                    <a16:rowId xmlns:a16="http://schemas.microsoft.com/office/drawing/2014/main" val="4269654765"/>
                  </a:ext>
                </a:extLst>
              </a:tr>
            </a:tbl>
          </a:graphicData>
        </a:graphic>
      </p:graphicFrame>
      <p:pic>
        <p:nvPicPr>
          <p:cNvPr id="6" name="Picture 5">
            <a:extLst>
              <a:ext uri="{FF2B5EF4-FFF2-40B4-BE49-F238E27FC236}">
                <a16:creationId xmlns:a16="http://schemas.microsoft.com/office/drawing/2014/main" id="{8C66BDEA-A2E2-18F6-35A3-31AF149605DD}"/>
              </a:ext>
            </a:extLst>
          </p:cNvPr>
          <p:cNvPicPr>
            <a:picLocks noChangeAspect="1"/>
          </p:cNvPicPr>
          <p:nvPr/>
        </p:nvPicPr>
        <p:blipFill>
          <a:blip r:embed="rId2"/>
          <a:stretch>
            <a:fillRect/>
          </a:stretch>
        </p:blipFill>
        <p:spPr>
          <a:xfrm>
            <a:off x="4034" y="84137"/>
            <a:ext cx="2057400" cy="561975"/>
          </a:xfrm>
          <a:prstGeom prst="rect">
            <a:avLst/>
          </a:prstGeom>
        </p:spPr>
      </p:pic>
    </p:spTree>
    <p:extLst>
      <p:ext uri="{BB962C8B-B14F-4D97-AF65-F5344CB8AC3E}">
        <p14:creationId xmlns:p14="http://schemas.microsoft.com/office/powerpoint/2010/main" val="1520269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A96B-B143-18F1-E37F-8F589CE4F7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A5A156-D190-A02D-0403-8FA2A8509CD1}"/>
              </a:ext>
            </a:extLst>
          </p:cNvPr>
          <p:cNvSpPr>
            <a:spLocks noGrp="1"/>
          </p:cNvSpPr>
          <p:nvPr>
            <p:ph idx="1"/>
          </p:nvPr>
        </p:nvSpPr>
        <p:spPr/>
        <p:txBody>
          <a:bodyPr/>
          <a:lstStyle/>
          <a:p>
            <a:pPr lvl="0"/>
            <a:r>
              <a:rPr lang="en-IN" dirty="0"/>
              <a:t>Select </a:t>
            </a:r>
            <a:r>
              <a:rPr lang="en-IN" b="1" dirty="0"/>
              <a:t>OK</a:t>
            </a:r>
            <a:r>
              <a:rPr lang="en-IN" dirty="0"/>
              <a:t>. Confirm the lock now appears in the </a:t>
            </a:r>
            <a:r>
              <a:rPr lang="en-IN" b="1" dirty="0"/>
              <a:t>Locks</a:t>
            </a:r>
            <a:r>
              <a:rPr lang="en-IN" dirty="0"/>
              <a:t> list.</a:t>
            </a:r>
          </a:p>
          <a:p>
            <a:pPr lvl="0"/>
            <a:r>
              <a:rPr lang="en-IN" dirty="0"/>
              <a:t>Attempt to delete the storage account (select </a:t>
            </a:r>
            <a:r>
              <a:rPr lang="en-IN" b="1" dirty="0"/>
              <a:t>Delete</a:t>
            </a:r>
            <a:r>
              <a:rPr lang="en-IN" dirty="0"/>
              <a:t> from the Overview blade toolbar).</a:t>
            </a:r>
          </a:p>
          <a:p>
            <a:pPr lvl="0"/>
            <a:r>
              <a:rPr lang="en-IN" dirty="0"/>
              <a:t>Return to the </a:t>
            </a:r>
            <a:r>
              <a:rPr lang="en-IN" b="1" dirty="0"/>
              <a:t>Locks</a:t>
            </a:r>
            <a:r>
              <a:rPr lang="en-IN" dirty="0"/>
              <a:t> blade, select </a:t>
            </a:r>
            <a:r>
              <a:rPr lang="en-IN" dirty="0" err="1"/>
              <a:t>PreventDelete</a:t>
            </a:r>
            <a:r>
              <a:rPr lang="en-IN" dirty="0"/>
              <a:t>-Demo, and select </a:t>
            </a:r>
            <a:r>
              <a:rPr lang="en-IN" b="1" dirty="0"/>
              <a:t>Delete</a:t>
            </a:r>
            <a:r>
              <a:rPr lang="en-IN" dirty="0"/>
              <a:t> to remove the lock.</a:t>
            </a:r>
          </a:p>
          <a:p>
            <a:pPr lvl="0"/>
            <a:r>
              <a:rPr lang="en-IN" dirty="0"/>
              <a:t>Retry deleting the storage account and confirm it now succeeds (optional — skip if you want to keep the resource for further practice).</a:t>
            </a:r>
          </a:p>
          <a:p>
            <a:endParaRPr lang="en-IN" dirty="0"/>
          </a:p>
        </p:txBody>
      </p:sp>
      <p:pic>
        <p:nvPicPr>
          <p:cNvPr id="5" name="Picture 4">
            <a:extLst>
              <a:ext uri="{FF2B5EF4-FFF2-40B4-BE49-F238E27FC236}">
                <a16:creationId xmlns:a16="http://schemas.microsoft.com/office/drawing/2014/main" id="{829B5FC5-B4F9-1D00-5696-EA8F666FD6C0}"/>
              </a:ext>
            </a:extLst>
          </p:cNvPr>
          <p:cNvPicPr>
            <a:picLocks noChangeAspect="1"/>
          </p:cNvPicPr>
          <p:nvPr/>
        </p:nvPicPr>
        <p:blipFill>
          <a:blip r:embed="rId2"/>
          <a:stretch>
            <a:fillRect/>
          </a:stretch>
        </p:blipFill>
        <p:spPr>
          <a:xfrm>
            <a:off x="0" y="119062"/>
            <a:ext cx="2057400" cy="561975"/>
          </a:xfrm>
          <a:prstGeom prst="rect">
            <a:avLst/>
          </a:prstGeom>
        </p:spPr>
      </p:pic>
    </p:spTree>
    <p:extLst>
      <p:ext uri="{BB962C8B-B14F-4D97-AF65-F5344CB8AC3E}">
        <p14:creationId xmlns:p14="http://schemas.microsoft.com/office/powerpoint/2010/main" val="3969949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E4A4-06B0-F46D-F1D9-C1FBFE3E071A}"/>
              </a:ext>
            </a:extLst>
          </p:cNvPr>
          <p:cNvSpPr>
            <a:spLocks noGrp="1"/>
          </p:cNvSpPr>
          <p:nvPr>
            <p:ph type="title"/>
          </p:nvPr>
        </p:nvSpPr>
        <p:spPr/>
        <p:txBody>
          <a:bodyPr/>
          <a:lstStyle/>
          <a:p>
            <a:r>
              <a:rPr lang="en-IN" dirty="0"/>
              <a:t>Task 3: Implement and Test a Resource Lock</a:t>
            </a:r>
          </a:p>
        </p:txBody>
      </p:sp>
      <p:sp>
        <p:nvSpPr>
          <p:cNvPr id="3" name="Content Placeholder 2">
            <a:extLst>
              <a:ext uri="{FF2B5EF4-FFF2-40B4-BE49-F238E27FC236}">
                <a16:creationId xmlns:a16="http://schemas.microsoft.com/office/drawing/2014/main" id="{EDD53040-1143-1353-70D2-0E4E1AFD93F1}"/>
              </a:ext>
            </a:extLst>
          </p:cNvPr>
          <p:cNvSpPr>
            <a:spLocks noGrp="1"/>
          </p:cNvSpPr>
          <p:nvPr>
            <p:ph idx="1"/>
          </p:nvPr>
        </p:nvSpPr>
        <p:spPr/>
        <p:txBody>
          <a:bodyPr>
            <a:normAutofit fontScale="55000" lnSpcReduction="20000"/>
          </a:bodyPr>
          <a:lstStyle/>
          <a:p>
            <a:pPr lvl="0"/>
            <a:r>
              <a:rPr lang="en-IN" dirty="0"/>
              <a:t>Navigate to the resource or Resource </a:t>
            </a:r>
            <a:r>
              <a:rPr lang="en-IN" dirty="0" err="1"/>
              <a:t>GroupLocks</a:t>
            </a:r>
            <a:r>
              <a:rPr lang="en-IN" dirty="0"/>
              <a:t> can be applied at three scopes: Subscription, Resource Group, or individual Resource. Go to whichever level you want to protect — for a single resource, open that resource's blade; for a whole group, open the Resource Group.</a:t>
            </a:r>
          </a:p>
          <a:p>
            <a:pPr lvl="0"/>
            <a:r>
              <a:rPr lang="en-IN" dirty="0"/>
              <a:t>Open the 'Locks' </a:t>
            </a:r>
            <a:r>
              <a:rPr lang="en-IN" dirty="0" err="1"/>
              <a:t>bladeIn</a:t>
            </a:r>
            <a:r>
              <a:rPr lang="en-IN" dirty="0"/>
              <a:t> the left-hand menu of the resource/group, scroll to the 'Settings' section and click 'Locks'.</a:t>
            </a:r>
          </a:p>
          <a:p>
            <a:pPr lvl="0"/>
            <a:r>
              <a:rPr lang="en-IN" dirty="0"/>
              <a:t>Click '+ </a:t>
            </a:r>
            <a:r>
              <a:rPr lang="en-IN" dirty="0" err="1"/>
              <a:t>Add'This</a:t>
            </a:r>
            <a:r>
              <a:rPr lang="en-IN" dirty="0"/>
              <a:t> opens a form to create a new lock.</a:t>
            </a:r>
          </a:p>
          <a:p>
            <a:pPr lvl="0"/>
            <a:r>
              <a:rPr lang="en-IN" dirty="0"/>
              <a:t>Configure the </a:t>
            </a:r>
            <a:r>
              <a:rPr lang="en-IN" dirty="0" err="1"/>
              <a:t>lockGive</a:t>
            </a:r>
            <a:r>
              <a:rPr lang="en-IN" dirty="0"/>
              <a:t> it a Lock name (e.g., '</a:t>
            </a:r>
            <a:r>
              <a:rPr lang="en-IN" dirty="0" err="1"/>
              <a:t>PreventDelete</a:t>
            </a:r>
            <a:r>
              <a:rPr lang="en-IN" dirty="0"/>
              <a:t>-Prod'). Choose Lock type: 'Delete' (prevents deletion, allows edits) or 'Read-only' (prevents both edits and deletion). Optionally add Notes explaining why the lock exists.</a:t>
            </a:r>
          </a:p>
          <a:p>
            <a:pPr lvl="0"/>
            <a:r>
              <a:rPr lang="en-IN" dirty="0"/>
              <a:t>Click 'OK' to </a:t>
            </a:r>
            <a:r>
              <a:rPr lang="en-IN" dirty="0" err="1"/>
              <a:t>applyThe</a:t>
            </a:r>
            <a:r>
              <a:rPr lang="en-IN" dirty="0"/>
              <a:t> lock appears immediately in the Locks list for that scope.</a:t>
            </a:r>
          </a:p>
          <a:p>
            <a:pPr lvl="0"/>
            <a:r>
              <a:rPr lang="en-IN" dirty="0"/>
              <a:t>Test the Delete </a:t>
            </a:r>
            <a:r>
              <a:rPr lang="en-IN" dirty="0" err="1"/>
              <a:t>lockTry</a:t>
            </a:r>
            <a:r>
              <a:rPr lang="en-IN" dirty="0"/>
              <a:t> deleting the resource (or a resource inside the locked group). Azure will block the action with an error like 'The scope is locked... please remove the lock and try again.' This confirms the Delete lock works.</a:t>
            </a:r>
          </a:p>
          <a:p>
            <a:pPr lvl="0"/>
            <a:r>
              <a:rPr lang="en-IN" dirty="0"/>
              <a:t>Test the Read-only lock (if used)Try changing a setting (e.g., resize a VM, change a tag). Azure blocks the write operation with a similar lock error — confirming Read-only locks block both writes and deletes.</a:t>
            </a:r>
          </a:p>
          <a:p>
            <a:endParaRPr lang="en-IN" dirty="0"/>
          </a:p>
          <a:p>
            <a:r>
              <a:rPr lang="en-IN" dirty="0"/>
              <a:t>Remove the lock to clean </a:t>
            </a:r>
            <a:r>
              <a:rPr lang="en-IN" dirty="0" err="1"/>
              <a:t>upGo</a:t>
            </a:r>
            <a:r>
              <a:rPr lang="en-IN" dirty="0"/>
              <a:t> back to the Locks blade, select the lock, and click 'Delete' to remove it once your test is complete. Then retry the delete/edit action to confirm it now succeeds</a:t>
            </a:r>
          </a:p>
        </p:txBody>
      </p:sp>
      <p:pic>
        <p:nvPicPr>
          <p:cNvPr id="5" name="Picture 4">
            <a:extLst>
              <a:ext uri="{FF2B5EF4-FFF2-40B4-BE49-F238E27FC236}">
                <a16:creationId xmlns:a16="http://schemas.microsoft.com/office/drawing/2014/main" id="{C706A495-9D19-EAE1-9125-268D4B58C676}"/>
              </a:ext>
            </a:extLst>
          </p:cNvPr>
          <p:cNvPicPr>
            <a:picLocks noChangeAspect="1"/>
          </p:cNvPicPr>
          <p:nvPr/>
        </p:nvPicPr>
        <p:blipFill>
          <a:blip r:embed="rId2"/>
          <a:stretch>
            <a:fillRect/>
          </a:stretch>
        </p:blipFill>
        <p:spPr>
          <a:xfrm>
            <a:off x="0" y="0"/>
            <a:ext cx="2057400" cy="561975"/>
          </a:xfrm>
          <a:prstGeom prst="rect">
            <a:avLst/>
          </a:prstGeom>
        </p:spPr>
      </p:pic>
    </p:spTree>
    <p:extLst>
      <p:ext uri="{BB962C8B-B14F-4D97-AF65-F5344CB8AC3E}">
        <p14:creationId xmlns:p14="http://schemas.microsoft.com/office/powerpoint/2010/main" val="2091712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9893D-4A2D-0EE9-686E-9B9935E87EF0}"/>
              </a:ext>
            </a:extLst>
          </p:cNvPr>
          <p:cNvSpPr>
            <a:spLocks noGrp="1"/>
          </p:cNvSpPr>
          <p:nvPr>
            <p:ph type="title"/>
          </p:nvPr>
        </p:nvSpPr>
        <p:spPr/>
        <p:txBody>
          <a:bodyPr/>
          <a:lstStyle/>
          <a:p>
            <a:r>
              <a:rPr lang="en-IN" b="1" dirty="0"/>
              <a:t>Cleanup your resources</a:t>
            </a:r>
            <a:br>
              <a:rPr lang="en-IN" b="1" dirty="0"/>
            </a:br>
            <a:endParaRPr lang="en-IN" dirty="0"/>
          </a:p>
        </p:txBody>
      </p:sp>
      <p:sp>
        <p:nvSpPr>
          <p:cNvPr id="3" name="Content Placeholder 2">
            <a:extLst>
              <a:ext uri="{FF2B5EF4-FFF2-40B4-BE49-F238E27FC236}">
                <a16:creationId xmlns:a16="http://schemas.microsoft.com/office/drawing/2014/main" id="{4250B3E0-0B48-0DCC-FF86-F68F0AC8BA59}"/>
              </a:ext>
            </a:extLst>
          </p:cNvPr>
          <p:cNvSpPr>
            <a:spLocks noGrp="1"/>
          </p:cNvSpPr>
          <p:nvPr>
            <p:ph idx="1"/>
          </p:nvPr>
        </p:nvSpPr>
        <p:spPr/>
        <p:txBody>
          <a:bodyPr/>
          <a:lstStyle/>
          <a:p>
            <a:r>
              <a:rPr lang="en-IN" dirty="0"/>
              <a:t>If using your own subscription, delete the lab resources to avoid ongoing charges:</a:t>
            </a:r>
          </a:p>
          <a:p>
            <a:pPr lvl="0"/>
            <a:r>
              <a:rPr lang="en-IN" dirty="0"/>
              <a:t>In the Azure portal, open each resource group (az104-rg-demo, az104-rg-target), select </a:t>
            </a:r>
            <a:r>
              <a:rPr lang="en-IN" b="1" dirty="0"/>
              <a:t>Delete resource group</a:t>
            </a:r>
            <a:r>
              <a:rPr lang="en-IN" dirty="0"/>
              <a:t>, type the resource group name to confirm, then select </a:t>
            </a:r>
            <a:r>
              <a:rPr lang="en-IN" b="1" dirty="0"/>
              <a:t>Delete</a:t>
            </a:r>
            <a:r>
              <a:rPr lang="en-IN" dirty="0"/>
              <a:t>.</a:t>
            </a:r>
          </a:p>
          <a:p>
            <a:endParaRPr lang="en-IN" dirty="0"/>
          </a:p>
        </p:txBody>
      </p:sp>
      <p:pic>
        <p:nvPicPr>
          <p:cNvPr id="5" name="Picture 4">
            <a:extLst>
              <a:ext uri="{FF2B5EF4-FFF2-40B4-BE49-F238E27FC236}">
                <a16:creationId xmlns:a16="http://schemas.microsoft.com/office/drawing/2014/main" id="{FCF33D7F-A934-8266-C1C3-B46B782C96FB}"/>
              </a:ext>
            </a:extLst>
          </p:cNvPr>
          <p:cNvPicPr>
            <a:picLocks noChangeAspect="1"/>
          </p:cNvPicPr>
          <p:nvPr/>
        </p:nvPicPr>
        <p:blipFill>
          <a:blip r:embed="rId2"/>
          <a:stretch>
            <a:fillRect/>
          </a:stretch>
        </p:blipFill>
        <p:spPr>
          <a:xfrm>
            <a:off x="-96371" y="-50800"/>
            <a:ext cx="2057400" cy="561975"/>
          </a:xfrm>
          <a:prstGeom prst="rect">
            <a:avLst/>
          </a:prstGeom>
        </p:spPr>
      </p:pic>
    </p:spTree>
    <p:extLst>
      <p:ext uri="{BB962C8B-B14F-4D97-AF65-F5344CB8AC3E}">
        <p14:creationId xmlns:p14="http://schemas.microsoft.com/office/powerpoint/2010/main" val="1326702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78339-00A7-6D10-3199-7C824336CA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82082F-F6F7-0F8D-35FA-7194FD82564E}"/>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endParaRPr lang="en-IN"/>
          </a:p>
          <a:p>
            <a:pPr marL="0" indent="0" algn="ctr">
              <a:buNone/>
            </a:pPr>
            <a:r>
              <a:rPr lang="en-IN"/>
              <a:t>THANK </a:t>
            </a:r>
            <a:r>
              <a:rPr lang="en-IN" dirty="0"/>
              <a:t>YOU</a:t>
            </a:r>
          </a:p>
        </p:txBody>
      </p:sp>
      <p:pic>
        <p:nvPicPr>
          <p:cNvPr id="5" name="Picture 4">
            <a:extLst>
              <a:ext uri="{FF2B5EF4-FFF2-40B4-BE49-F238E27FC236}">
                <a16:creationId xmlns:a16="http://schemas.microsoft.com/office/drawing/2014/main" id="{809F2C1D-5171-331C-17E8-75CD58B944F7}"/>
              </a:ext>
            </a:extLst>
          </p:cNvPr>
          <p:cNvPicPr>
            <a:picLocks noChangeAspect="1"/>
          </p:cNvPicPr>
          <p:nvPr/>
        </p:nvPicPr>
        <p:blipFill>
          <a:blip r:embed="rId2"/>
          <a:stretch>
            <a:fillRect/>
          </a:stretch>
        </p:blipFill>
        <p:spPr>
          <a:xfrm>
            <a:off x="0" y="84137"/>
            <a:ext cx="2057400" cy="561975"/>
          </a:xfrm>
          <a:prstGeom prst="rect">
            <a:avLst/>
          </a:prstGeom>
        </p:spPr>
      </p:pic>
    </p:spTree>
    <p:extLst>
      <p:ext uri="{BB962C8B-B14F-4D97-AF65-F5344CB8AC3E}">
        <p14:creationId xmlns:p14="http://schemas.microsoft.com/office/powerpoint/2010/main" val="3609840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998</TotalTime>
  <Words>1795</Words>
  <Application>Microsoft Office PowerPoint</Application>
  <PresentationFormat>Widescreen</PresentationFormat>
  <Paragraphs>159</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Courier New</vt:lpstr>
      <vt:lpstr>Times New Roman</vt:lpstr>
      <vt:lpstr>Office Theme</vt:lpstr>
      <vt:lpstr>Microsoft Azure Administrator Associate (AZ-104)</vt:lpstr>
      <vt:lpstr>TASK 3</vt:lpstr>
      <vt:lpstr>Task introduction</vt:lpstr>
      <vt:lpstr>Resource Groups </vt:lpstr>
      <vt:lpstr>Key points </vt:lpstr>
      <vt:lpstr>Key points </vt:lpstr>
      <vt:lpstr>Moving Resources </vt:lpstr>
      <vt:lpstr>  Resource Locks  </vt:lpstr>
      <vt:lpstr>  Resource Locks  </vt:lpstr>
      <vt:lpstr>Deploy a resource to an existing resource group </vt:lpstr>
      <vt:lpstr>PowerPoint Presentation</vt:lpstr>
      <vt:lpstr>PowerPoint Presentation</vt:lpstr>
      <vt:lpstr>PowerPoint Presentation</vt:lpstr>
      <vt:lpstr>    </vt:lpstr>
      <vt:lpstr>Task 2: Move a resource between resource groups In this task, you move the storage account created in Task 1 into a second resource group. </vt:lpstr>
      <vt:lpstr>PowerPoint Presentation</vt:lpstr>
      <vt:lpstr>Move a Resource Between Resource Groups</vt:lpstr>
      <vt:lpstr>Task 3: Implement and test a resource lock</vt:lpstr>
      <vt:lpstr>PowerPoint Presentation</vt:lpstr>
      <vt:lpstr>PowerPoint Presentation</vt:lpstr>
      <vt:lpstr>Task 3: Implement and Test a Resource Lock</vt:lpstr>
      <vt:lpstr>Cleanup your resources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Raju Anitha</dc:creator>
  <cp:lastModifiedBy>Dr. Raju Anitha</cp:lastModifiedBy>
  <cp:revision>40</cp:revision>
  <dcterms:created xsi:type="dcterms:W3CDTF">2026-07-28T15:00:03Z</dcterms:created>
  <dcterms:modified xsi:type="dcterms:W3CDTF">2026-08-12T02:32:31Z</dcterms:modified>
</cp:coreProperties>
</file>