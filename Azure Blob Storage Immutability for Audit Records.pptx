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9D26D-8334-4001-8DAB-783D6329D04F}" v="52" dt="2026-08-26T00:35:33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2DE33-9B2D-40E1-8A05-78FDAC2F92C6}" type="datetimeFigureOut"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C2492-EF0C-4991-A4B0-8CD53FD3B7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0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486400" cy="5486400"/>
          </a:xfrm>
          <a:prstGeom prst="ellipse">
            <a:avLst/>
          </a:prstGeom>
          <a:solidFill>
            <a:srgbClr val="0C3866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1828800"/>
            <a:ext cx="2926080" cy="2926080"/>
          </a:xfrm>
          <a:prstGeom prst="ellipse">
            <a:avLst/>
          </a:prstGeom>
          <a:solidFill>
            <a:srgbClr val="0C386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5" name="Image 0" descr="/home/claude/azure-ppt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837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713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 •  CLOUD SECURITY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Blob Storage Immutability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Audit Records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58368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Tamper-Proof, WORM-Compliant Storage for Trustworthy Audit Logs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7863840" cy="1965960"/>
          </a:xfrm>
          <a:prstGeom prst="roundRect">
            <a:avLst>
              <a:gd name="adj" fmla="val 3721"/>
            </a:avLst>
          </a:prstGeom>
          <a:solidFill>
            <a:srgbClr val="0C3866"/>
          </a:solidFill>
          <a:ln w="12700">
            <a:solidFill>
              <a:srgbClr val="17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Chintha Saicharan — 2400030039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
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</a:t>
            </a:r>
            <a:endParaRPr lang="en-US" sz="1300" dirty="0"/>
          </a:p>
          <a:p>
            <a:pPr>
              <a:lnSpc>
                <a:spcPct val="114999"/>
              </a:lnSpc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2400032216, 2400030618, 2400030539</a:t>
            </a:r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4572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Lakshmi Patibandla, Associate Professor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
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Section: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Computer Science &amp; Engineering — Sec 55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" cy="65836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5" name="Image 0" descr="/home/claude/azure-ppt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17582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Blob Storage?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1965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Azure's massively scalable object storage service for unstructured data — documents, logs, backups, and media.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658368" cy="65836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9" name="Image 1" descr="/home/claude/azure-ppt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88" y="3175528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900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Audit Records?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383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logs that capture who did what, when, and where — used for security review, compliance, and forensics.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658368" cy="65836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3" name="Image 2" descr="/home/claude/azure-ppt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88" y="4592848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4074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Protection &amp; Immutability Matter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4800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are only trustworthy if they cannot be silently altered — immutability guarantees evidentiary integrity.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Current Log Storage Falls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103120"/>
            <a:ext cx="868680" cy="8686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azure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23116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&amp; Deletion Risk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stored on normal disks or standard cloud storage can be edited or erased by attackers or insiders to hide malicious activity.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2103120"/>
            <a:ext cx="868680" cy="8686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azure-ppt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483" y="23116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Tamper-Resistant Records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and audits require records that are provably unaltered from the moment they were written.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55480" y="2103120"/>
            <a:ext cx="868680" cy="8686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azure-ppt/icons/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963" y="23116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00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 Requirements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97764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(SEC 17a-4, HIPAA, GDPR, ISO 27001) mandate verifiable, tamper-proof retention of audit trails.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925312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A2647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9253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issue: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immutability, an audit log is only as trustworthy as the system administrator who can still change it.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434840"/>
          </a:xfrm>
          <a:prstGeom prst="roundRect">
            <a:avLst>
              <a:gd name="adj" fmla="val 2062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806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26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audit logs are the backbone of digital forensics, breach investigation, and regulatory audits.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26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use: banking transaction trails, healthcare access logs, government e-governance records, DevOps security logs.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26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immutable storage removes dependency on costly write-once hardware (optical/tape WORM devices).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26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automatically, integrates with existing Azure workloads, and reduces total cost of compliance.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557784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5778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5577840"/>
            <a:ext cx="1060704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557784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16936" y="5577840"/>
            <a:ext cx="1141171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5577840"/>
            <a:ext cx="11411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737360"/>
            <a:ext cx="4434840" cy="1234440"/>
          </a:xfrm>
          <a:prstGeom prst="roundRect">
            <a:avLst>
              <a:gd name="adj" fmla="val 7407"/>
            </a:avLst>
          </a:prstGeom>
          <a:solidFill>
            <a:srgbClr val="0A2647"/>
          </a:solidFill>
          <a:ln/>
        </p:spPr>
      </p:sp>
      <p:sp>
        <p:nvSpPr>
          <p:cNvPr id="14" name="Shape 12"/>
          <p:cNvSpPr/>
          <p:nvPr/>
        </p:nvSpPr>
        <p:spPr>
          <a:xfrm>
            <a:off x="7452360" y="2029968"/>
            <a:ext cx="658368" cy="658368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15" name="Image 0" descr="/home/claude/azure-ppt/icons/balanc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368" y="2187976"/>
            <a:ext cx="342351" cy="34235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75320" y="19933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Trust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223760" y="3218688"/>
            <a:ext cx="4434840" cy="1234440"/>
          </a:xfrm>
          <a:prstGeom prst="roundRect">
            <a:avLst>
              <a:gd name="adj" fmla="val 7407"/>
            </a:avLst>
          </a:prstGeom>
          <a:solidFill>
            <a:srgbClr val="0A2647"/>
          </a:solidFill>
          <a:ln/>
        </p:spPr>
      </p:sp>
      <p:sp>
        <p:nvSpPr>
          <p:cNvPr id="18" name="Shape 15"/>
          <p:cNvSpPr/>
          <p:nvPr/>
        </p:nvSpPr>
        <p:spPr>
          <a:xfrm>
            <a:off x="7452360" y="3511296"/>
            <a:ext cx="658368" cy="658368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19" name="Image 1" descr="/home/claude/azure-ppt/icons/building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368" y="3669304"/>
            <a:ext cx="342351" cy="34235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75320" y="34747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Government Use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223760" y="4700016"/>
            <a:ext cx="4434840" cy="1234440"/>
          </a:xfrm>
          <a:prstGeom prst="roundRect">
            <a:avLst>
              <a:gd name="adj" fmla="val 7407"/>
            </a:avLst>
          </a:prstGeom>
          <a:solidFill>
            <a:srgbClr val="0A2647"/>
          </a:solidFill>
          <a:ln/>
        </p:spPr>
      </p:sp>
      <p:sp>
        <p:nvSpPr>
          <p:cNvPr id="22" name="Shape 18"/>
          <p:cNvSpPr/>
          <p:nvPr/>
        </p:nvSpPr>
        <p:spPr>
          <a:xfrm>
            <a:off x="7452360" y="4992624"/>
            <a:ext cx="658368" cy="658368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23" name="Image 2" descr="/home/claude/azure-ppt/icons/clou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368" y="5150632"/>
            <a:ext cx="342351" cy="34235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75320" y="49560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Elastic, Low-Cost Cloud Scale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51760" cy="54864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19456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/home/claude/azure-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438" y="23810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audit records reliably in Azure Blob Storage.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56432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6432" y="1828800"/>
            <a:ext cx="2651760" cy="54864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3" name="Shape 10"/>
          <p:cNvSpPr/>
          <p:nvPr/>
        </p:nvSpPr>
        <p:spPr>
          <a:xfrm>
            <a:off x="4393692" y="219456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4" name="Image 1" descr="/home/claude/azure-ppt/icons/ba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230" y="238109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527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39312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Tampering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85032" y="3703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modification or deletion during the retention period.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64224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64224" y="1828800"/>
            <a:ext cx="2651760" cy="54864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20" name="Shape 16"/>
          <p:cNvSpPr/>
          <p:nvPr/>
        </p:nvSpPr>
        <p:spPr>
          <a:xfrm>
            <a:off x="7301484" y="219456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2" descr="/home/claude/azure-ppt/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022" y="2381098"/>
            <a:ext cx="404165" cy="4041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1306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47104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Immutability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592824" y="3703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WORM-based time-retention policies correctly.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272016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72016" y="1828800"/>
            <a:ext cx="2651760" cy="54864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27" name="Shape 22"/>
          <p:cNvSpPr/>
          <p:nvPr/>
        </p:nvSpPr>
        <p:spPr>
          <a:xfrm>
            <a:off x="10209276" y="2194560"/>
            <a:ext cx="777240" cy="77724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8" name="Image 3" descr="/home/claude/azure-ppt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5814" y="2381098"/>
            <a:ext cx="404165" cy="40416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42085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454896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Reliability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500616" y="3703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audit trust, compliance, and traceability.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Audit Logs Are Stored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azure-ppt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/ Local Log Storage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kept on local disks / on-prem servers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editable by anyone with OS/admin access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874520"/>
            <a:ext cx="594360" cy="5943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azure-ppt/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20171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Cloud Storage (No Immutability)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the cloud but remains overwritable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retention or WORM guarantee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2240280"/>
          </a:xfrm>
          <a:prstGeom prst="roundRect">
            <a:avLst>
              <a:gd name="adj" fmla="val 4082"/>
            </a:avLst>
          </a:prstGeom>
          <a:solidFill>
            <a:srgbClr val="0A2647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68680" y="4389120"/>
            <a:ext cx="566928" cy="566928"/>
          </a:xfrm>
          <a:prstGeom prst="ellipse">
            <a:avLst/>
          </a:prstGeom>
          <a:solidFill>
            <a:srgbClr val="0C3866"/>
          </a:solidFill>
          <a:ln/>
        </p:spPr>
      </p:sp>
      <p:pic>
        <p:nvPicPr>
          <p:cNvPr id="17" name="Image 2" descr="/home/claude/azure-ppt/icons/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3" y="452518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60020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can be silently edited to hide evidence.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480560" y="4389120"/>
            <a:ext cx="566928" cy="566928"/>
          </a:xfrm>
          <a:prstGeom prst="ellipse">
            <a:avLst/>
          </a:prstGeom>
          <a:solidFill>
            <a:srgbClr val="0C3866"/>
          </a:solidFill>
          <a:ln/>
        </p:spPr>
      </p:sp>
      <p:pic>
        <p:nvPicPr>
          <p:cNvPr id="21" name="Image 3" descr="/home/claude/azure-ppt/icons/ba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6623" y="452518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Deletion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21208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safeguard against human or script error.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092440" y="4389120"/>
            <a:ext cx="566928" cy="566928"/>
          </a:xfrm>
          <a:prstGeom prst="ellipse">
            <a:avLst/>
          </a:prstGeom>
          <a:solidFill>
            <a:srgbClr val="0C3866"/>
          </a:solidFill>
          <a:ln/>
        </p:spPr>
      </p:sp>
      <p:pic>
        <p:nvPicPr>
          <p:cNvPr id="25" name="Image 4" descr="/home/claude/azure-ppt/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8503" y="452518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2396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Retention Control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882396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minimum storage duration.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Storage on Microsoft Azure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96596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azure-ppt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325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durable object storage for audit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6552" y="196596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azure-ppt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117" y="21415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Blob / WORM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39312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Read Many — no edits after write.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24344" y="196596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azure-ppt/icons/calend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909" y="21415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Retention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47104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blobs for a defined, policy-driven period.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72016" y="16916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232136" y="196596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/home/claude/azure-ppt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7701" y="214152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Audit Storage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54896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against overwrite, delete, and tampering.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over the Existing System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6177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4617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Editable by admins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080760" y="4617720"/>
            <a:ext cx="5532120" cy="502920"/>
          </a:xfrm>
          <a:prstGeom prst="roundRect">
            <a:avLst>
              <a:gd name="adj" fmla="val 10909"/>
            </a:avLst>
          </a:prstGeom>
          <a:solidFill>
            <a:srgbClr val="E6F4EA"/>
          </a:solidFill>
          <a:ln/>
        </p:spPr>
      </p:sp>
      <p:sp>
        <p:nvSpPr>
          <p:cNvPr id="28" name="Text 22"/>
          <p:cNvSpPr/>
          <p:nvPr/>
        </p:nvSpPr>
        <p:spPr>
          <a:xfrm>
            <a:off x="6309360" y="4617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Locked — even admins can't alter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5239512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" y="5239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retention guarantee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080760" y="5239512"/>
            <a:ext cx="5532120" cy="502920"/>
          </a:xfrm>
          <a:prstGeom prst="roundRect">
            <a:avLst>
              <a:gd name="adj" fmla="val 10909"/>
            </a:avLst>
          </a:prstGeom>
          <a:solidFill>
            <a:srgbClr val="E6F4EA"/>
          </a:solidFill>
          <a:ln/>
        </p:spPr>
      </p:sp>
      <p:sp>
        <p:nvSpPr>
          <p:cNvPr id="32" name="Text 26"/>
          <p:cNvSpPr/>
          <p:nvPr/>
        </p:nvSpPr>
        <p:spPr>
          <a:xfrm>
            <a:off x="6309360" y="52395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Enforced retention period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548640" y="5861304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" y="58613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compliance effort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6080760" y="5861304"/>
            <a:ext cx="5532120" cy="502920"/>
          </a:xfrm>
          <a:prstGeom prst="roundRect">
            <a:avLst>
              <a:gd name="adj" fmla="val 10909"/>
            </a:avLst>
          </a:prstGeom>
          <a:solidFill>
            <a:srgbClr val="E6F4EA"/>
          </a:solidFill>
          <a:ln/>
        </p:spPr>
      </p:sp>
      <p:sp>
        <p:nvSpPr>
          <p:cNvPr id="36" name="Text 30"/>
          <p:cNvSpPr/>
          <p:nvPr/>
        </p:nvSpPr>
        <p:spPr>
          <a:xfrm>
            <a:off x="6309360" y="58613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regulatory compliance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Work &amp; Technical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18520" cy="411480"/>
          </a:xfrm>
          <a:prstGeom prst="roundRect">
            <a:avLst>
              <a:gd name="adj" fmla="val 11111"/>
            </a:avLst>
          </a:prstGeom>
          <a:solidFill>
            <a:srgbClr val="0A264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276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904488" y="1627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65008" y="1627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39112"/>
            <a:ext cx="11018520" cy="713232"/>
          </a:xfrm>
          <a:prstGeom prst="rect">
            <a:avLst/>
          </a:prstGeom>
          <a:solidFill>
            <a:srgbClr val="F3F8FE"/>
          </a:solidFill>
          <a:ln w="9525">
            <a:solidFill>
              <a:srgbClr val="D3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756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Putz, Menges &amp; Pernul (2019), Computers &amp; Security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04488" y="207568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Permissioned-blockchain logging infra for tamper-proof, legally admissible audit evidence.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5008" y="20756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need for cryptographic, third-party-independent tamper resistance.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11018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88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Saad &amp; Mohaisen (2019), J. Network &amp; Computer Applications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04488" y="27889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BlockAudit: transparent audit logs using PBFT-replicated blockchain.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65008" y="2788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blockchain achieves integrity but with latency/infra overhead.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11018520" cy="713232"/>
          </a:xfrm>
          <a:prstGeom prst="rect">
            <a:avLst/>
          </a:prstGeom>
          <a:solidFill>
            <a:srgbClr val="F3F8FE"/>
          </a:solidFill>
          <a:ln w="9525">
            <a:solidFill>
              <a:srgbClr val="D3E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502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Ozdayi, Kantarcioglu &amp; Malin (2020), BMC Medical Genomics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04488" y="350215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query support over blockchain-based multi-site access logs.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35021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query-efficiency gap in tamper-proof log systems.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78808"/>
            <a:ext cx="11018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3E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21538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Pourmajidi &amp; Miranskyy (2018), Logchain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04488" y="42153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blockchain structure for scalable cloud log immutability.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65008" y="421538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scalability as a key limitation of naive blockchain logging.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18520" cy="713232"/>
          </a:xfrm>
          <a:prstGeom prst="rect">
            <a:avLst/>
          </a:prstGeom>
          <a:solidFill>
            <a:srgbClr val="F3F8FE"/>
          </a:solidFill>
          <a:ln w="9525">
            <a:solidFill>
              <a:srgbClr val="D3E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9286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— "Overview of Immutable Storage for Blob Data"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04488" y="492861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Azure documentation on WORM, time-based retention &amp; legal holds.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65008" y="492861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production-grade, managed-service approach used in this project.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715000"/>
            <a:ext cx="11018520" cy="621792"/>
          </a:xfrm>
          <a:prstGeom prst="roundRect">
            <a:avLst>
              <a:gd name="adj" fmla="val 8824"/>
            </a:avLst>
          </a:prstGeom>
          <a:solidFill>
            <a:srgbClr val="E8F1F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7150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 </a:t>
            </a: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centers on blockchain-based tamper resistance, which adds consensus overhead and infrastructure complexity. A managed, cloud-native WORM service (Azure Immutable Blob Storage) offers comparable guarantees with far simpler deployment — the gap this project addresses.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0372" y="1920240"/>
            <a:ext cx="1481328" cy="1508760"/>
          </a:xfrm>
          <a:prstGeom prst="roundRect">
            <a:avLst>
              <a:gd name="adj" fmla="val 6173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7572" y="210312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azure-ppt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35" y="22391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pic>
        <p:nvPicPr>
          <p:cNvPr id="8" name="Image 1" descr="/home/claude/azure-ppt/icons/arrowright_azure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852" y="255574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55748" y="1920240"/>
            <a:ext cx="1481328" cy="1508760"/>
          </a:xfrm>
          <a:prstGeom prst="roundRect">
            <a:avLst>
              <a:gd name="adj" fmla="val 6173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12948" y="210312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2" descr="/home/claude/azure-ppt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011" y="2239183"/>
            <a:ext cx="294803" cy="2948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10612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</a:t>
            </a:r>
            <a:endParaRPr lang="en-US" sz="1050" dirty="0"/>
          </a:p>
        </p:txBody>
      </p:sp>
      <p:pic>
        <p:nvPicPr>
          <p:cNvPr id="13" name="Image 3" descr="/home/claude/azure-ppt/icons/arrowright_azure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228" y="255574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421124" y="1920240"/>
            <a:ext cx="1481328" cy="1508760"/>
          </a:xfrm>
          <a:prstGeom prst="roundRect">
            <a:avLst>
              <a:gd name="adj" fmla="val 6173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878324" y="210312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4" descr="/home/claude/azure-ppt/icon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387" y="2239183"/>
            <a:ext cx="294803" cy="2948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75988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Container</a:t>
            </a:r>
            <a:endParaRPr lang="en-US" sz="1050" dirty="0"/>
          </a:p>
        </p:txBody>
      </p:sp>
      <p:pic>
        <p:nvPicPr>
          <p:cNvPr id="18" name="Image 5" descr="/home/claude/azure-ppt/icons/arrowright_azure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255574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286500" y="1920240"/>
            <a:ext cx="1481328" cy="1508760"/>
          </a:xfrm>
          <a:prstGeom prst="roundRect">
            <a:avLst>
              <a:gd name="adj" fmla="val 6173"/>
            </a:avLst>
          </a:prstGeom>
          <a:solidFill>
            <a:srgbClr val="0078D4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743700" y="21031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6" descr="/home/claude/azure-ppt/icons/lo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9763" y="2239183"/>
            <a:ext cx="294803" cy="29480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341364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Blob</a:t>
            </a:r>
            <a:endParaRPr lang="en-US" sz="1050" dirty="0"/>
          </a:p>
        </p:txBody>
      </p:sp>
      <p:pic>
        <p:nvPicPr>
          <p:cNvPr id="23" name="Image 7" descr="/home/claude/azure-ppt/icons/arrowright_azure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0" y="255574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8151876" y="1920240"/>
            <a:ext cx="1481328" cy="1508760"/>
          </a:xfrm>
          <a:prstGeom prst="roundRect">
            <a:avLst>
              <a:gd name="adj" fmla="val 6173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8609076" y="210312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8" descr="/home/claude/azure-ppt/icons/calend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139" y="2239183"/>
            <a:ext cx="294803" cy="29480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206740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Period</a:t>
            </a:r>
            <a:endParaRPr lang="en-US" sz="1050" dirty="0"/>
          </a:p>
        </p:txBody>
      </p:sp>
      <p:pic>
        <p:nvPicPr>
          <p:cNvPr id="28" name="Image 9" descr="/home/claude/azure-ppt/icons/arrowright_azure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6356" y="2555748"/>
            <a:ext cx="237744" cy="237744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10017252" y="1920240"/>
            <a:ext cx="1481328" cy="1508760"/>
          </a:xfrm>
          <a:prstGeom prst="roundRect">
            <a:avLst>
              <a:gd name="adj" fmla="val 6173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10474452" y="210312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10" descr="/home/claude/azure-ppt/icons/search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0515" y="2239183"/>
            <a:ext cx="294803" cy="294803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0072116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Retrieval</a:t>
            </a:r>
            <a:endParaRPr lang="en-US" sz="1050" dirty="0"/>
          </a:p>
        </p:txBody>
      </p:sp>
      <p:sp>
        <p:nvSpPr>
          <p:cNvPr id="33" name="Text 20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generates an audit event → written to an Azure Blob container → locked immutable via WORM policy → retained for the mandated period → retrieved securely on demand.</a:t>
            </a:r>
            <a:endParaRPr lang="en-US" sz="1250" dirty="0"/>
          </a:p>
        </p:txBody>
      </p:sp>
      <p:sp>
        <p:nvSpPr>
          <p:cNvPr id="34" name="Text 21"/>
          <p:cNvSpPr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548640" y="4754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0A2647"/>
          </a:solidFill>
          <a:ln/>
        </p:spPr>
      </p:sp>
      <p:sp>
        <p:nvSpPr>
          <p:cNvPr id="36" name="Shape 23"/>
          <p:cNvSpPr/>
          <p:nvPr/>
        </p:nvSpPr>
        <p:spPr>
          <a:xfrm>
            <a:off x="1357884" y="4919472"/>
            <a:ext cx="502920" cy="502920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37" name="Image 11" descr="/home/claude/azure-ppt/icons/cloud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8585" y="5040173"/>
            <a:ext cx="261518" cy="26151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21792" y="55321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39" name="Shape 25"/>
          <p:cNvSpPr/>
          <p:nvPr/>
        </p:nvSpPr>
        <p:spPr>
          <a:xfrm>
            <a:off x="2798064" y="4754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0A2647"/>
          </a:solidFill>
          <a:ln/>
        </p:spPr>
      </p:sp>
      <p:sp>
        <p:nvSpPr>
          <p:cNvPr id="40" name="Shape 26"/>
          <p:cNvSpPr/>
          <p:nvPr/>
        </p:nvSpPr>
        <p:spPr>
          <a:xfrm>
            <a:off x="3607308" y="4919472"/>
            <a:ext cx="502920" cy="502920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41" name="Image 12" descr="/home/claude/azure-ppt/icons/database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8009" y="5040173"/>
            <a:ext cx="261518" cy="26151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2871216" y="55321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100" dirty="0"/>
          </a:p>
        </p:txBody>
      </p:sp>
      <p:sp>
        <p:nvSpPr>
          <p:cNvPr id="43" name="Shape 28"/>
          <p:cNvSpPr/>
          <p:nvPr/>
        </p:nvSpPr>
        <p:spPr>
          <a:xfrm>
            <a:off x="5047488" y="4754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0A2647"/>
          </a:solidFill>
          <a:ln/>
        </p:spPr>
      </p:sp>
      <p:sp>
        <p:nvSpPr>
          <p:cNvPr id="44" name="Shape 29"/>
          <p:cNvSpPr/>
          <p:nvPr/>
        </p:nvSpPr>
        <p:spPr>
          <a:xfrm>
            <a:off x="5856732" y="4919472"/>
            <a:ext cx="502920" cy="502920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45" name="Image 13" descr="/home/claude/azure-ppt/icons/lo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7433" y="5040173"/>
            <a:ext cx="261518" cy="26151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5120640" y="55321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Blob Storage</a:t>
            </a:r>
            <a:endParaRPr lang="en-US" sz="1100" dirty="0"/>
          </a:p>
        </p:txBody>
      </p:sp>
      <p:sp>
        <p:nvSpPr>
          <p:cNvPr id="47" name="Shape 31"/>
          <p:cNvSpPr/>
          <p:nvPr/>
        </p:nvSpPr>
        <p:spPr>
          <a:xfrm>
            <a:off x="7296912" y="4754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0A2647"/>
          </a:solidFill>
          <a:ln/>
        </p:spPr>
      </p:sp>
      <p:sp>
        <p:nvSpPr>
          <p:cNvPr id="48" name="Shape 32"/>
          <p:cNvSpPr/>
          <p:nvPr/>
        </p:nvSpPr>
        <p:spPr>
          <a:xfrm>
            <a:off x="8106156" y="4919472"/>
            <a:ext cx="502920" cy="502920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49" name="Image 14" descr="/home/claude/azure-ppt/icons/cogs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6857" y="5040173"/>
            <a:ext cx="261518" cy="26151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7370064" y="55321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 / CLI</a:t>
            </a:r>
            <a:endParaRPr lang="en-US" sz="1100" dirty="0"/>
          </a:p>
        </p:txBody>
      </p:sp>
      <p:sp>
        <p:nvSpPr>
          <p:cNvPr id="51" name="Shape 34"/>
          <p:cNvSpPr/>
          <p:nvPr/>
        </p:nvSpPr>
        <p:spPr>
          <a:xfrm>
            <a:off x="9546336" y="4754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0A2647"/>
          </a:solidFill>
          <a:ln/>
        </p:spPr>
      </p:sp>
      <p:sp>
        <p:nvSpPr>
          <p:cNvPr id="52" name="Shape 35"/>
          <p:cNvSpPr/>
          <p:nvPr/>
        </p:nvSpPr>
        <p:spPr>
          <a:xfrm>
            <a:off x="10355580" y="4919472"/>
            <a:ext cx="502920" cy="502920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53" name="Image 15" descr="/home/claude/azure-ppt/icons/usershield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76281" y="5040173"/>
            <a:ext cx="261518" cy="261518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9619488" y="55321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Access Control</a:t>
            </a:r>
            <a:endParaRPr lang="en-US" sz="1100" dirty="0"/>
          </a:p>
        </p:txBody>
      </p:sp>
      <p:sp>
        <p:nvSpPr>
          <p:cNvPr id="55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56" name="Text 3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System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11096"/>
            <a:ext cx="621792" cy="621792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/home/claude/azure-ppt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26" y="2060326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 Generation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67919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application events with timestamp, user, and action details.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17136" y="1911096"/>
            <a:ext cx="621792" cy="621792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azure-ppt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366" y="2060326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9280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17136" y="267919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audit records as blobs inside an Azure Storage container.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66176" y="1911096"/>
            <a:ext cx="621792" cy="621792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/home/claude/azure-ppt/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406" y="206032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9280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Policy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66176" y="267919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WORM time-based retention to lock blobs against changes.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014216"/>
            <a:ext cx="621792" cy="621792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/home/claude/azure-ppt/icons/user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326" y="4163446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959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478231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least-privilege access using Azure RBAC roles.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17136" y="4014216"/>
            <a:ext cx="621792" cy="621792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/home/claude/azure-ppt/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6366" y="4163446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9959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Retrieval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17136" y="478231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authorized, read-only retrieval of stored records.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66176" y="4014216"/>
            <a:ext cx="621792" cy="621792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/home/claude/azure-ppt/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5406" y="4163446"/>
            <a:ext cx="323332" cy="3233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9959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Verification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66176" y="478231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access attempts and verifies policy compliance status.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A2647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modules operate under a unified Azure RBAC access boundary, ensuring least-privilege control end to end.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Data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03120"/>
            <a:ext cx="475488" cy="47548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/home/claude/azure-ppt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2217237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116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Application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1635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907792"/>
            <a:ext cx="475488" cy="47548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/home/claude/azure-ppt/icons/user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3021909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81635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RBAC / Access Control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2102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" y="3712464"/>
            <a:ext cx="475488" cy="47548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5" name="Image 2" descr="/home/claude/azure-ppt/icons/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3826581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6210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Container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42569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3232" y="4517136"/>
            <a:ext cx="475488" cy="475488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9" name="Image 3" descr="/home/claude/azure-ppt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49" y="4631253"/>
            <a:ext cx="247254" cy="2472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42569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Policy Engine (WORM)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743200" y="267919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2743200" y="34838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2743200" y="428853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263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263640" y="1965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7" name="Image 4" descr="/home/claude/azure-ppt/icons/user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30428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19088" y="2670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492240" y="342900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0" name="Image 5" descr="/home/claude/azure-ppt/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53872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00800" y="39044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7498080" y="2084832"/>
            <a:ext cx="3886200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7498080" y="20848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Audit Record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498080" y="2542032"/>
            <a:ext cx="3886200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498080" y="25420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Retention Policy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7498080" y="2999232"/>
            <a:ext cx="3886200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498080" y="29992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Audit Log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498080" y="3456432"/>
            <a:ext cx="3886200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498080" y="34564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Immutability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263640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350" dirty="0"/>
          </a:p>
        </p:txBody>
      </p:sp>
      <p:sp>
        <p:nvSpPr>
          <p:cNvPr id="41" name="Shape 33"/>
          <p:cNvSpPr/>
          <p:nvPr/>
        </p:nvSpPr>
        <p:spPr>
          <a:xfrm>
            <a:off x="6355080" y="4709160"/>
            <a:ext cx="1143000" cy="777240"/>
          </a:xfrm>
          <a:prstGeom prst="roundRect">
            <a:avLst>
              <a:gd name="adj" fmla="val 8235"/>
            </a:avLst>
          </a:prstGeom>
          <a:solidFill>
            <a:srgbClr val="0A2647"/>
          </a:solidFill>
          <a:ln/>
        </p:spPr>
      </p:sp>
      <p:sp>
        <p:nvSpPr>
          <p:cNvPr id="42" name="Text 34"/>
          <p:cNvSpPr/>
          <p:nvPr/>
        </p:nvSpPr>
        <p:spPr>
          <a:xfrm>
            <a:off x="6355080" y="4709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7498080" y="470916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7790688" y="4709160"/>
            <a:ext cx="1143000" cy="777240"/>
          </a:xfrm>
          <a:prstGeom prst="roundRect">
            <a:avLst>
              <a:gd name="adj" fmla="val 8235"/>
            </a:avLst>
          </a:prstGeom>
          <a:solidFill>
            <a:srgbClr val="0A2647"/>
          </a:solidFill>
          <a:ln/>
        </p:spPr>
      </p:sp>
      <p:sp>
        <p:nvSpPr>
          <p:cNvPr id="45" name="Text 37"/>
          <p:cNvSpPr/>
          <p:nvPr/>
        </p:nvSpPr>
        <p:spPr>
          <a:xfrm>
            <a:off x="7790688" y="4709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8933688" y="470916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39"/>
          <p:cNvSpPr/>
          <p:nvPr/>
        </p:nvSpPr>
        <p:spPr>
          <a:xfrm>
            <a:off x="9226296" y="4709160"/>
            <a:ext cx="1143000" cy="777240"/>
          </a:xfrm>
          <a:prstGeom prst="roundRect">
            <a:avLst>
              <a:gd name="adj" fmla="val 8235"/>
            </a:avLst>
          </a:prstGeom>
          <a:solidFill>
            <a:srgbClr val="0078D4"/>
          </a:solidFill>
          <a:ln/>
        </p:spPr>
      </p:sp>
      <p:sp>
        <p:nvSpPr>
          <p:cNvPr id="48" name="Text 40"/>
          <p:cNvSpPr/>
          <p:nvPr/>
        </p:nvSpPr>
        <p:spPr>
          <a:xfrm>
            <a:off x="9226296" y="4709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10369296" y="470916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10661904" y="4709160"/>
            <a:ext cx="1143000" cy="777240"/>
          </a:xfrm>
          <a:prstGeom prst="roundRect">
            <a:avLst>
              <a:gd name="adj" fmla="val 8235"/>
            </a:avLst>
          </a:prstGeom>
          <a:solidFill>
            <a:srgbClr val="0A2647"/>
          </a:solidFill>
          <a:ln/>
        </p:spPr>
      </p:sp>
      <p:sp>
        <p:nvSpPr>
          <p:cNvPr id="51" name="Text 43"/>
          <p:cNvSpPr/>
          <p:nvPr/>
        </p:nvSpPr>
        <p:spPr>
          <a:xfrm>
            <a:off x="10661904" y="4709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A2647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zure-ppt/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35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108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36118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records stored reliably in Azure Blob Storage.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8064" y="18745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078D4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zure-ppt/icons/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059" y="23481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3108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44368" y="36118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cannot be modified or deleted during retention.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47488" y="18745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A2647"/>
          </a:solidFill>
          <a:ln/>
        </p:spPr>
      </p:sp>
      <p:sp>
        <p:nvSpPr>
          <p:cNvPr id="15" name="Shape 11"/>
          <p:cNvSpPr/>
          <p:nvPr/>
        </p:nvSpPr>
        <p:spPr>
          <a:xfrm>
            <a:off x="5769864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zure-ppt/icons/che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483" y="23481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3108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93792" y="36118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Improved, verifiable integrity of stored evidence.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96912" y="18745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078D4"/>
          </a:solidFill>
          <a:ln/>
        </p:spPr>
      </p:sp>
      <p:sp>
        <p:nvSpPr>
          <p:cNvPr id="20" name="Shape 15"/>
          <p:cNvSpPr/>
          <p:nvPr/>
        </p:nvSpPr>
        <p:spPr>
          <a:xfrm>
            <a:off x="8019288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azure-ppt/icons/balanc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907" y="23481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108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43216" y="36118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regulatory compliance and traceability.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46336" y="18745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A2647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68712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azure-ppt/icons/search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2331" y="23481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3108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Retrieval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692640" y="36118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secure access to audit logs when needed.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3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demonstrating that audit records written to Azure Blob Storage remain provably unmodified for their entire retention window.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10607040" cy="0"/>
          </a:xfrm>
          <a:prstGeom prst="line">
            <a:avLst/>
          </a:prstGeom>
          <a:noFill/>
          <a:ln w="38100">
            <a:solidFill>
              <a:srgbClr val="D3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172968"/>
            <a:ext cx="237744" cy="237744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017520"/>
            <a:ext cx="0" cy="173736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55448" y="22402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E8F1FB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22860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73659" y="3172968"/>
            <a:ext cx="237744" cy="237744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92531" y="3511296"/>
            <a:ext cx="0" cy="100584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670739" y="36118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E8F1FB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6459" y="36576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688951" y="3172968"/>
            <a:ext cx="237744" cy="237744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7823" y="3017520"/>
            <a:ext cx="0" cy="173736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186031" y="22402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E8F1FB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1751" y="22860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Account Setup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204242" y="3172968"/>
            <a:ext cx="237744" cy="237744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3114" y="3511296"/>
            <a:ext cx="0" cy="100584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01322" y="36118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E8F1FB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7042" y="36576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Container Configuration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719534" y="3172968"/>
            <a:ext cx="237744" cy="237744"/>
          </a:xfrm>
          <a:prstGeom prst="ellipse">
            <a:avLst/>
          </a:prstGeom>
          <a:solidFill>
            <a:srgbClr val="C7D6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8406" y="3017520"/>
            <a:ext cx="0" cy="173736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216614" y="22402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2334" y="22860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Configuration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234825" y="3172968"/>
            <a:ext cx="237744" cy="237744"/>
          </a:xfrm>
          <a:prstGeom prst="ellipse">
            <a:avLst/>
          </a:prstGeom>
          <a:solidFill>
            <a:srgbClr val="C7D6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3697" y="3511296"/>
            <a:ext cx="0" cy="100584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731905" y="36118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7625" y="36576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750117" y="3172968"/>
            <a:ext cx="237744" cy="237744"/>
          </a:xfrm>
          <a:prstGeom prst="ellipse">
            <a:avLst/>
          </a:prstGeom>
          <a:solidFill>
            <a:srgbClr val="C7D6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68989" y="3017520"/>
            <a:ext cx="0" cy="173736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247197" y="22402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92917" y="22860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11265408" y="3172968"/>
            <a:ext cx="237744" cy="237744"/>
          </a:xfrm>
          <a:prstGeom prst="ellipse">
            <a:avLst/>
          </a:prstGeom>
          <a:solidFill>
            <a:srgbClr val="C7D6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384280" y="3511296"/>
            <a:ext cx="0" cy="100584"/>
          </a:xfrm>
          <a:prstGeom prst="line">
            <a:avLst/>
          </a:prstGeom>
          <a:noFill/>
          <a:ln w="15875">
            <a:solidFill>
              <a:srgbClr val="D3E3F5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0762488" y="3611880"/>
            <a:ext cx="1243584" cy="777240"/>
          </a:xfrm>
          <a:prstGeom prst="roundRect">
            <a:avLst>
              <a:gd name="adj" fmla="val 7059"/>
            </a:avLst>
          </a:prstGeom>
          <a:solidFill>
            <a:srgbClr val="F3F8FE"/>
          </a:solidFill>
          <a:ln w="12700">
            <a:solidFill>
              <a:srgbClr val="D3E3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08208" y="3657600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943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94560" y="5989320"/>
            <a:ext cx="182880" cy="182880"/>
          </a:xfrm>
          <a:prstGeom prst="ellipse">
            <a:avLst/>
          </a:prstGeom>
          <a:solidFill>
            <a:srgbClr val="C7D6E8"/>
          </a:solidFill>
          <a:ln/>
        </p:spPr>
      </p:sp>
      <p:sp>
        <p:nvSpPr>
          <p:cNvPr id="40" name="Text 38"/>
          <p:cNvSpPr/>
          <p:nvPr/>
        </p:nvSpPr>
        <p:spPr>
          <a:xfrm>
            <a:off x="2450592" y="5943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C386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4114800" cy="4114800"/>
          </a:xfrm>
          <a:prstGeom prst="ellipse">
            <a:avLst/>
          </a:prstGeom>
          <a:solidFill>
            <a:srgbClr val="0C38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05840" cy="1005840"/>
          </a:xfrm>
          <a:prstGeom prst="ellipse">
            <a:avLst/>
          </a:prstGeom>
          <a:solidFill>
            <a:srgbClr val="50E6FF"/>
          </a:solidFill>
          <a:ln/>
        </p:spPr>
      </p:sp>
      <p:pic>
        <p:nvPicPr>
          <p:cNvPr id="7" name="Image 0" descr="/home/claude/azure-ppt/icons/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2161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96596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Storage's immutability features — </a:t>
            </a:r>
            <a:r>
              <a:rPr lang="en-US" sz="19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policies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9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retention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provide a secure, tamper-resistant way to store audit records.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65960" y="3520440"/>
            <a:ext cx="9418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D7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blobs cannot be modified or deleted by anyone — including administrators — until retention expires.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D7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strengthens data integrity, regulatory compliance, and forensic reliability of audit trails.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D7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managed cloud service removes the cost and complexity of custom tamper-proofing infrastructure.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Documentation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40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"Overview of immutable storage for blob data" — Microsoft Learn, learn.microsoft.com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"Container-level WORM policies for immutable blob data" — Microsoft Learn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"Configure immutability policies for containers" — Microsoft Learn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"About Append Blobs" — Microsoft Learn, Azure Storage documentation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55080" y="16916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55080" y="2103120"/>
            <a:ext cx="5440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Putz, B., Menges, F., &amp; Pernul, G. (2019). A secure and auditable logging infrastructure based on permissioned blockchain. Computers &amp; Security, 87.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A., Saad, M., &amp; Mohaisen, A. (2019). Secure and transparent audit logs with BlockAudit. J. Network &amp; Computer Applications, 145.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Ozdayi, M. S., Kantarcioglu, M., &amp; Malin, B. (2020). Leveraging blockchain for immutable logging and querying across multiple sites. BMC Medical Genomics.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Pourmajidi, W., &amp; Miranskyy, A. (2018). Logchain: Blockchain-assisted log storage. IEEE International Conference on Cloud Engineering (IC2E).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 Used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687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Portal  •  Azure CLI  •  Azure Blob Storage (Immutable / WORM)  •  Azure RBAC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Immutability for Audit Records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20</cp:revision>
  <dcterms:created xsi:type="dcterms:W3CDTF">2026-08-26T00:28:35Z</dcterms:created>
  <dcterms:modified xsi:type="dcterms:W3CDTF">2026-08-26T00:39:13Z</dcterms:modified>
</cp:coreProperties>
</file>